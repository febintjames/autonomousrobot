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9f9f01-add0-cc4c-1232-d830550ed771}">
          <p14:sldIdLst>
            <p14:sldId id="256"/>
            <p14:sldId id="257"/>
          </p14:sldIdLst>
        </p14:section>
        <p14:section name="1 · The big picture" id="{6e07ea54-d685-5f10-1c2b-0fd62ecbeb3f}">
          <p14:sldIdLst>
            <p14:sldId id="258"/>
            <p14:sldId id="259"/>
            <p14:sldId id="260"/>
            <p14:sldId id="261"/>
          </p14:sldIdLst>
        </p14:section>
        <p14:section name="2 · Inside bcr_bot" id="{5b8e558a-38cf-7f6f-2043-99309333b7d2}">
          <p14:sldIdLst>
            <p14:sldId id="262"/>
            <p14:sldId id="263"/>
            <p14:sldId id="264"/>
            <p14:sldId id="265"/>
            <p14:sldId id="266"/>
            <p14:sldId id="267"/>
            <p14:sldId id="268"/>
          </p14:sldIdLst>
        </p14:section>
        <p14:section name="3 · Algorithms" id="{3ef12201-cbaf-461c-72f1-f32a6d89062a}">
          <p14:sldIdLst>
            <p14:sldId id="269"/>
            <p14:sldId id="270"/>
            <p14:sldId id="271"/>
            <p14:sldId id="272"/>
            <p14:sldId id="273"/>
            <p14:sldId id="274"/>
            <p14:sldId id="275"/>
            <p14:sldId id="276"/>
            <p14:sldId id="277"/>
            <p14:sldId id="278"/>
            <p14:sldId id="279"/>
            <p14:sldId id="280"/>
            <p14:sldId id="281"/>
          </p14:sldIdLst>
        </p14:section>
        <p14:section name="4 · Simulation to real robot" id="{388b59fc-7296-cbe7-f22a-6fd04d0a1bf2}">
          <p14:sldIdLst>
            <p14:sldId id="282"/>
            <p14:sldId id="283"/>
            <p14:sldId id="284"/>
            <p14:sldId id="285"/>
            <p14:sldId id="286"/>
            <p14:sldId id="287"/>
          </p14:sldIdLst>
        </p14:section>
        <p14:section name="5 · Hands-on lab" id="{2f8a44f4-ea8a-b201-d203-3cd457c3b2b6}">
          <p14:sldIdLst>
            <p14:sldId id="288"/>
            <p14:sldId id="289"/>
            <p14:sldId id="290"/>
            <p14:sldId id="291"/>
            <p14:sldId id="292"/>
            <p14:sldId id="293"/>
            <p14:sldId id="294"/>
            <p14:sldId id="295"/>
            <p14:sldId id="296"/>
            <p14:sldId id="297"/>
          </p14:sldIdLst>
        </p14:section>
        <p14:section name="Wrap-up" id="{132c5356-c51f-8249-1ad2-2029d16dabba}">
          <p14:sldIdLst>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8202B"/>
                </a:solidFill>
                <a:latin typeface="+mn-lt"/>
              </a:defRPr>
            </a:pPr>
            <a:r>
              <a:rPr sz="1400" b="0" i="0" u="none" strike="noStrike">
                <a:solidFill>
                  <a:srgbClr val="18202B"/>
                </a:solidFill>
                <a:latin typeface="+mn-lt"/>
              </a:rPr>
              <a:t>Cell cost vs distance from obstacle</a:t>
            </a:r>
          </a:p>
        </c:rich>
      </c:tx>
      <c:layout/>
      <c:overlay val="0"/>
    </c:title>
    <c:autoTitleDeleted val="0"/>
    <c:plotArea>
      <c:layout/>
      <c:lineChart>
        <c:varyColors val="0"/>
        <c:ser>
          <c:idx val="0"/>
          <c:order val="0"/>
          <c:tx>
            <c:strRef>
              <c:f>Sheet1!$B$1</c:f>
              <c:strCache>
                <c:ptCount val="1"/>
                <c:pt idx="0">
                  <c:v>cost_scaling_factor 3 (ours)</c:v>
                </c:pt>
              </c:strCache>
            </c:strRef>
          </c:tx>
          <c:spPr>
            <a:solidFill>
              <a:srgbClr val="D9650A"/>
            </a:solidFill>
            <a:ln w="38100" cap="flat">
              <a:solidFill>
                <a:srgbClr val="D9650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650A"/>
              </a:solidFill>
              <a:ln w="9525" cap="flat">
                <a:solidFill>
                  <a:srgbClr val="D9650A"/>
                </a:solidFill>
                <a:prstDash val="solid"/>
                <a:round/>
              </a:ln>
              <a:effectLst/>
            </c:spPr>
          </c:marker>
          <c:cat>
            <c:multiLvlStrRef>
              <c:f>Sheet1!$A$2:$A$14</c:f>
              <c:multiLvlStrCache>
                <c:ptCount val="13"/>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lvl>
              </c:multiLvlStrCache>
            </c:multiLvlStrRef>
          </c:cat>
          <c:val>
            <c:numRef>
              <c:f>Sheet1!$B$2:$B$14</c:f>
              <c:numCache>
                <c:formatCode>General</c:formatCode>
                <c:ptCount val="13"/>
                <c:pt idx="0">
                  <c:v>254</c:v>
                </c:pt>
                <c:pt idx="1">
                  <c:v>253</c:v>
                </c:pt>
                <c:pt idx="2">
                  <c:v>253</c:v>
                </c:pt>
                <c:pt idx="3">
                  <c:v>253</c:v>
                </c:pt>
                <c:pt idx="4">
                  <c:v>253</c:v>
                </c:pt>
                <c:pt idx="5">
                  <c:v>230</c:v>
                </c:pt>
                <c:pt idx="6">
                  <c:v>198</c:v>
                </c:pt>
                <c:pt idx="7">
                  <c:v>171</c:v>
                </c:pt>
                <c:pt idx="8">
                  <c:v>147</c:v>
                </c:pt>
                <c:pt idx="9">
                  <c:v>126</c:v>
                </c:pt>
                <c:pt idx="10">
                  <c:v>109</c:v>
                </c:pt>
                <c:pt idx="11">
                  <c:v>94</c:v>
                </c:pt>
                <c:pt idx="12">
                  <c:v>0</c:v>
                </c:pt>
              </c:numCache>
            </c:numRef>
          </c:val>
          <c:smooth val="0"/>
        </c:ser>
        <c:ser>
          <c:idx val="1"/>
          <c:order val="1"/>
          <c:tx>
            <c:strRef>
              <c:f>Sheet1!$C$1</c:f>
              <c:strCache>
                <c:ptCount val="1"/>
                <c:pt idx="0">
                  <c:v>cost_scaling_factor 10</c:v>
                </c:pt>
              </c:strCache>
            </c:strRef>
          </c:tx>
          <c:spPr>
            <a:solidFill>
              <a:srgbClr val="3D5BA8"/>
            </a:solidFill>
            <a:ln w="38100" cap="flat">
              <a:solidFill>
                <a:srgbClr val="3D5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D5BA8"/>
              </a:solidFill>
              <a:ln w="9525" cap="flat">
                <a:solidFill>
                  <a:srgbClr val="3D5BA8"/>
                </a:solidFill>
                <a:prstDash val="solid"/>
                <a:round/>
              </a:ln>
              <a:effectLst/>
            </c:spPr>
          </c:marker>
          <c:cat>
            <c:multiLvlStrRef>
              <c:f>Sheet1!$A$2:$A$14</c:f>
              <c:multiLvlStrCache>
                <c:ptCount val="13"/>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lvl>
              </c:multiLvlStrCache>
            </c:multiLvlStrRef>
          </c:cat>
          <c:val>
            <c:numRef>
              <c:f>Sheet1!$C$2:$C$14</c:f>
              <c:numCache>
                <c:formatCode>General</c:formatCode>
                <c:ptCount val="13"/>
                <c:pt idx="0">
                  <c:v>254</c:v>
                </c:pt>
                <c:pt idx="1">
                  <c:v>253</c:v>
                </c:pt>
                <c:pt idx="2">
                  <c:v>253</c:v>
                </c:pt>
                <c:pt idx="3">
                  <c:v>253</c:v>
                </c:pt>
                <c:pt idx="4">
                  <c:v>253</c:v>
                </c:pt>
                <c:pt idx="5">
                  <c:v>187</c:v>
                </c:pt>
                <c:pt idx="6">
                  <c:v>113</c:v>
                </c:pt>
                <c:pt idx="7">
                  <c:v>69</c:v>
                </c:pt>
                <c:pt idx="8">
                  <c:v>42</c:v>
                </c:pt>
                <c:pt idx="9">
                  <c:v>25</c:v>
                </c:pt>
                <c:pt idx="10">
                  <c:v>15</c:v>
                </c:pt>
                <c:pt idx="11">
                  <c:v>9</c:v>
                </c:pt>
                <c:pt idx="12">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F6B7A"/>
                    </a:solidFill>
                    <a:latin typeface="+mn-lt"/>
                  </a:defRPr>
                </a:pPr>
                <a:r>
                  <a:rPr sz="1200" b="0" i="0" u="none" strike="noStrike">
                    <a:solidFill>
                      <a:srgbClr val="5F6B7A"/>
                    </a:solidFill>
                    <a:latin typeface="+mn-lt"/>
                  </a:rPr>
                  <a:t>Distance from obstacle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260"/>
          <c:min val="0"/>
        </c:scaling>
        <c:delete val="0"/>
        <c:axPos val="l"/>
        <c:majorGridlines>
          <c:spPr>
            <a:ln w="6350" cap="flat">
              <a:solidFill>
                <a:srgbClr val="E1E6EC"/>
              </a:solidFill>
              <a:prstDash val="solid"/>
              <a:round/>
            </a:ln>
          </c:spPr>
        </c:majorGridlines>
        <c:title>
          <c:tx>
            <c:rich>
              <a:bodyPr/>
              <a:lstStyle/>
              <a:p>
                <a:pPr>
                  <a:defRPr sz="1200" b="0" i="0" u="none" strike="noStrike">
                    <a:solidFill>
                      <a:srgbClr val="5F6B7A"/>
                    </a:solidFill>
                    <a:latin typeface="+mn-lt"/>
                  </a:defRPr>
                </a:pPr>
                <a:r>
                  <a:rPr sz="1200" b="0" i="0" u="none" strike="noStrike">
                    <a:solidFill>
                      <a:srgbClr val="5F6B7A"/>
                    </a:solidFill>
                    <a:latin typeface="+mn-lt"/>
                  </a:rPr>
                  <a:t>Cost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A"/>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200">
              <a:solidFill>
                <a:srgbClr val="2F3B4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course students do NOT design a robot from scratch. They take a ready-made ROS 2 robot package (bcr_bot, from Black Coffee Robotics), open-source navigation (Nav2) and mapping (SLAM Toolbox), and learn (1) how those packages are built, (2) which algorithms run inside them, and (3) exactly what must change to run them on our physical robot: an ESP32 with two DC gear motors and encoders plus an RPLidar A1. The final goal of the lab: open a web page on a phone, tap “table1”, and the robot drives there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is split into five modules. Modules 1–3 are theory with live demos (simulation or RViz). Module 4 explains the gap between simulation and the real robot, using the real mistakes we found in our own code. Module 5 is the hands-on lab, done in six checked steps. Suggested timing: 1 session each for modules 1–2, 2 sessions for module 3, 1 for module 4 and 2–3 lab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sets the vocabulary. Students should leave knowing the sense–localize–plan–act loop, which package does which job, and the eight ROS 2 concepts used everywhere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autonomous mobile robot runs this loop many times per second. Sense: read the sensors (LiDAR distances and wheel encoder ticks). Localize: work out where the robot is on the map (SLAM Toolbox while mapping, AMCL during navigation). Plan: find a collision-free path to the goal on a costmap. Act: turn the path into wheel speeds (Nav2 controller → /cmd_vel → ESP32). Ask students which step fails if the LiDAR is unplugged (all of them!), and which step is responsible if the robot knows where it is but hits a chair (plan/act with the costmap).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from the bottom up. Hardware: ESP32 microcontroller, MDD10A motor driver, two DC gear motors with encoders, RPLidar A1. Drivers: sllidar_ros2 publishes /scan; our esp32_driver node (my_python_pkg) converts /cmd_vel to wheel speeds and encoder ticks to /odom; rf2o can estimate odometry from laser scans. bcr_bot provides the robot model, simulation worlds, launch files and Nav2 parameters. SLAM Toolbox makes maps, Nav2 navigates. On top, table_nav_web is a small web app we wrote. Key message: professionals rarely write SLAM or path planners from scratch; the engineering work is configuration, calibration, integration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everything later is described with these words. Node = one running program (e.g. esp32_driver). Topic = a named stream of messages; many publishers/subscribers; e.g. /scan, /odom, /cmd_vel. Service = request and one reply. Action = long-running goal with feedback and the possibility to cancel — Nav2 navigation is an action (navigate_to_pose). Parameter = a setting of a node, usually loaded from a YAML file such as nav2_params.yaml. Launch file = Python script that starts many nodes with their parameters. TF = the tree of coordinate frames (map, odom, base_link, laser). Package + colcon = how code and config are organised and built. Quick demo: ros2 node list, ros2 topic list, ros2 topic echo /odom.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bcr_bot (github.com/blackcoffeerobotics/bcr_bot) is a simulation package for a warehouse differential-drive robot. It supports Gazebo Classic, Gazebo Fortress/Harmonic and Isaac Sim. We use it as a template: its structure, launch files and Nav2 configuration are reused and adapted for our real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folder in VS Code while explaining. package.xml and CMakeLists.txt make it a ROS 2 package. urdf/ describes the robot, meshes/ gives it a 3D look, worlds/ and models/ build the Gazebo warehouse, launch/ starts everything, config/ holds the parameters (nav2_params.yaml, mapper_params_online_async.yaml) and the map, rviz/ stores RViz views, scripts/ holds remapper.py which is only needed in simulation. Ask students: which folders matter on the real robot? (launch, config, and the TF information from urdf.)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build pipeline. package.xml lists dependencies so rosdep can install them. CMakeLists.txt says which folders to copy (install). colcon build copies them into install/share/bcr_bot. Launch files never read your src folder: they call get_package_share_directory("bcr_bot"), which points into install/. That is why students who edit nav2_params.yaml and do not rebuild see no change — unless they built with --symlink-install, which links installed files back to src (new files still need a rebuild). Live demo: run colcon build, then ls install/bcr_bot/share/bcr_bot.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URDF describes the robot as a tree of links (rigid bodies with visual, collision and inertial parts) connected by joints. bcr_bot.xacro uses Xacro, which adds variables (xacro:property), arguments (xacro:arg, e.g. two_d_lidar_enabled), if-switches and macros (traction_wheel, trolley_wheel) so one file can describe many variants. Wheels that turn are continuous joints; sensors are fixed joints. robot_state_publisher reads this model and publishes the fixed transforms, e.g. base_link → two_d_lidar. Our physical robot is smaller (≈0.38 m wide, wheel radius 0.0425 m), so on the real robot we publish base_link → laser with a static transform instead of using this 0.9 m warehouse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urdf/gazebo.xacro attaches plugins to the model. The diff_drive plugin subscribes to cmd_vel, moves the two traction wheels and publishes odometry plus the odom → base_footprint transform. The ray sensor plugin simulates the 2D LiDAR (361 rays, 30 Hz, 0.55–16 m). IMU and camera plugins publish sensor data. p3d publishes the exact ground-truth pose (topic p3d_ground_truth). In simulation all topics are under the /bcr_bot namespace (e.g. /bcr_bot/scan). The big lesson is the callout: odometry_source:=world gives perfect odometry, so things that work in simulation can fail on the real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files are Python scripts that start nodes with parameters. gazebo.launch.py starts Gazebo, loads small_warehouse.sdf and spawns the robot (robot_state_publisher + spawn_entity). robot_bringup.launch.py is new: it is the real-robot replacement for Gazebo. mapping.launch.py includes slam_toolbox online_async_launch.py with our mapper_params_online_async.yaml. nav2.launch.py includes nav2_bringup bringup_launch.py with our map and nav2_params.yaml. Arguments after := change behaviour without editing files, for example: ros2 launch bcr_bot gazebo.launch.py two_d_lidar_enabled:=True camera_enabled:=False.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 is the most common source of real-robot bugs. map is the fixed world frame; map → odom is published by AMCL (navigation) or slam_toolbox (mapping) and corrects odometry drift, so it can jump. odom → base_link is published by the odometry node (our esp32_driver from encoders, or rf2o from laser) — smooth but slowly drifting. base_link → laser is a fixed transform describing where the LiDAR is mounted. Show students ros2 run tf2_tools view_frames and ros2 run tf2_ros tf2_echo map base_link. Ask: what happens if both esp32_driver and rf2o publish odom → base_link? (The pose flickers between two estimates and the robot jerks — we had exactly this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opens the black boxes. For each algorithm: the idea in one sentence, the formula or picture, and the parameter in our configuration that controls it. Students do not need to implement these, but they must understand them to tune and debug the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robot has two driven wheels and a caster. Nav2 sends v (m/s forward) and ω (rad/s turning) on /cmd_vel. The driver converts them: v_l = v − ω·W/2 and v_r = v + ω·W/2, where W is the wheel separation. Odometry does the reverse. Worked example on the slide: v = 0.18, ω = 0.5, W = 0.34 → left wheel 0.095 m/s, right wheel 0.265 m/s, turning radius v/ω = 0.36 m. Important lesson from our robot: if you must limit speed, scale v and ω by the same factor; clamping them separately changes v/ω, the turning radius, so the robot drives a different curve than Nav2 planned. This code is in esp32_teleop_odometry_node.py, cmd_vel_cb.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 integrates small motions. Ticks per wheel revolution: 7 pulses × 19.2 gearbox × 4 (quadrature, counting both edges of both channels) = 537.6. One tick is 2π·0.0425/537.6 ≈ 0.50 mm of travel. Every encoder message (~30 Hz) the driver computes left and right distances, the robot’s forward motion d and rotation Δθ, and adds them to the pose using the mid-point heading. Errors accumulate forever: a 2 % wheel-size error is 2 cm per metre; a 3 % track-width error is about 11° per full turn. That is why we calibrate (lab step 3) and why AMCL uses the map to correct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RPLidar spins a laser and reports one distance per angle — a sensor_msgs/LaserScan message on /scan. With angle_compensate on we get roughly 360 rays, one per degree, range 0.15–12 m, several scans per second (check with ros2 topic hz /scan). The picture shows a scan in a room: rays stop at walls, and the table casts a shadow where the LiDAR cannot see. rf2o (range-flow odometry) compares two consecutive scans and estimates how the robot moved — useful when wheels slip, but weak in long featureless corridors. Use only one odometry source: robot_bringup.launch.py has odom_source:=wheel (default) or odom_source:=laser.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SLAM = Simultaneous Localization And Mapping. SLAM Toolbox is graph-based: every time the robot moves 0.15 m or turns 0.15 rad it stores a node (pose + scan). Scan matching aligns each new scan with recent scans, which gives a better pose than odometry alone. When the robot returns to a place it has seen, loop closure adds an extra constraint (orange dashed edge) and the Ceres optimizer moves all nodes so the constraints agree — this removes accumulated drift. Finally the scans are rendered into an occupancy grid (/map, 5 cm cells) and the map → odom transform is published. Our parameters are in bcr_bot/config/mapper_params_online_async.yaml.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map_saver_cli writes two files: a .pgm picture and a .yaml description. Each pixel is one cell (resolution 0.05 m = 5 cm). Dark pixels are occupied, light pixels free, mid-grey unknown (never seen). origin is the world position of the bottom-left pixel, which is how a pixel becomes x, y in metres. Show students both files in a text editor and an image viewer. Then the warning: bcr_bot ships bcr_map.yaml, which is the Gazebo warehouse (29 × 31 m). Our nav2.launch.py used it by default, so AMCL compared our classroom to warehouse shelves — the main reason the real robot moved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AMCL (Adaptive Monte Carlo Localization) keeps hundreds of guesses (particles) of the robot pose. Predict: when odometry says the robot moved, every particle moves the same way plus random noise (alpha1–alpha5). Weight: for each particle, AMCL checks how well the real LiDAR scan fits the map if the robot were there (likelihood field model) — good fit, high weight. Resample: draw a new particle set favouring heavy particles; the cluster is the pose estimate and AMCL publishes map → odom. Our values: 500–2000 particles, update after 0.25 m or 0.2 rad, laser range 0.2–12 m. Students must give AMCL an initial pose (RViz 2D Pose Estimate or the web app “Robot is here”), otherwise particles start in the wrong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Nav2 never plans on the raw map. It builds costmaps by stacking layers: the static layer copies walls from /map; the obstacle (or voxel) layer marks what the LiDAR sees now — people, chairs, bags — and clears cells when the laser passes through them; the inflation layer adds a cost that falls off with distance from every obstacle, so paths keep a safety margin. There are two costmaps: global (whole map, for the planner) and local (a 3 × 3 m window that moves with the robot, for the controller). Cost values: 0 free, 1–252 inflated, 253 inscribed (the robot would touch), 254 lethal (an obstacle), 255 unknown. robot_radius must be the real robot size and identical in both costmaps — ours was wrong (0.12 m local vs 0.22 m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computed from the Nav2 inflation formula with our values: robot_radius 0.22 m (inscribed radius), inflation_radius 0.55 m. Inside 0.22 m the cost is 253 — the robot would touch the obstacle, so paths never go there. Between 0.22 m and 0.55 m the cost is 252·e^(−k·(d − 0.22)), where k is cost_scaling_factor. Beyond 0.55 m the cost is 0. With k = 3 (ours) the cost stays high for a long way, so the planner keeps far from tables; with k = 10 the cost drops quickly and the robot passes closer. Exercise: change cost_scaling_factor and watch the path in RViz.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grids are computed with real Dijkstra and A* searches on a 16 × 10 grid with a wall (4-connected moves). Blue cells were expanded (examined) before the goal was reached; orange is the final path. Dijkstra (NavFn default, use_astar: false) spreads out evenly in all directions. A* adds a guess of the remaining distance (the heuristic), so it expands fewer cells but finds a path of the same cost. In Nav2 the cell cost comes from the costmap, so inflated cells are expensive and paths stay away from walls. Our planner settings: nav2_navfn_planner, tolerance 0.5 m, allow_unknown true. Other options students can try: Smac Planner 2D, Smac Hybrid-A*, Theta*.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runs 20 times per second. Pure Pursuit picks the lookahead point: the point on the path at distance L (lookahead_dist, 0.3–0.6 m, ours 0.4 m) from the robot. It then drives the circular arc that ends at that point: curvature κ = 2·y_L/L², where y_L is the sideways offset of the point in the robot frame, and ω = v·κ. “Regulated” means it slows down for sharp turns (radius below 0.9 m), near obstacles (cost-regulated) and when approaching the goal (last 0.6 m), never below 0.05 m/s. If the path points more than 45° away from the robot heading, it first rotates in place (use_rotate_to_heading). Our desired_linear_vel is 0.18 m/s. Discuss: what happens with a very short lookahead (oscillation) or a very long one (cuts corners)?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bt_navigator runs the default tree navigate_to_pose_w_replanning_and_recovery.xml. The tree is ticked every 10 ms (bt_loop_duration) and each node answers SUCCESS, FAILURE or RUNNING. The left branch navigates: it recomputes the path once per second (so new obstacles are avoided) and runs the controller to follow it. If navigation fails, the root recovery node runs the next recovery action in round-robin order — clear the costmaps, spin, wait, back up — and then tries navigating again, up to 6 times. Behavior trees are XML files, so the behaviour can be changed without C++: for example, a tree that waits at a table for 30 s before returning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velocity command. The controller (Regulated Pure Pursuit) publishes cmd_vel_nav at 20 Hz. The velocity smoother limits speed and acceleration (ours: 0.18 m/s, 0.5 rad/s, 0.4 m/s²) and publishes cmd_vel_smoothed. The collision monitor checks the LiDAR points against the robot footprint and slows down or stops before a collision; it publishes /cmd_vel. esp32_driver converts v and ω into wheel speeds, stops the motors if /cmd_vel stops for 0.5 s (watchdog), and sends "s v_l v_r" to the ESP32. The ESP32 drives the motor driver and sends encoder ticks back ("e left right"), which esp32_driver turns into /odom. Key lesson: the limits in the velocity smoother must equal the driver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the heart of the course for this robot. Simulation hides many problems: perfect odometry, a perfect clock, the right map, and the right robot size. We go through what had to change, using the real mistakes we found in our own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row by row and ask students who provides each item in simulation and on the real robot. Motion: the diff_drive plugin is replaced by esp32_driver + ESP32 firmware + MDD10A motor driver. Odometry: perfect in Gazebo with odometry_source:=world; on the real robot it comes from encoders and must be calibrated. LiDAR: the ray sensor becomes the sllidar_ros2 driver. The LiDAR transform comes from a static transform publisher in robot_bringup.launch.py. Time: Gazebo publishes /clock and nodes use use_sim_time: true; on the real robot use_sim_time must be false everywhere. Map: we must build our own. Topics lose the /bcr_bot namespace. Robot size changes from 0.9 × 0.64 m to about 0.38 m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as you explain. The robot computer (Raspberry Pi or laptop with Ubuntu and ROS 2) runs all ROS nodes. The RPLidar connects by USB and is read by sllidar_node. The ESP32 connects by USB serial at 115200 baud: the PC sends wheel speeds in m/s 20 times per second ("s 0.095 0.265"); the ESP32 sends encoder tick counts about 30 times per second ("e 12345 12290"). The ESP32 generates PWM and direction signals for the MDD10A dual motor driver, which powers two DC gear motors (19.2:1) with 7-pulse encoders. A phone or laptop on the same Wi-Fi opens the web app on port 8080. Tip: USB ports can swap after reboot (ttyUSB0/ttyUSB1) — use /dev/serial/by-id/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parameter changes. The first two rows (use_sim_time and topic names) were done in an earlier commit by the team (291a5ce); the rest were added after analysing the robot (commit 809277a on branch real-robot-nav-web-app). For each row ask students what would happen without the change. For example: with use_sim_time true and no Gazebo, nodes wait forever for /clock; with max_accel 2.5 m/s² small motors slip and odometry becomes wrong; with robot_radius 0.12 the controller thinks the robot is tiny and brushes table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repository on GitHub (branch real-robot-nav-web-app of github.com/febintjames/autonomousrobot). nav2.launch.py now takes a map:= argument (default ~/maps/my_map.yaml) and no longer starts remapper.py, which only renamed topics for Gazebo. robot_bringup.launch.py is the real-robot replacement for gazebo.launch.py: it starts the LiDAR driver, publishes base_link → laser and starts esp32_driver, with exactly one odometry source. The driver change keeps the turning radius when limiting speed. odom_check.py helps calibration. table_nav_web is the web app. ROBOT_NAV_GUIDE.md has the full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findings from our repository, which makes them great teaching material. 1) nav2.launch.py loaded the Gazebo warehouse map. 2) The rf2o launch file had been changed to publish /odom and odom → base_link, the same as esp32_driver, so two nodes fought over the robot pose. 3) Nav2 allowed 0.26 m/s and 1.0 rad/s but the driver clamped to 0.18 and 0.5 separately, changing the curve. 4) The local costmap robot_radius was 0.12 m. 5) cmd_vel_serial.py sends only F/B/L/R commands, so it cannot drive a curve — it must not be used with Nav2. Ask students to predict each symptom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in groups of 3–4 students per robot. Each step has a clear “done when” check; do not let a group move on until it passes, because every later step depends on the earlier ones (for example, navigation cannot work with uncalibrated odometry or a wrong LiDAR transform).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whole journey first. Step 1 builds the workspace. Step 2 starts the robot and checks the hardware. Step 3 calibrates odometry. Step 4 builds the map. Step 5 tests navigation from RViz. Step 6 adds the web app and saved table positions. Each “done when” line is the check the teacher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these commands themselves. Expected results: /scan at roughly 5–10 Hz; ros2 topic info /odom shows Publisher count: 1; tf2_echo prints a transform. The LiDAR direction test catches a backwards-mounted sensor: in RViz (fixed frame base_link) a box held in front of the robot must appear on the red X axis side; if it appears behind, relaunch with laser_yaw:=3.14159. The teleop test catches swapped motors or encoders. The 0.05 m/s test matters because Nav2 slows to that speed near goals; if the wheels do not turn, the firmware needs a speed PID or minimum PWM.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the single biggest improvement for a real robot. odom_check prints the distance and the total rotation (not wrapped at 180°) since it started. Test 1: mark 1.00 m on the floor with tape and drive it with teleop; linear_scale = 1.00 / distance shown. Rebuild/restart with that value first, because linear_scale also affects rotation. Test 2: spin in place exactly 5 turns; wheel_separation = 0.34 × rotation / 1800. Real wheel separation usually comes out a little larger than the tape measure because the tyres scrub. Repeat until the error is below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terminals. Drive slowly: SLAM adds a node every 0.15 m and fast motion blurs scans. Close the loop by finishing where you started, so loop closure removes drift. Visit every table so it appears in the map. Before saving, check in RViz that walls are straight and single (a doubled wall means the robot lost track — drive back to a known area). map_saver_cli writes my_map.pgm and my_map.yaml. If the room changes a lot or you make a new map, saved table positions must be recorded again, because coordinates belong to one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robot and Nav2 with the map from step 4. In RViz, first use 2D Pose Estimate: click where the robot really stands and drag in the direction it faces. AMCL then publishes map → odom and the laser scan should line up with the walls; if it does not, set the pose again. Then use Nav2 Goal to send a destination. Explain the chain shown at the bottom: the goal goes to the behavior tree navigator, which calls the planner (path) and the controller (velocity), which drives the wheels. On a headless robot computer add use_rviz:=False and run RViz on a laptop on the same network (same ROS_DOMAIN_ID).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table_nav_web is a small ROS 2 node that is also a web server. The phone page sends JSON requests (for example POST /api/goto with {"name": "table1"}). The node looks up the saved pose in ~/.ros/table_locations.yaml and sends a NavigateToPose action goal to Nav2, then shows the feedback (distance left, ETA) on the page. STOP cancels all Nav2 goals. To save a table: set the robot pose (Robot is here), drive the robot to the table facing the way it should wait, type table1 and press Save current position. Other programs (a restaurant POS, a button box) can use the same HTTP API with curl. Security note: there is no login, so keep the robot on a private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a habit: when something is wrong, first look at the data, then change parameters. Is the node running (ros2 node list)? Is the topic publishing, how fast, and who publishes it (ros2 topic hz, ros2 topic info -v)? Is the TF tree complete (view_frames, tf2_echo)? What value is a parameter really using (ros2 param get)? rqt_graph shows how nodes are connected. Give each group a printed copy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lookup table during the lab. The last row is specific to newer Nav2 releases (Kilted), where /cmd_vel can be a TwistStamped message; esp32_driver subscribes to Twist, so the message types must match. ros2 topic info -v /cmd_vel shows the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go from basic to advanced. 1 and 2 check that the system works and introduce measurement. 3 and 4 connect parameters to the algorithms from module 3 (inflation and planners). 5 compares odometry sources. 6 is a project for strong groups: fuse wheel odometry, rf2o and an IMU with the robot_localization EKF; then esp32_driver and rf2o publish without TF and the EKF publishes /odom and odom → base_link. Ask every group to write a one-page report with measurements, not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four lessons. Point students to the resources: the Nav2 documentation explains every parameter used in nav2_params.yaml; the SLAM Toolbox README explains the mapping parameters; the original bcr_bot repository shows the simulation side; our branch real-robot-nav-web-app contains every change discussed, plus ROBOT_NAV_GUIDE.md with the full lab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7589520" cy="2286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886200"/>
            <a:ext cx="758952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77640"/>
            <a:ext cx="786384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chemeClr val="accent6"/>
                </a:solidFill>
              </a:rPr>
              <a:t>Autonomous robot course  ·  bcr_bot + Nav2</a:t>
            </a:r>
            <a:endParaRPr lang="en-US" sz="10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4.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4.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docs.nav2.org" TargetMode="External"/><Relationship Id="rId2" Type="http://schemas.openxmlformats.org/officeDocument/2006/relationships/hyperlink" Target="https://github.com/SteveMacenski/slam_toolbox" TargetMode="External"/><Relationship Id="rId3" Type="http://schemas.openxmlformats.org/officeDocument/2006/relationships/hyperlink" Target="https://github.com/blackcoffeerobotics/bcr_bot" TargetMode="External"/><Relationship Id="rId4" Type="http://schemas.openxmlformats.org/officeDocument/2006/relationships/hyperlink" Target="https://docs.ros.org" TargetMode="External"/><Relationship Id="rId5" Type="http://schemas.openxmlformats.org/officeDocument/2006/relationships/hyperlink" Target="https://github.com/febintjames/autonomousrobot/tree/real-robot-nav-web-app" TargetMode="External"/><Relationship Id="rId6" Type="http://schemas.openxmlformats.org/officeDocument/2006/relationships/slideLayout" Target="../slideLayouts/slideLayout5.xml"/><Relationship Id="rId7"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7589520" cy="2286000"/>
          </a:xfrm>
          <a:prstGeom prst="rect">
            <a:avLst/>
          </a:prstGeom>
          <a:noFill/>
          <a:ln/>
        </p:spPr>
        <p:txBody>
          <a:bodyPr wrap="square" lIns="0" tIns="0" rIns="0" bIns="0" rtlCol="0" anchor="b"/>
          <a:lstStyle/>
          <a:p>
            <a:pPr algn="l" indent="0" marL="0">
              <a:buNone/>
            </a:pPr>
            <a:r>
              <a:rPr lang="en-US" sz="4400" b="1" dirty="0">
                <a:solidFill>
                  <a:schemeClr val="bg1"/>
                </a:solidFill>
              </a:rPr>
              <a:t>Build an Autonomous Robot with bcr_bot + Nav2</a:t>
            </a:r>
            <a:endParaRPr lang="en-US" sz="4400" dirty="0"/>
          </a:p>
        </p:txBody>
      </p:sp>
      <p:sp>
        <p:nvSpPr>
          <p:cNvPr id="3" name="Text 0"/>
          <p:cNvSpPr/>
          <p:nvPr>
            <p:ph idx="101" type="body" hasCustomPrompt="1"/>
          </p:nvPr>
        </p:nvSpPr>
        <p:spPr>
          <a:xfrm>
            <a:off x="731520" y="3886200"/>
            <a:ext cx="7589520" cy="1188720"/>
          </a:xfrm>
          <a:prstGeom prst="rect">
            <a:avLst/>
          </a:prstGeom>
          <a:noFill/>
          <a:ln/>
        </p:spPr>
        <p:txBody>
          <a:bodyPr wrap="square" lIns="0" tIns="0" rIns="0" bIns="0" rtlCol="0" anchor="t"/>
          <a:lstStyle/>
          <a:p>
            <a:pPr algn="l" indent="0" marL="0">
              <a:buNone/>
            </a:pPr>
            <a:r>
              <a:rPr lang="en-US" sz="2000" dirty="0">
                <a:solidFill>
                  <a:schemeClr val="bg2"/>
                </a:solidFill>
              </a:rPr>
              <a:t>Use ready-made ROS 2 packages, understand the algorithms inside them, and adapt them to a real robot that drives itself to “Table 1”</a:t>
            </a:r>
            <a:endParaRPr lang="en-US" sz="2000" dirty="0"/>
          </a:p>
        </p:txBody>
      </p:sp>
      <p:sp>
        <p:nvSpPr>
          <p:cNvPr id="4" name="Technology line"/>
          <p:cNvSpPr txBox="1"/>
          <p:nvPr/>
        </p:nvSpPr>
        <p:spPr>
          <a:xfrm>
            <a:off x="731520" y="5349240"/>
            <a:ext cx="7589520" cy="365760"/>
          </a:xfrm>
          <a:prstGeom prst="rect">
            <a:avLst/>
          </a:prstGeom>
          <a:noFill/>
          <a:ln/>
        </p:spPr>
        <p:txBody>
          <a:bodyPr wrap="square" lIns="0" tIns="0" rIns="0" bIns="0" rtlCol="0" anchor="t"/>
          <a:lstStyle/>
          <a:p>
            <a:pPr algn="l" indent="0" marL="0">
              <a:buNone/>
            </a:pPr>
            <a:r>
              <a:rPr lang="en-US" sz="1600" b="1" dirty="0">
                <a:solidFill>
                  <a:schemeClr val="accent1"/>
                </a:solidFill>
              </a:rPr>
              <a:t>ROS 2  ·  Gazebo  ·  SLAM Toolbox  ·  Nav2  ·  ESP32  ·  RPLidar</a:t>
            </a:r>
            <a:endParaRPr lang="en-US" sz="1600" dirty="0"/>
          </a:p>
        </p:txBody>
      </p:sp>
      <p:sp>
        <p:nvSpPr>
          <p:cNvPr id="5" name="Robot circle"/>
          <p:cNvSpPr/>
          <p:nvPr/>
        </p:nvSpPr>
        <p:spPr>
          <a:xfrm>
            <a:off x="8915400" y="1737360"/>
            <a:ext cx="2651760" cy="2651760"/>
          </a:xfrm>
          <a:prstGeom prst="ellipse">
            <a:avLst/>
          </a:prstGeom>
          <a:solidFill>
            <a:schemeClr val="accent1"/>
          </a:solidFill>
          <a:ln w="12700">
            <a:solidFill>
              <a:schemeClr val="accent1"/>
            </a:solidFill>
            <a:prstDash val="solid"/>
          </a:ln>
        </p:spPr>
      </p:sp>
      <p:pic>
        <p:nvPicPr>
          <p:cNvPr id="6" name="Robot icon" descr="preencoded.png">    </p:cNvPr>
          <p:cNvPicPr>
            <a:picLocks noChangeAspect="1"/>
          </p:cNvPicPr>
          <p:nvPr/>
        </p:nvPicPr>
        <p:blipFill>
          <a:blip r:embed="rId1"/>
          <a:stretch>
            <a:fillRect/>
          </a:stretch>
        </p:blipFill>
        <p:spPr>
          <a:xfrm>
            <a:off x="9555480" y="237744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Course map: five modules</a:t>
            </a:r>
            <a:endParaRPr lang="en-US" sz="2800" dirty="0"/>
          </a:p>
        </p:txBody>
      </p:sp>
      <p:sp>
        <p:nvSpPr>
          <p:cNvPr id="4" name="Module card 01"/>
          <p:cNvSpPr/>
          <p:nvPr/>
        </p:nvSpPr>
        <p:spPr>
          <a:xfrm>
            <a:off x="548640" y="1463040"/>
            <a:ext cx="2057400" cy="3154680"/>
          </a:xfrm>
          <a:prstGeom prst="roundRect">
            <a:avLst>
              <a:gd name="adj" fmla="val 4444"/>
            </a:avLst>
          </a:prstGeom>
          <a:solidFill>
            <a:schemeClr val="bg2"/>
          </a:solidFill>
          <a:ln w="6350">
            <a:solidFill>
              <a:schemeClr val="bg2"/>
            </a:solidFill>
            <a:prstDash val="solid"/>
          </a:ln>
        </p:spPr>
      </p:sp>
      <p:sp>
        <p:nvSpPr>
          <p:cNvPr id="5" name="Module number 01"/>
          <p:cNvSpPr txBox="1"/>
          <p:nvPr/>
        </p:nvSpPr>
        <p:spPr>
          <a:xfrm>
            <a:off x="777240" y="1737360"/>
            <a:ext cx="1097280" cy="640080"/>
          </a:xfrm>
          <a:prstGeom prst="rect">
            <a:avLst/>
          </a:prstGeom>
          <a:noFill/>
          <a:ln/>
        </p:spPr>
        <p:txBody>
          <a:bodyPr wrap="square" lIns="0" tIns="0" rIns="0" bIns="0" rtlCol="0" anchor="t"/>
          <a:lstStyle/>
          <a:p>
            <a:pPr algn="l" indent="0" marL="0">
              <a:buNone/>
            </a:pPr>
            <a:r>
              <a:rPr lang="en-US" sz="3600" b="1" dirty="0">
                <a:solidFill>
                  <a:schemeClr val="accent1"/>
                </a:solidFill>
              </a:rPr>
              <a:t>01</a:t>
            </a:r>
            <a:endParaRPr lang="en-US" sz="3600" dirty="0"/>
          </a:p>
        </p:txBody>
      </p:sp>
      <p:sp>
        <p:nvSpPr>
          <p:cNvPr id="6" name="Module icon 01 tile"/>
          <p:cNvSpPr/>
          <p:nvPr/>
        </p:nvSpPr>
        <p:spPr>
          <a:xfrm>
            <a:off x="1737360" y="1737360"/>
            <a:ext cx="640080" cy="640080"/>
          </a:xfrm>
          <a:prstGeom prst="roundRect">
            <a:avLst>
              <a:gd name="adj" fmla="val 20000"/>
            </a:avLst>
          </a:prstGeom>
          <a:solidFill>
            <a:schemeClr val="accent3"/>
          </a:solidFill>
          <a:ln w="6350">
            <a:solidFill>
              <a:schemeClr val="accent3"/>
            </a:solidFill>
            <a:prstDash val="solid"/>
          </a:ln>
        </p:spPr>
      </p:sp>
      <p:pic>
        <p:nvPicPr>
          <p:cNvPr id="7" name="Module icon 01 icon" descr="preencoded.png">    </p:cNvPr>
          <p:cNvPicPr>
            <a:picLocks noChangeAspect="1"/>
          </p:cNvPicPr>
          <p:nvPr/>
        </p:nvPicPr>
        <p:blipFill>
          <a:blip r:embed="rId1"/>
          <a:stretch>
            <a:fillRect/>
          </a:stretch>
        </p:blipFill>
        <p:spPr>
          <a:xfrm>
            <a:off x="1878178" y="1878178"/>
            <a:ext cx="358445" cy="358445"/>
          </a:xfrm>
          <a:prstGeom prst="rect">
            <a:avLst/>
          </a:prstGeom>
        </p:spPr>
      </p:pic>
      <p:sp>
        <p:nvSpPr>
          <p:cNvPr id="8" name="Module title 01"/>
          <p:cNvSpPr txBox="1"/>
          <p:nvPr/>
        </p:nvSpPr>
        <p:spPr>
          <a:xfrm>
            <a:off x="777240" y="2560320"/>
            <a:ext cx="1600200" cy="685800"/>
          </a:xfrm>
          <a:prstGeom prst="rect">
            <a:avLst/>
          </a:prstGeom>
          <a:noFill/>
          <a:ln/>
        </p:spPr>
        <p:txBody>
          <a:bodyPr wrap="square" lIns="0" tIns="0" rIns="0" bIns="0" rtlCol="0" anchor="t"/>
          <a:lstStyle/>
          <a:p>
            <a:pPr algn="l" indent="0" marL="0">
              <a:buNone/>
            </a:pPr>
            <a:r>
              <a:rPr lang="en-US" sz="1800" b="1" dirty="0">
                <a:solidFill>
                  <a:schemeClr val="tx1"/>
                </a:solidFill>
              </a:rPr>
              <a:t>The big picture</a:t>
            </a:r>
            <a:endParaRPr lang="en-US" sz="1800" dirty="0"/>
          </a:p>
        </p:txBody>
      </p:sp>
      <p:sp>
        <p:nvSpPr>
          <p:cNvPr id="9" name="Module text 01"/>
          <p:cNvSpPr txBox="1"/>
          <p:nvPr/>
        </p:nvSpPr>
        <p:spPr>
          <a:xfrm>
            <a:off x="777240" y="3291840"/>
            <a:ext cx="1600200" cy="1234440"/>
          </a:xfrm>
          <a:prstGeom prst="rect">
            <a:avLst/>
          </a:prstGeom>
          <a:noFill/>
          <a:ln/>
        </p:spPr>
        <p:txBody>
          <a:bodyPr wrap="square" lIns="0" tIns="0" rIns="0" bIns="0" rtlCol="0" anchor="t"/>
          <a:lstStyle/>
          <a:p>
            <a:pPr algn="l" indent="0" marL="0">
              <a:buNone/>
            </a:pPr>
            <a:r>
              <a:rPr lang="en-US" sz="1400" dirty="0">
                <a:solidFill>
                  <a:schemeClr val="tx2"/>
                </a:solidFill>
              </a:rPr>
              <a:t>What autonomy means, the software stack we reuse, and ROS 2 basics</a:t>
            </a:r>
            <a:endParaRPr lang="en-US" sz="1400" dirty="0"/>
          </a:p>
        </p:txBody>
      </p:sp>
      <p:sp>
        <p:nvSpPr>
          <p:cNvPr id="10" name="Module card 02"/>
          <p:cNvSpPr/>
          <p:nvPr/>
        </p:nvSpPr>
        <p:spPr>
          <a:xfrm>
            <a:off x="2807208" y="1463040"/>
            <a:ext cx="2057400" cy="3154680"/>
          </a:xfrm>
          <a:prstGeom prst="roundRect">
            <a:avLst>
              <a:gd name="adj" fmla="val 4444"/>
            </a:avLst>
          </a:prstGeom>
          <a:solidFill>
            <a:schemeClr val="bg2"/>
          </a:solidFill>
          <a:ln w="6350">
            <a:solidFill>
              <a:schemeClr val="bg2"/>
            </a:solidFill>
            <a:prstDash val="solid"/>
          </a:ln>
        </p:spPr>
      </p:sp>
      <p:sp>
        <p:nvSpPr>
          <p:cNvPr id="11" name="Module number 02"/>
          <p:cNvSpPr txBox="1"/>
          <p:nvPr/>
        </p:nvSpPr>
        <p:spPr>
          <a:xfrm>
            <a:off x="3035808" y="1737360"/>
            <a:ext cx="1097280" cy="640080"/>
          </a:xfrm>
          <a:prstGeom prst="rect">
            <a:avLst/>
          </a:prstGeom>
          <a:noFill/>
          <a:ln/>
        </p:spPr>
        <p:txBody>
          <a:bodyPr wrap="square" lIns="0" tIns="0" rIns="0" bIns="0" rtlCol="0" anchor="t"/>
          <a:lstStyle/>
          <a:p>
            <a:pPr algn="l" indent="0" marL="0">
              <a:buNone/>
            </a:pPr>
            <a:r>
              <a:rPr lang="en-US" sz="3600" b="1" dirty="0">
                <a:solidFill>
                  <a:schemeClr val="accent1"/>
                </a:solidFill>
              </a:rPr>
              <a:t>02</a:t>
            </a:r>
            <a:endParaRPr lang="en-US" sz="3600" dirty="0"/>
          </a:p>
        </p:txBody>
      </p:sp>
      <p:sp>
        <p:nvSpPr>
          <p:cNvPr id="12" name="Module icon 02 tile"/>
          <p:cNvSpPr/>
          <p:nvPr/>
        </p:nvSpPr>
        <p:spPr>
          <a:xfrm>
            <a:off x="3995928" y="1737360"/>
            <a:ext cx="640080" cy="640080"/>
          </a:xfrm>
          <a:prstGeom prst="roundRect">
            <a:avLst>
              <a:gd name="adj" fmla="val 20000"/>
            </a:avLst>
          </a:prstGeom>
          <a:solidFill>
            <a:schemeClr val="accent2"/>
          </a:solidFill>
          <a:ln w="6350">
            <a:solidFill>
              <a:schemeClr val="accent2"/>
            </a:solidFill>
            <a:prstDash val="solid"/>
          </a:ln>
        </p:spPr>
      </p:sp>
      <p:pic>
        <p:nvPicPr>
          <p:cNvPr id="13" name="Module icon 02 icon" descr="preencoded.png">    </p:cNvPr>
          <p:cNvPicPr>
            <a:picLocks noChangeAspect="1"/>
          </p:cNvPicPr>
          <p:nvPr/>
        </p:nvPicPr>
        <p:blipFill>
          <a:blip r:embed="rId2"/>
          <a:stretch>
            <a:fillRect/>
          </a:stretch>
        </p:blipFill>
        <p:spPr>
          <a:xfrm>
            <a:off x="4136746" y="1878178"/>
            <a:ext cx="358445" cy="358445"/>
          </a:xfrm>
          <a:prstGeom prst="rect">
            <a:avLst/>
          </a:prstGeom>
        </p:spPr>
      </p:pic>
      <p:sp>
        <p:nvSpPr>
          <p:cNvPr id="14" name="Module title 02"/>
          <p:cNvSpPr txBox="1"/>
          <p:nvPr/>
        </p:nvSpPr>
        <p:spPr>
          <a:xfrm>
            <a:off x="3035808" y="2560320"/>
            <a:ext cx="1600200" cy="685800"/>
          </a:xfrm>
          <a:prstGeom prst="rect">
            <a:avLst/>
          </a:prstGeom>
          <a:noFill/>
          <a:ln/>
        </p:spPr>
        <p:txBody>
          <a:bodyPr wrap="square" lIns="0" tIns="0" rIns="0" bIns="0" rtlCol="0" anchor="t"/>
          <a:lstStyle/>
          <a:p>
            <a:pPr algn="l" indent="0" marL="0">
              <a:buNone/>
            </a:pPr>
            <a:r>
              <a:rPr lang="en-US" sz="1800" b="1" dirty="0">
                <a:solidFill>
                  <a:schemeClr val="tx1"/>
                </a:solidFill>
              </a:rPr>
              <a:t>Inside bcr_bot</a:t>
            </a:r>
            <a:endParaRPr lang="en-US" sz="1800" dirty="0"/>
          </a:p>
        </p:txBody>
      </p:sp>
      <p:sp>
        <p:nvSpPr>
          <p:cNvPr id="15" name="Module text 02"/>
          <p:cNvSpPr txBox="1"/>
          <p:nvPr/>
        </p:nvSpPr>
        <p:spPr>
          <a:xfrm>
            <a:off x="3035808" y="3291840"/>
            <a:ext cx="1600200" cy="1234440"/>
          </a:xfrm>
          <a:prstGeom prst="rect">
            <a:avLst/>
          </a:prstGeom>
          <a:noFill/>
          <a:ln/>
        </p:spPr>
        <p:txBody>
          <a:bodyPr wrap="square" lIns="0" tIns="0" rIns="0" bIns="0" rtlCol="0" anchor="t"/>
          <a:lstStyle/>
          <a:p>
            <a:pPr algn="l" indent="0" marL="0">
              <a:buNone/>
            </a:pPr>
            <a:r>
              <a:rPr lang="en-US" sz="1400" dirty="0">
                <a:solidFill>
                  <a:schemeClr val="tx2"/>
                </a:solidFill>
              </a:rPr>
              <a:t>Folders, build system, URDF / Xacro, Gazebo plugins, launch files and TF</a:t>
            </a:r>
            <a:endParaRPr lang="en-US" sz="1400" dirty="0"/>
          </a:p>
        </p:txBody>
      </p:sp>
      <p:sp>
        <p:nvSpPr>
          <p:cNvPr id="16" name="Module card 03"/>
          <p:cNvSpPr/>
          <p:nvPr/>
        </p:nvSpPr>
        <p:spPr>
          <a:xfrm>
            <a:off x="5065776" y="1463040"/>
            <a:ext cx="2057400" cy="3154680"/>
          </a:xfrm>
          <a:prstGeom prst="roundRect">
            <a:avLst>
              <a:gd name="adj" fmla="val 4444"/>
            </a:avLst>
          </a:prstGeom>
          <a:solidFill>
            <a:schemeClr val="bg2"/>
          </a:solidFill>
          <a:ln w="6350">
            <a:solidFill>
              <a:schemeClr val="bg2"/>
            </a:solidFill>
            <a:prstDash val="solid"/>
          </a:ln>
        </p:spPr>
      </p:sp>
      <p:sp>
        <p:nvSpPr>
          <p:cNvPr id="17" name="Module number 03"/>
          <p:cNvSpPr txBox="1"/>
          <p:nvPr/>
        </p:nvSpPr>
        <p:spPr>
          <a:xfrm>
            <a:off x="5294376" y="1737360"/>
            <a:ext cx="1097280" cy="640080"/>
          </a:xfrm>
          <a:prstGeom prst="rect">
            <a:avLst/>
          </a:prstGeom>
          <a:noFill/>
          <a:ln/>
        </p:spPr>
        <p:txBody>
          <a:bodyPr wrap="square" lIns="0" tIns="0" rIns="0" bIns="0" rtlCol="0" anchor="t"/>
          <a:lstStyle/>
          <a:p>
            <a:pPr algn="l" indent="0" marL="0">
              <a:buNone/>
            </a:pPr>
            <a:r>
              <a:rPr lang="en-US" sz="3600" b="1" dirty="0">
                <a:solidFill>
                  <a:schemeClr val="accent1"/>
                </a:solidFill>
              </a:rPr>
              <a:t>03</a:t>
            </a:r>
            <a:endParaRPr lang="en-US" sz="3600" dirty="0"/>
          </a:p>
        </p:txBody>
      </p:sp>
      <p:sp>
        <p:nvSpPr>
          <p:cNvPr id="18" name="Module icon 03 tile"/>
          <p:cNvSpPr/>
          <p:nvPr/>
        </p:nvSpPr>
        <p:spPr>
          <a:xfrm>
            <a:off x="6254496" y="1737360"/>
            <a:ext cx="640080" cy="640080"/>
          </a:xfrm>
          <a:prstGeom prst="roundRect">
            <a:avLst>
              <a:gd name="adj" fmla="val 20000"/>
            </a:avLst>
          </a:prstGeom>
          <a:solidFill>
            <a:schemeClr val="accent4"/>
          </a:solidFill>
          <a:ln w="6350">
            <a:solidFill>
              <a:schemeClr val="accent4"/>
            </a:solidFill>
            <a:prstDash val="solid"/>
          </a:ln>
        </p:spPr>
      </p:sp>
      <p:pic>
        <p:nvPicPr>
          <p:cNvPr id="19" name="Module icon 03 icon" descr="preencoded.png">    </p:cNvPr>
          <p:cNvPicPr>
            <a:picLocks noChangeAspect="1"/>
          </p:cNvPicPr>
          <p:nvPr/>
        </p:nvPicPr>
        <p:blipFill>
          <a:blip r:embed="rId3"/>
          <a:stretch>
            <a:fillRect/>
          </a:stretch>
        </p:blipFill>
        <p:spPr>
          <a:xfrm>
            <a:off x="6395314" y="1878178"/>
            <a:ext cx="358445" cy="358445"/>
          </a:xfrm>
          <a:prstGeom prst="rect">
            <a:avLst/>
          </a:prstGeom>
        </p:spPr>
      </p:pic>
      <p:sp>
        <p:nvSpPr>
          <p:cNvPr id="20" name="Module title 03"/>
          <p:cNvSpPr txBox="1"/>
          <p:nvPr/>
        </p:nvSpPr>
        <p:spPr>
          <a:xfrm>
            <a:off x="5294376" y="2560320"/>
            <a:ext cx="1600200" cy="685800"/>
          </a:xfrm>
          <a:prstGeom prst="rect">
            <a:avLst/>
          </a:prstGeom>
          <a:noFill/>
          <a:ln/>
        </p:spPr>
        <p:txBody>
          <a:bodyPr wrap="square" lIns="0" tIns="0" rIns="0" bIns="0" rtlCol="0" anchor="t"/>
          <a:lstStyle/>
          <a:p>
            <a:pPr algn="l" indent="0" marL="0">
              <a:buNone/>
            </a:pPr>
            <a:r>
              <a:rPr lang="en-US" sz="1800" b="1" dirty="0">
                <a:solidFill>
                  <a:schemeClr val="tx1"/>
                </a:solidFill>
              </a:rPr>
              <a:t>The algorithms</a:t>
            </a:r>
            <a:endParaRPr lang="en-US" sz="1800" dirty="0"/>
          </a:p>
        </p:txBody>
      </p:sp>
      <p:sp>
        <p:nvSpPr>
          <p:cNvPr id="21" name="Module text 03"/>
          <p:cNvSpPr txBox="1"/>
          <p:nvPr/>
        </p:nvSpPr>
        <p:spPr>
          <a:xfrm>
            <a:off x="5294376" y="3291840"/>
            <a:ext cx="1600200" cy="1234440"/>
          </a:xfrm>
          <a:prstGeom prst="rect">
            <a:avLst/>
          </a:prstGeom>
          <a:noFill/>
          <a:ln/>
        </p:spPr>
        <p:txBody>
          <a:bodyPr wrap="square" lIns="0" tIns="0" rIns="0" bIns="0" rtlCol="0" anchor="t"/>
          <a:lstStyle/>
          <a:p>
            <a:pPr algn="l" indent="0" marL="0">
              <a:buNone/>
            </a:pPr>
            <a:r>
              <a:rPr lang="en-US" sz="1400" dirty="0">
                <a:solidFill>
                  <a:schemeClr val="tx2"/>
                </a:solidFill>
              </a:rPr>
              <a:t>Kinematics, odometry, SLAM, AMCL, costmaps, planning, control, behavior trees</a:t>
            </a:r>
            <a:endParaRPr lang="en-US" sz="1400" dirty="0"/>
          </a:p>
        </p:txBody>
      </p:sp>
      <p:sp>
        <p:nvSpPr>
          <p:cNvPr id="22" name="Module card 04"/>
          <p:cNvSpPr/>
          <p:nvPr/>
        </p:nvSpPr>
        <p:spPr>
          <a:xfrm>
            <a:off x="7324344" y="1463040"/>
            <a:ext cx="2057400" cy="3154680"/>
          </a:xfrm>
          <a:prstGeom prst="roundRect">
            <a:avLst>
              <a:gd name="adj" fmla="val 4444"/>
            </a:avLst>
          </a:prstGeom>
          <a:solidFill>
            <a:schemeClr val="bg2"/>
          </a:solidFill>
          <a:ln w="6350">
            <a:solidFill>
              <a:schemeClr val="bg2"/>
            </a:solidFill>
            <a:prstDash val="solid"/>
          </a:ln>
        </p:spPr>
      </p:sp>
      <p:sp>
        <p:nvSpPr>
          <p:cNvPr id="23" name="Module number 04"/>
          <p:cNvSpPr txBox="1"/>
          <p:nvPr/>
        </p:nvSpPr>
        <p:spPr>
          <a:xfrm>
            <a:off x="7552944" y="1737360"/>
            <a:ext cx="1097280" cy="640080"/>
          </a:xfrm>
          <a:prstGeom prst="rect">
            <a:avLst/>
          </a:prstGeom>
          <a:noFill/>
          <a:ln/>
        </p:spPr>
        <p:txBody>
          <a:bodyPr wrap="square" lIns="0" tIns="0" rIns="0" bIns="0" rtlCol="0" anchor="t"/>
          <a:lstStyle/>
          <a:p>
            <a:pPr algn="l" indent="0" marL="0">
              <a:buNone/>
            </a:pPr>
            <a:r>
              <a:rPr lang="en-US" sz="3600" b="1" dirty="0">
                <a:solidFill>
                  <a:schemeClr val="accent1"/>
                </a:solidFill>
              </a:rPr>
              <a:t>04</a:t>
            </a:r>
            <a:endParaRPr lang="en-US" sz="3600" dirty="0"/>
          </a:p>
        </p:txBody>
      </p:sp>
      <p:sp>
        <p:nvSpPr>
          <p:cNvPr id="24" name="Module icon 04 tile"/>
          <p:cNvSpPr/>
          <p:nvPr/>
        </p:nvSpPr>
        <p:spPr>
          <a:xfrm>
            <a:off x="8513064" y="1737360"/>
            <a:ext cx="640080" cy="640080"/>
          </a:xfrm>
          <a:prstGeom prst="roundRect">
            <a:avLst>
              <a:gd name="adj" fmla="val 20000"/>
            </a:avLst>
          </a:prstGeom>
          <a:solidFill>
            <a:schemeClr val="accent1"/>
          </a:solidFill>
          <a:ln w="6350">
            <a:solidFill>
              <a:schemeClr val="accent1"/>
            </a:solidFill>
            <a:prstDash val="solid"/>
          </a:ln>
        </p:spPr>
      </p:sp>
      <p:pic>
        <p:nvPicPr>
          <p:cNvPr id="25" name="Module icon 04 icon" descr="preencoded.png">    </p:cNvPr>
          <p:cNvPicPr>
            <a:picLocks noChangeAspect="1"/>
          </p:cNvPicPr>
          <p:nvPr/>
        </p:nvPicPr>
        <p:blipFill>
          <a:blip r:embed="rId4"/>
          <a:stretch>
            <a:fillRect/>
          </a:stretch>
        </p:blipFill>
        <p:spPr>
          <a:xfrm>
            <a:off x="8653882" y="1878178"/>
            <a:ext cx="358445" cy="358445"/>
          </a:xfrm>
          <a:prstGeom prst="rect">
            <a:avLst/>
          </a:prstGeom>
        </p:spPr>
      </p:pic>
      <p:sp>
        <p:nvSpPr>
          <p:cNvPr id="26" name="Module title 04"/>
          <p:cNvSpPr txBox="1"/>
          <p:nvPr/>
        </p:nvSpPr>
        <p:spPr>
          <a:xfrm>
            <a:off x="7552944" y="2560320"/>
            <a:ext cx="1600200" cy="685800"/>
          </a:xfrm>
          <a:prstGeom prst="rect">
            <a:avLst/>
          </a:prstGeom>
          <a:noFill/>
          <a:ln/>
        </p:spPr>
        <p:txBody>
          <a:bodyPr wrap="square" lIns="0" tIns="0" rIns="0" bIns="0" rtlCol="0" anchor="t"/>
          <a:lstStyle/>
          <a:p>
            <a:pPr algn="l" indent="0" marL="0">
              <a:buNone/>
            </a:pPr>
            <a:r>
              <a:rPr lang="en-US" sz="1800" b="1" dirty="0">
                <a:solidFill>
                  <a:schemeClr val="tx1"/>
                </a:solidFill>
              </a:rPr>
              <a:t>Simulation → real robot</a:t>
            </a:r>
            <a:endParaRPr lang="en-US" sz="1800" dirty="0"/>
          </a:p>
        </p:txBody>
      </p:sp>
      <p:sp>
        <p:nvSpPr>
          <p:cNvPr id="27" name="Module text 04"/>
          <p:cNvSpPr txBox="1"/>
          <p:nvPr/>
        </p:nvSpPr>
        <p:spPr>
          <a:xfrm>
            <a:off x="7552944" y="3291840"/>
            <a:ext cx="1600200" cy="1234440"/>
          </a:xfrm>
          <a:prstGeom prst="rect">
            <a:avLst/>
          </a:prstGeom>
          <a:noFill/>
          <a:ln/>
        </p:spPr>
        <p:txBody>
          <a:bodyPr wrap="square" lIns="0" tIns="0" rIns="0" bIns="0" rtlCol="0" anchor="t"/>
          <a:lstStyle/>
          <a:p>
            <a:pPr algn="l" indent="0" marL="0">
              <a:buNone/>
            </a:pPr>
            <a:r>
              <a:rPr lang="en-US" sz="1400" dirty="0">
                <a:solidFill>
                  <a:schemeClr val="tx2"/>
                </a:solidFill>
              </a:rPr>
              <a:t>What changes when Gazebo is replaced by an ESP32, motors and an RPLidar</a:t>
            </a:r>
            <a:endParaRPr lang="en-US" sz="1400" dirty="0"/>
          </a:p>
        </p:txBody>
      </p:sp>
      <p:sp>
        <p:nvSpPr>
          <p:cNvPr id="28" name="Module card 05"/>
          <p:cNvSpPr/>
          <p:nvPr/>
        </p:nvSpPr>
        <p:spPr>
          <a:xfrm>
            <a:off x="9582912" y="1463040"/>
            <a:ext cx="2057400" cy="3154680"/>
          </a:xfrm>
          <a:prstGeom prst="roundRect">
            <a:avLst>
              <a:gd name="adj" fmla="val 4444"/>
            </a:avLst>
          </a:prstGeom>
          <a:solidFill>
            <a:schemeClr val="bg2"/>
          </a:solidFill>
          <a:ln w="6350">
            <a:solidFill>
              <a:schemeClr val="bg2"/>
            </a:solidFill>
            <a:prstDash val="solid"/>
          </a:ln>
        </p:spPr>
      </p:sp>
      <p:sp>
        <p:nvSpPr>
          <p:cNvPr id="29" name="Module number 05"/>
          <p:cNvSpPr txBox="1"/>
          <p:nvPr/>
        </p:nvSpPr>
        <p:spPr>
          <a:xfrm>
            <a:off x="9811512" y="1737360"/>
            <a:ext cx="1097280" cy="640080"/>
          </a:xfrm>
          <a:prstGeom prst="rect">
            <a:avLst/>
          </a:prstGeom>
          <a:noFill/>
          <a:ln/>
        </p:spPr>
        <p:txBody>
          <a:bodyPr wrap="square" lIns="0" tIns="0" rIns="0" bIns="0" rtlCol="0" anchor="t"/>
          <a:lstStyle/>
          <a:p>
            <a:pPr algn="l" indent="0" marL="0">
              <a:buNone/>
            </a:pPr>
            <a:r>
              <a:rPr lang="en-US" sz="3600" b="1" dirty="0">
                <a:solidFill>
                  <a:schemeClr val="accent1"/>
                </a:solidFill>
              </a:rPr>
              <a:t>05</a:t>
            </a:r>
            <a:endParaRPr lang="en-US" sz="3600" dirty="0"/>
          </a:p>
        </p:txBody>
      </p:sp>
      <p:sp>
        <p:nvSpPr>
          <p:cNvPr id="30" name="Module icon 05 tile"/>
          <p:cNvSpPr/>
          <p:nvPr/>
        </p:nvSpPr>
        <p:spPr>
          <a:xfrm>
            <a:off x="10771632" y="1737360"/>
            <a:ext cx="640080" cy="640080"/>
          </a:xfrm>
          <a:prstGeom prst="roundRect">
            <a:avLst>
              <a:gd name="adj" fmla="val 20000"/>
            </a:avLst>
          </a:prstGeom>
          <a:solidFill>
            <a:schemeClr val="accent5"/>
          </a:solidFill>
          <a:ln w="6350">
            <a:solidFill>
              <a:schemeClr val="accent5"/>
            </a:solidFill>
            <a:prstDash val="solid"/>
          </a:ln>
        </p:spPr>
      </p:sp>
      <p:pic>
        <p:nvPicPr>
          <p:cNvPr id="31" name="Module icon 05 icon" descr="preencoded.png">    </p:cNvPr>
          <p:cNvPicPr>
            <a:picLocks noChangeAspect="1"/>
          </p:cNvPicPr>
          <p:nvPr/>
        </p:nvPicPr>
        <p:blipFill>
          <a:blip r:embed="rId5"/>
          <a:stretch>
            <a:fillRect/>
          </a:stretch>
        </p:blipFill>
        <p:spPr>
          <a:xfrm>
            <a:off x="10912450" y="1878178"/>
            <a:ext cx="358445" cy="358445"/>
          </a:xfrm>
          <a:prstGeom prst="rect">
            <a:avLst/>
          </a:prstGeom>
        </p:spPr>
      </p:pic>
      <p:sp>
        <p:nvSpPr>
          <p:cNvPr id="32" name="Module title 05"/>
          <p:cNvSpPr txBox="1"/>
          <p:nvPr/>
        </p:nvSpPr>
        <p:spPr>
          <a:xfrm>
            <a:off x="9811512" y="2560320"/>
            <a:ext cx="1600200" cy="685800"/>
          </a:xfrm>
          <a:prstGeom prst="rect">
            <a:avLst/>
          </a:prstGeom>
          <a:noFill/>
          <a:ln/>
        </p:spPr>
        <p:txBody>
          <a:bodyPr wrap="square" lIns="0" tIns="0" rIns="0" bIns="0" rtlCol="0" anchor="t"/>
          <a:lstStyle/>
          <a:p>
            <a:pPr algn="l" indent="0" marL="0">
              <a:buNone/>
            </a:pPr>
            <a:r>
              <a:rPr lang="en-US" sz="1800" b="1" dirty="0">
                <a:solidFill>
                  <a:schemeClr val="tx1"/>
                </a:solidFill>
              </a:rPr>
              <a:t>Hands-on lab</a:t>
            </a:r>
            <a:endParaRPr lang="en-US" sz="1800" dirty="0"/>
          </a:p>
        </p:txBody>
      </p:sp>
      <p:sp>
        <p:nvSpPr>
          <p:cNvPr id="33" name="Module text 05"/>
          <p:cNvSpPr txBox="1"/>
          <p:nvPr/>
        </p:nvSpPr>
        <p:spPr>
          <a:xfrm>
            <a:off x="9811512" y="3291840"/>
            <a:ext cx="1600200" cy="1234440"/>
          </a:xfrm>
          <a:prstGeom prst="rect">
            <a:avLst/>
          </a:prstGeom>
          <a:noFill/>
          <a:ln/>
        </p:spPr>
        <p:txBody>
          <a:bodyPr wrap="square" lIns="0" tIns="0" rIns="0" bIns="0" rtlCol="0" anchor="t"/>
          <a:lstStyle/>
          <a:p>
            <a:pPr algn="l" indent="0" marL="0">
              <a:buNone/>
            </a:pPr>
            <a:r>
              <a:rPr lang="en-US" sz="1400" dirty="0">
                <a:solidFill>
                  <a:schemeClr val="tx2"/>
                </a:solidFill>
              </a:rPr>
              <a:t>Bring-up, calibration, mapping, navigation and the “go to Table 1” web app</a:t>
            </a:r>
            <a:endParaRPr lang="en-US" sz="1400" dirty="0"/>
          </a:p>
        </p:txBody>
      </p:sp>
      <p:sp>
        <p:nvSpPr>
          <p:cNvPr id="34" name="Goal banner"/>
          <p:cNvSpPr/>
          <p:nvPr/>
        </p:nvSpPr>
        <p:spPr>
          <a:xfrm>
            <a:off x="548640" y="4892040"/>
            <a:ext cx="11091672" cy="1188720"/>
          </a:xfrm>
          <a:prstGeom prst="roundRect">
            <a:avLst>
              <a:gd name="adj" fmla="val 7692"/>
            </a:avLst>
          </a:prstGeom>
          <a:solidFill>
            <a:schemeClr val="tx1"/>
          </a:solidFill>
          <a:ln w="6350">
            <a:solidFill>
              <a:schemeClr val="tx1"/>
            </a:solidFill>
            <a:prstDash val="solid"/>
          </a:ln>
        </p:spPr>
      </p:sp>
      <p:sp>
        <p:nvSpPr>
          <p:cNvPr id="35" name="Goal tile"/>
          <p:cNvSpPr/>
          <p:nvPr/>
        </p:nvSpPr>
        <p:spPr>
          <a:xfrm>
            <a:off x="822960" y="5120640"/>
            <a:ext cx="731520" cy="731520"/>
          </a:xfrm>
          <a:prstGeom prst="roundRect">
            <a:avLst>
              <a:gd name="adj" fmla="val 20000"/>
            </a:avLst>
          </a:prstGeom>
          <a:solidFill>
            <a:schemeClr val="accent1"/>
          </a:solidFill>
          <a:ln w="6350">
            <a:solidFill>
              <a:schemeClr val="accent1"/>
            </a:solidFill>
            <a:prstDash val="solid"/>
          </a:ln>
        </p:spPr>
      </p:sp>
      <p:pic>
        <p:nvPicPr>
          <p:cNvPr id="36" name="Goal icon" descr="preencoded.png">    </p:cNvPr>
          <p:cNvPicPr>
            <a:picLocks noChangeAspect="1"/>
          </p:cNvPicPr>
          <p:nvPr/>
        </p:nvPicPr>
        <p:blipFill>
          <a:blip r:embed="rId6"/>
          <a:stretch>
            <a:fillRect/>
          </a:stretch>
        </p:blipFill>
        <p:spPr>
          <a:xfrm>
            <a:off x="983894" y="5281574"/>
            <a:ext cx="409651" cy="409651"/>
          </a:xfrm>
          <a:prstGeom prst="rect">
            <a:avLst/>
          </a:prstGeom>
        </p:spPr>
      </p:pic>
      <p:sp>
        <p:nvSpPr>
          <p:cNvPr id="37" name="Goal text"/>
          <p:cNvSpPr txBox="1"/>
          <p:nvPr/>
        </p:nvSpPr>
        <p:spPr>
          <a:xfrm>
            <a:off x="1828800" y="4937760"/>
            <a:ext cx="9601200" cy="1097280"/>
          </a:xfrm>
          <a:prstGeom prst="rect">
            <a:avLst/>
          </a:prstGeom>
          <a:noFill/>
          <a:ln/>
        </p:spPr>
        <p:txBody>
          <a:bodyPr wrap="square" lIns="0" tIns="0" rIns="0" bIns="0" rtlCol="0" anchor="ctr"/>
          <a:lstStyle/>
          <a:p>
            <a:pPr algn="l" indent="0" marL="0">
              <a:buNone/>
            </a:pPr>
            <a:r>
              <a:rPr lang="en-US" sz="1800" b="1" dirty="0">
                <a:solidFill>
                  <a:schemeClr val="accent1"/>
                </a:solidFill>
              </a:rPr>
              <a:t>Final result: </a:t>
            </a:r>
            <a:pPr algn="l" indent="0" marL="0">
              <a:buNone/>
            </a:pPr>
            <a:r>
              <a:rPr lang="en-US" sz="1800" dirty="0">
                <a:solidFill>
                  <a:schemeClr val="bg1"/>
                </a:solidFill>
              </a:rPr>
              <a:t>a student taps “table1” on a phone, and the real robot plans a path and drives to Table 1 by itself.</a:t>
            </a:r>
            <a:endParaRPr lang="en-US" sz="18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731520" y="1143000"/>
            <a:ext cx="2743200" cy="1280160"/>
          </a:xfrm>
          <a:prstGeom prst="rect">
            <a:avLst/>
          </a:prstGeom>
          <a:noFill/>
          <a:ln/>
        </p:spPr>
        <p:txBody>
          <a:bodyPr wrap="square" lIns="0" tIns="0" rIns="0" bIns="0" rtlCol="0" anchor="b"/>
          <a:lstStyle/>
          <a:p>
            <a:pPr indent="0" marL="0">
              <a:buNone/>
            </a:pPr>
            <a:r>
              <a:rPr lang="en-US" sz="8000" b="1" dirty="0">
                <a:solidFill>
                  <a:schemeClr val="accent1"/>
                </a:solidFill>
              </a:rPr>
              <a:t>01</a:t>
            </a:r>
            <a:endParaRPr lang="en-US" sz="8000" dirty="0"/>
          </a:p>
        </p:txBody>
      </p:sp>
      <p:sp>
        <p:nvSpPr>
          <p:cNvPr id="3" name="Text 0"/>
          <p:cNvSpPr/>
          <p:nvPr>
            <p:ph idx="100" type="title" hasCustomPrompt="1"/>
          </p:nvPr>
        </p:nvSpPr>
        <p:spPr>
          <a:xfrm>
            <a:off x="731520" y="2514600"/>
            <a:ext cx="7680960" cy="1280160"/>
          </a:xfrm>
          <a:prstGeom prst="rect">
            <a:avLst/>
          </a:prstGeom>
          <a:noFill/>
          <a:ln/>
        </p:spPr>
        <p:txBody>
          <a:bodyPr wrap="square" lIns="0" tIns="0" rIns="0" bIns="0" rtlCol="0" anchor="b"/>
          <a:lstStyle/>
          <a:p>
            <a:pPr algn="l" indent="0" marL="0">
              <a:buNone/>
            </a:pPr>
            <a:r>
              <a:rPr lang="en-US" sz="4000" b="1" dirty="0">
                <a:solidFill>
                  <a:schemeClr val="bg1"/>
                </a:solidFill>
              </a:rPr>
              <a:t>The big picture</a:t>
            </a:r>
            <a:endParaRPr lang="en-US" sz="4000" dirty="0"/>
          </a:p>
        </p:txBody>
      </p:sp>
      <p:sp>
        <p:nvSpPr>
          <p:cNvPr id="4" name="Text 0"/>
          <p:cNvSpPr/>
          <p:nvPr>
            <p:ph idx="101" type="body" hasCustomPrompt="1"/>
          </p:nvPr>
        </p:nvSpPr>
        <p:spPr>
          <a:xfrm>
            <a:off x="731520" y="397764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What makes a robot autonomous, and which ready-made packages do the work</a:t>
            </a:r>
            <a:endParaRPr lang="en-US" sz="1800" dirty="0"/>
          </a:p>
        </p:txBody>
      </p:sp>
      <p:sp>
        <p:nvSpPr>
          <p:cNvPr id="5" name="Section icon circle"/>
          <p:cNvSpPr/>
          <p:nvPr/>
        </p:nvSpPr>
        <p:spPr>
          <a:xfrm>
            <a:off x="8823960" y="2057400"/>
            <a:ext cx="2560320" cy="2560320"/>
          </a:xfrm>
          <a:prstGeom prst="ellipse">
            <a:avLst/>
          </a:prstGeom>
          <a:solidFill>
            <a:schemeClr val="accent2"/>
          </a:solidFill>
          <a:ln w="12700">
            <a:solidFill>
              <a:schemeClr val="accent2"/>
            </a:solidFill>
            <a:prstDash val="solid"/>
          </a:ln>
        </p:spPr>
      </p:sp>
      <p:pic>
        <p:nvPicPr>
          <p:cNvPr id="6" name="Section icon" descr="preencoded.png">    </p:cNvPr>
          <p:cNvPicPr>
            <a:picLocks noChangeAspect="1"/>
          </p:cNvPicPr>
          <p:nvPr/>
        </p:nvPicPr>
        <p:blipFill>
          <a:blip r:embed="rId1"/>
          <a:stretch>
            <a:fillRect/>
          </a:stretch>
        </p:blipFill>
        <p:spPr>
          <a:xfrm>
            <a:off x="9464040" y="2697480"/>
            <a:ext cx="1280160" cy="1280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An autonomous robot repeats one loop: sense, localize, plan, act</a:t>
            </a:r>
            <a:endParaRPr lang="en-US" sz="2800" dirty="0"/>
          </a:p>
        </p:txBody>
      </p:sp>
      <p:sp>
        <p:nvSpPr>
          <p:cNvPr id="4" name="Sense card"/>
          <p:cNvSpPr/>
          <p:nvPr/>
        </p:nvSpPr>
        <p:spPr>
          <a:xfrm>
            <a:off x="548640" y="1463040"/>
            <a:ext cx="2468880" cy="3246120"/>
          </a:xfrm>
          <a:prstGeom prst="roundRect">
            <a:avLst>
              <a:gd name="adj" fmla="val 3704"/>
            </a:avLst>
          </a:prstGeom>
          <a:solidFill>
            <a:schemeClr val="bg2"/>
          </a:solidFill>
          <a:ln w="6350">
            <a:solidFill>
              <a:schemeClr val="bg2"/>
            </a:solidFill>
            <a:prstDash val="solid"/>
          </a:ln>
        </p:spPr>
      </p:sp>
      <p:sp>
        <p:nvSpPr>
          <p:cNvPr id="5" name="Sense tile"/>
          <p:cNvSpPr/>
          <p:nvPr/>
        </p:nvSpPr>
        <p:spPr>
          <a:xfrm>
            <a:off x="777240" y="1691640"/>
            <a:ext cx="685800" cy="685800"/>
          </a:xfrm>
          <a:prstGeom prst="roundRect">
            <a:avLst>
              <a:gd name="adj" fmla="val 20000"/>
            </a:avLst>
          </a:prstGeom>
          <a:solidFill>
            <a:schemeClr val="accent3"/>
          </a:solidFill>
          <a:ln w="6350">
            <a:solidFill>
              <a:schemeClr val="accent3"/>
            </a:solidFill>
            <a:prstDash val="solid"/>
          </a:ln>
        </p:spPr>
      </p:sp>
      <p:pic>
        <p:nvPicPr>
          <p:cNvPr id="6" name="Sense icon" descr="preencoded.png">    </p:cNvPr>
          <p:cNvPicPr>
            <a:picLocks noChangeAspect="1"/>
          </p:cNvPicPr>
          <p:nvPr/>
        </p:nvPicPr>
        <p:blipFill>
          <a:blip r:embed="rId1"/>
          <a:stretch>
            <a:fillRect/>
          </a:stretch>
        </p:blipFill>
        <p:spPr>
          <a:xfrm>
            <a:off x="928116" y="1842516"/>
            <a:ext cx="384048" cy="384048"/>
          </a:xfrm>
          <a:prstGeom prst="rect">
            <a:avLst/>
          </a:prstGeom>
        </p:spPr>
      </p:pic>
      <p:sp>
        <p:nvSpPr>
          <p:cNvPr id="7" name="Sense title"/>
          <p:cNvSpPr txBox="1"/>
          <p:nvPr/>
        </p:nvSpPr>
        <p:spPr>
          <a:xfrm>
            <a:off x="777240" y="2514600"/>
            <a:ext cx="2011680" cy="457200"/>
          </a:xfrm>
          <a:prstGeom prst="rect">
            <a:avLst/>
          </a:prstGeom>
          <a:noFill/>
          <a:ln/>
        </p:spPr>
        <p:txBody>
          <a:bodyPr wrap="square" lIns="0" tIns="0" rIns="0" bIns="0" rtlCol="0" anchor="t"/>
          <a:lstStyle/>
          <a:p>
            <a:pPr algn="l" indent="0" marL="0">
              <a:buNone/>
            </a:pPr>
            <a:r>
              <a:rPr lang="en-US" sz="2200" b="1" dirty="0">
                <a:solidFill>
                  <a:schemeClr val="tx1"/>
                </a:solidFill>
              </a:rPr>
              <a:t>Sense</a:t>
            </a:r>
            <a:endParaRPr lang="en-US" sz="2200" dirty="0"/>
          </a:p>
        </p:txBody>
      </p:sp>
      <p:sp>
        <p:nvSpPr>
          <p:cNvPr id="8" name="Sense question"/>
          <p:cNvSpPr txBox="1"/>
          <p:nvPr/>
        </p:nvSpPr>
        <p:spPr>
          <a:xfrm>
            <a:off x="777240" y="3017520"/>
            <a:ext cx="2011680" cy="411480"/>
          </a:xfrm>
          <a:prstGeom prst="rect">
            <a:avLst/>
          </a:prstGeom>
          <a:noFill/>
          <a:ln/>
        </p:spPr>
        <p:txBody>
          <a:bodyPr wrap="square" lIns="0" tIns="0" rIns="0" bIns="0" rtlCol="0" anchor="t"/>
          <a:lstStyle/>
          <a:p>
            <a:pPr algn="l" indent="0" marL="0">
              <a:buNone/>
            </a:pPr>
            <a:r>
              <a:rPr lang="en-US" sz="1500" i="1" dirty="0">
                <a:solidFill>
                  <a:schemeClr val="tx2"/>
                </a:solidFill>
              </a:rPr>
              <a:t>What is around me?</a:t>
            </a:r>
            <a:endParaRPr lang="en-US" sz="1500" dirty="0"/>
          </a:p>
        </p:txBody>
      </p:sp>
      <p:sp>
        <p:nvSpPr>
          <p:cNvPr id="9" name="Sense in our robot"/>
          <p:cNvSpPr txBox="1"/>
          <p:nvPr/>
        </p:nvSpPr>
        <p:spPr>
          <a:xfrm>
            <a:off x="777240" y="3566160"/>
            <a:ext cx="2011680" cy="1005840"/>
          </a:xfrm>
          <a:prstGeom prst="rect">
            <a:avLst/>
          </a:prstGeom>
          <a:noFill/>
          <a:ln/>
        </p:spPr>
        <p:txBody>
          <a:bodyPr wrap="square" lIns="0" tIns="0" rIns="0" bIns="0" rtlCol="0" anchor="t"/>
          <a:lstStyle/>
          <a:p>
            <a:pPr algn="l" indent="0" marL="0">
              <a:buNone/>
            </a:pPr>
            <a:r>
              <a:rPr lang="en-US" sz="1400" dirty="0">
                <a:solidFill>
                  <a:schemeClr val="tx1"/>
                </a:solidFill>
              </a:rPr>
              <a:t>RPLidar distances on /scan and wheel encoder ticks</a:t>
            </a:r>
            <a:endParaRPr lang="en-US" sz="1400" dirty="0"/>
          </a:p>
        </p:txBody>
      </p:sp>
      <p:sp>
        <p:nvSpPr>
          <p:cNvPr id="10" name="Loop arrow 1"/>
          <p:cNvSpPr/>
          <p:nvPr/>
        </p:nvSpPr>
        <p:spPr>
          <a:xfrm>
            <a:off x="3072384" y="3086100"/>
            <a:ext cx="295656" cy="0"/>
          </a:xfrm>
          <a:prstGeom prst="line">
            <a:avLst/>
          </a:prstGeom>
          <a:noFill/>
          <a:ln w="28575">
            <a:solidFill>
              <a:schemeClr val="accent6"/>
            </a:solidFill>
            <a:prstDash val="solid"/>
            <a:tailEnd type="triangle"/>
          </a:ln>
        </p:spPr>
      </p:sp>
      <p:sp>
        <p:nvSpPr>
          <p:cNvPr id="11" name="Localize card"/>
          <p:cNvSpPr/>
          <p:nvPr/>
        </p:nvSpPr>
        <p:spPr>
          <a:xfrm>
            <a:off x="3422904" y="1463040"/>
            <a:ext cx="2468880" cy="3246120"/>
          </a:xfrm>
          <a:prstGeom prst="roundRect">
            <a:avLst>
              <a:gd name="adj" fmla="val 3704"/>
            </a:avLst>
          </a:prstGeom>
          <a:solidFill>
            <a:schemeClr val="bg2"/>
          </a:solidFill>
          <a:ln w="6350">
            <a:solidFill>
              <a:schemeClr val="bg2"/>
            </a:solidFill>
            <a:prstDash val="solid"/>
          </a:ln>
        </p:spPr>
      </p:sp>
      <p:sp>
        <p:nvSpPr>
          <p:cNvPr id="12" name="Localize tile"/>
          <p:cNvSpPr/>
          <p:nvPr/>
        </p:nvSpPr>
        <p:spPr>
          <a:xfrm>
            <a:off x="3651504" y="1691640"/>
            <a:ext cx="685800" cy="685800"/>
          </a:xfrm>
          <a:prstGeom prst="roundRect">
            <a:avLst>
              <a:gd name="adj" fmla="val 20000"/>
            </a:avLst>
          </a:prstGeom>
          <a:solidFill>
            <a:schemeClr val="accent2"/>
          </a:solidFill>
          <a:ln w="6350">
            <a:solidFill>
              <a:schemeClr val="accent2"/>
            </a:solidFill>
            <a:prstDash val="solid"/>
          </a:ln>
        </p:spPr>
      </p:sp>
      <p:pic>
        <p:nvPicPr>
          <p:cNvPr id="13" name="Localize icon" descr="preencoded.png">    </p:cNvPr>
          <p:cNvPicPr>
            <a:picLocks noChangeAspect="1"/>
          </p:cNvPicPr>
          <p:nvPr/>
        </p:nvPicPr>
        <p:blipFill>
          <a:blip r:embed="rId2"/>
          <a:stretch>
            <a:fillRect/>
          </a:stretch>
        </p:blipFill>
        <p:spPr>
          <a:xfrm>
            <a:off x="3802380" y="1842516"/>
            <a:ext cx="384048" cy="384048"/>
          </a:xfrm>
          <a:prstGeom prst="rect">
            <a:avLst/>
          </a:prstGeom>
        </p:spPr>
      </p:pic>
      <p:sp>
        <p:nvSpPr>
          <p:cNvPr id="14" name="Localize title"/>
          <p:cNvSpPr txBox="1"/>
          <p:nvPr/>
        </p:nvSpPr>
        <p:spPr>
          <a:xfrm>
            <a:off x="3651504" y="2514600"/>
            <a:ext cx="2011680" cy="457200"/>
          </a:xfrm>
          <a:prstGeom prst="rect">
            <a:avLst/>
          </a:prstGeom>
          <a:noFill/>
          <a:ln/>
        </p:spPr>
        <p:txBody>
          <a:bodyPr wrap="square" lIns="0" tIns="0" rIns="0" bIns="0" rtlCol="0" anchor="t"/>
          <a:lstStyle/>
          <a:p>
            <a:pPr algn="l" indent="0" marL="0">
              <a:buNone/>
            </a:pPr>
            <a:r>
              <a:rPr lang="en-US" sz="2200" b="1" dirty="0">
                <a:solidFill>
                  <a:schemeClr val="tx1"/>
                </a:solidFill>
              </a:rPr>
              <a:t>Localize</a:t>
            </a:r>
            <a:endParaRPr lang="en-US" sz="2200" dirty="0"/>
          </a:p>
        </p:txBody>
      </p:sp>
      <p:sp>
        <p:nvSpPr>
          <p:cNvPr id="15" name="Localize question"/>
          <p:cNvSpPr txBox="1"/>
          <p:nvPr/>
        </p:nvSpPr>
        <p:spPr>
          <a:xfrm>
            <a:off x="3651504" y="3017520"/>
            <a:ext cx="2011680" cy="411480"/>
          </a:xfrm>
          <a:prstGeom prst="rect">
            <a:avLst/>
          </a:prstGeom>
          <a:noFill/>
          <a:ln/>
        </p:spPr>
        <p:txBody>
          <a:bodyPr wrap="square" lIns="0" tIns="0" rIns="0" bIns="0" rtlCol="0" anchor="t"/>
          <a:lstStyle/>
          <a:p>
            <a:pPr algn="l" indent="0" marL="0">
              <a:buNone/>
            </a:pPr>
            <a:r>
              <a:rPr lang="en-US" sz="1500" i="1" dirty="0">
                <a:solidFill>
                  <a:schemeClr val="tx2"/>
                </a:solidFill>
              </a:rPr>
              <a:t>Where am I on the map?</a:t>
            </a:r>
            <a:endParaRPr lang="en-US" sz="1500" dirty="0"/>
          </a:p>
        </p:txBody>
      </p:sp>
      <p:sp>
        <p:nvSpPr>
          <p:cNvPr id="16" name="Localize in our robot"/>
          <p:cNvSpPr txBox="1"/>
          <p:nvPr/>
        </p:nvSpPr>
        <p:spPr>
          <a:xfrm>
            <a:off x="3651504" y="3566160"/>
            <a:ext cx="2011680" cy="1005840"/>
          </a:xfrm>
          <a:prstGeom prst="rect">
            <a:avLst/>
          </a:prstGeom>
          <a:noFill/>
          <a:ln/>
        </p:spPr>
        <p:txBody>
          <a:bodyPr wrap="square" lIns="0" tIns="0" rIns="0" bIns="0" rtlCol="0" anchor="t"/>
          <a:lstStyle/>
          <a:p>
            <a:pPr algn="l" indent="0" marL="0">
              <a:buNone/>
            </a:pPr>
            <a:r>
              <a:rPr lang="en-US" sz="1400" dirty="0">
                <a:solidFill>
                  <a:schemeClr val="tx1"/>
                </a:solidFill>
              </a:rPr>
              <a:t>slam_toolbox while mapping, AMCL while navigating</a:t>
            </a:r>
            <a:endParaRPr lang="en-US" sz="1400" dirty="0"/>
          </a:p>
        </p:txBody>
      </p:sp>
      <p:sp>
        <p:nvSpPr>
          <p:cNvPr id="17" name="Loop arrow 2"/>
          <p:cNvSpPr/>
          <p:nvPr/>
        </p:nvSpPr>
        <p:spPr>
          <a:xfrm>
            <a:off x="5946648" y="3086100"/>
            <a:ext cx="295656" cy="0"/>
          </a:xfrm>
          <a:prstGeom prst="line">
            <a:avLst/>
          </a:prstGeom>
          <a:noFill/>
          <a:ln w="28575">
            <a:solidFill>
              <a:schemeClr val="accent6"/>
            </a:solidFill>
            <a:prstDash val="solid"/>
            <a:tailEnd type="triangle"/>
          </a:ln>
        </p:spPr>
      </p:sp>
      <p:sp>
        <p:nvSpPr>
          <p:cNvPr id="18" name="Plan card"/>
          <p:cNvSpPr/>
          <p:nvPr/>
        </p:nvSpPr>
        <p:spPr>
          <a:xfrm>
            <a:off x="6297168" y="1463040"/>
            <a:ext cx="2468880" cy="3246120"/>
          </a:xfrm>
          <a:prstGeom prst="roundRect">
            <a:avLst>
              <a:gd name="adj" fmla="val 3704"/>
            </a:avLst>
          </a:prstGeom>
          <a:solidFill>
            <a:schemeClr val="bg2"/>
          </a:solidFill>
          <a:ln w="6350">
            <a:solidFill>
              <a:schemeClr val="bg2"/>
            </a:solidFill>
            <a:prstDash val="solid"/>
          </a:ln>
        </p:spPr>
      </p:sp>
      <p:sp>
        <p:nvSpPr>
          <p:cNvPr id="19" name="Plan tile"/>
          <p:cNvSpPr/>
          <p:nvPr/>
        </p:nvSpPr>
        <p:spPr>
          <a:xfrm>
            <a:off x="6525768" y="1691640"/>
            <a:ext cx="685800" cy="685800"/>
          </a:xfrm>
          <a:prstGeom prst="roundRect">
            <a:avLst>
              <a:gd name="adj" fmla="val 20000"/>
            </a:avLst>
          </a:prstGeom>
          <a:solidFill>
            <a:schemeClr val="accent4"/>
          </a:solidFill>
          <a:ln w="6350">
            <a:solidFill>
              <a:schemeClr val="accent4"/>
            </a:solidFill>
            <a:prstDash val="solid"/>
          </a:ln>
        </p:spPr>
      </p:sp>
      <p:pic>
        <p:nvPicPr>
          <p:cNvPr id="20" name="Plan icon" descr="preencoded.png">    </p:cNvPr>
          <p:cNvPicPr>
            <a:picLocks noChangeAspect="1"/>
          </p:cNvPicPr>
          <p:nvPr/>
        </p:nvPicPr>
        <p:blipFill>
          <a:blip r:embed="rId3"/>
          <a:stretch>
            <a:fillRect/>
          </a:stretch>
        </p:blipFill>
        <p:spPr>
          <a:xfrm>
            <a:off x="6676644" y="1842516"/>
            <a:ext cx="384048" cy="384048"/>
          </a:xfrm>
          <a:prstGeom prst="rect">
            <a:avLst/>
          </a:prstGeom>
        </p:spPr>
      </p:pic>
      <p:sp>
        <p:nvSpPr>
          <p:cNvPr id="21" name="Plan title"/>
          <p:cNvSpPr txBox="1"/>
          <p:nvPr/>
        </p:nvSpPr>
        <p:spPr>
          <a:xfrm>
            <a:off x="6525768" y="2514600"/>
            <a:ext cx="2011680" cy="457200"/>
          </a:xfrm>
          <a:prstGeom prst="rect">
            <a:avLst/>
          </a:prstGeom>
          <a:noFill/>
          <a:ln/>
        </p:spPr>
        <p:txBody>
          <a:bodyPr wrap="square" lIns="0" tIns="0" rIns="0" bIns="0" rtlCol="0" anchor="t"/>
          <a:lstStyle/>
          <a:p>
            <a:pPr algn="l" indent="0" marL="0">
              <a:buNone/>
            </a:pPr>
            <a:r>
              <a:rPr lang="en-US" sz="2200" b="1" dirty="0">
                <a:solidFill>
                  <a:schemeClr val="tx1"/>
                </a:solidFill>
              </a:rPr>
              <a:t>Plan</a:t>
            </a:r>
            <a:endParaRPr lang="en-US" sz="2200" dirty="0"/>
          </a:p>
        </p:txBody>
      </p:sp>
      <p:sp>
        <p:nvSpPr>
          <p:cNvPr id="22" name="Plan question"/>
          <p:cNvSpPr txBox="1"/>
          <p:nvPr/>
        </p:nvSpPr>
        <p:spPr>
          <a:xfrm>
            <a:off x="6525768" y="3017520"/>
            <a:ext cx="2011680" cy="411480"/>
          </a:xfrm>
          <a:prstGeom prst="rect">
            <a:avLst/>
          </a:prstGeom>
          <a:noFill/>
          <a:ln/>
        </p:spPr>
        <p:txBody>
          <a:bodyPr wrap="square" lIns="0" tIns="0" rIns="0" bIns="0" rtlCol="0" anchor="t"/>
          <a:lstStyle/>
          <a:p>
            <a:pPr algn="l" indent="0" marL="0">
              <a:buNone/>
            </a:pPr>
            <a:r>
              <a:rPr lang="en-US" sz="1500" i="1" dirty="0">
                <a:solidFill>
                  <a:schemeClr val="tx2"/>
                </a:solidFill>
              </a:rPr>
              <a:t>Which way to the goal?</a:t>
            </a:r>
            <a:endParaRPr lang="en-US" sz="1500" dirty="0"/>
          </a:p>
        </p:txBody>
      </p:sp>
      <p:sp>
        <p:nvSpPr>
          <p:cNvPr id="23" name="Plan in our robot"/>
          <p:cNvSpPr txBox="1"/>
          <p:nvPr/>
        </p:nvSpPr>
        <p:spPr>
          <a:xfrm>
            <a:off x="6525768" y="3566160"/>
            <a:ext cx="2011680" cy="1005840"/>
          </a:xfrm>
          <a:prstGeom prst="rect">
            <a:avLst/>
          </a:prstGeom>
          <a:noFill/>
          <a:ln/>
        </p:spPr>
        <p:txBody>
          <a:bodyPr wrap="square" lIns="0" tIns="0" rIns="0" bIns="0" rtlCol="0" anchor="t"/>
          <a:lstStyle/>
          <a:p>
            <a:pPr algn="l" indent="0" marL="0">
              <a:buNone/>
            </a:pPr>
            <a:r>
              <a:rPr lang="en-US" sz="1400" dirty="0">
                <a:solidFill>
                  <a:schemeClr val="tx1"/>
                </a:solidFill>
              </a:rPr>
              <a:t>Nav2 planner searches the global costmap</a:t>
            </a:r>
            <a:endParaRPr lang="en-US" sz="1400" dirty="0"/>
          </a:p>
        </p:txBody>
      </p:sp>
      <p:sp>
        <p:nvSpPr>
          <p:cNvPr id="24" name="Loop arrow 3"/>
          <p:cNvSpPr/>
          <p:nvPr/>
        </p:nvSpPr>
        <p:spPr>
          <a:xfrm>
            <a:off x="8820912" y="3086100"/>
            <a:ext cx="295656" cy="0"/>
          </a:xfrm>
          <a:prstGeom prst="line">
            <a:avLst/>
          </a:prstGeom>
          <a:noFill/>
          <a:ln w="28575">
            <a:solidFill>
              <a:schemeClr val="accent6"/>
            </a:solidFill>
            <a:prstDash val="solid"/>
            <a:tailEnd type="triangle"/>
          </a:ln>
        </p:spPr>
      </p:sp>
      <p:sp>
        <p:nvSpPr>
          <p:cNvPr id="25" name="Act card"/>
          <p:cNvSpPr/>
          <p:nvPr/>
        </p:nvSpPr>
        <p:spPr>
          <a:xfrm>
            <a:off x="9171432" y="1463040"/>
            <a:ext cx="2468880" cy="3246120"/>
          </a:xfrm>
          <a:prstGeom prst="roundRect">
            <a:avLst>
              <a:gd name="adj" fmla="val 3704"/>
            </a:avLst>
          </a:prstGeom>
          <a:solidFill>
            <a:schemeClr val="bg2"/>
          </a:solidFill>
          <a:ln w="6350">
            <a:solidFill>
              <a:schemeClr val="bg2"/>
            </a:solidFill>
            <a:prstDash val="solid"/>
          </a:ln>
        </p:spPr>
      </p:sp>
      <p:sp>
        <p:nvSpPr>
          <p:cNvPr id="26" name="Act tile"/>
          <p:cNvSpPr/>
          <p:nvPr/>
        </p:nvSpPr>
        <p:spPr>
          <a:xfrm>
            <a:off x="9400032" y="1691640"/>
            <a:ext cx="685800" cy="685800"/>
          </a:xfrm>
          <a:prstGeom prst="roundRect">
            <a:avLst>
              <a:gd name="adj" fmla="val 20000"/>
            </a:avLst>
          </a:prstGeom>
          <a:solidFill>
            <a:schemeClr val="accent1"/>
          </a:solidFill>
          <a:ln w="6350">
            <a:solidFill>
              <a:schemeClr val="accent1"/>
            </a:solidFill>
            <a:prstDash val="solid"/>
          </a:ln>
        </p:spPr>
      </p:sp>
      <p:pic>
        <p:nvPicPr>
          <p:cNvPr id="27" name="Act icon" descr="preencoded.png">    </p:cNvPr>
          <p:cNvPicPr>
            <a:picLocks noChangeAspect="1"/>
          </p:cNvPicPr>
          <p:nvPr/>
        </p:nvPicPr>
        <p:blipFill>
          <a:blip r:embed="rId4"/>
          <a:stretch>
            <a:fillRect/>
          </a:stretch>
        </p:blipFill>
        <p:spPr>
          <a:xfrm>
            <a:off x="9550908" y="1842516"/>
            <a:ext cx="384048" cy="384048"/>
          </a:xfrm>
          <a:prstGeom prst="rect">
            <a:avLst/>
          </a:prstGeom>
        </p:spPr>
      </p:pic>
      <p:sp>
        <p:nvSpPr>
          <p:cNvPr id="28" name="Act title"/>
          <p:cNvSpPr txBox="1"/>
          <p:nvPr/>
        </p:nvSpPr>
        <p:spPr>
          <a:xfrm>
            <a:off x="9400032" y="2514600"/>
            <a:ext cx="2011680" cy="457200"/>
          </a:xfrm>
          <a:prstGeom prst="rect">
            <a:avLst/>
          </a:prstGeom>
          <a:noFill/>
          <a:ln/>
        </p:spPr>
        <p:txBody>
          <a:bodyPr wrap="square" lIns="0" tIns="0" rIns="0" bIns="0" rtlCol="0" anchor="t"/>
          <a:lstStyle/>
          <a:p>
            <a:pPr algn="l" indent="0" marL="0">
              <a:buNone/>
            </a:pPr>
            <a:r>
              <a:rPr lang="en-US" sz="2200" b="1" dirty="0">
                <a:solidFill>
                  <a:schemeClr val="tx1"/>
                </a:solidFill>
              </a:rPr>
              <a:t>Act</a:t>
            </a:r>
            <a:endParaRPr lang="en-US" sz="2200" dirty="0"/>
          </a:p>
        </p:txBody>
      </p:sp>
      <p:sp>
        <p:nvSpPr>
          <p:cNvPr id="29" name="Act question"/>
          <p:cNvSpPr txBox="1"/>
          <p:nvPr/>
        </p:nvSpPr>
        <p:spPr>
          <a:xfrm>
            <a:off x="9400032" y="3017520"/>
            <a:ext cx="2011680" cy="411480"/>
          </a:xfrm>
          <a:prstGeom prst="rect">
            <a:avLst/>
          </a:prstGeom>
          <a:noFill/>
          <a:ln/>
        </p:spPr>
        <p:txBody>
          <a:bodyPr wrap="square" lIns="0" tIns="0" rIns="0" bIns="0" rtlCol="0" anchor="t"/>
          <a:lstStyle/>
          <a:p>
            <a:pPr algn="l" indent="0" marL="0">
              <a:buNone/>
            </a:pPr>
            <a:r>
              <a:rPr lang="en-US" sz="1500" i="1" dirty="0">
                <a:solidFill>
                  <a:schemeClr val="tx2"/>
                </a:solidFill>
              </a:rPr>
              <a:t>How do the wheels move?</a:t>
            </a:r>
            <a:endParaRPr lang="en-US" sz="1500" dirty="0"/>
          </a:p>
        </p:txBody>
      </p:sp>
      <p:sp>
        <p:nvSpPr>
          <p:cNvPr id="30" name="Act in our robot"/>
          <p:cNvSpPr txBox="1"/>
          <p:nvPr/>
        </p:nvSpPr>
        <p:spPr>
          <a:xfrm>
            <a:off x="9400032" y="3566160"/>
            <a:ext cx="2011680" cy="1005840"/>
          </a:xfrm>
          <a:prstGeom prst="rect">
            <a:avLst/>
          </a:prstGeom>
          <a:noFill/>
          <a:ln/>
        </p:spPr>
        <p:txBody>
          <a:bodyPr wrap="square" lIns="0" tIns="0" rIns="0" bIns="0" rtlCol="0" anchor="t"/>
          <a:lstStyle/>
          <a:p>
            <a:pPr algn="l" indent="0" marL="0">
              <a:buNone/>
            </a:pPr>
            <a:r>
              <a:rPr lang="en-US" sz="1400" dirty="0">
                <a:solidFill>
                  <a:schemeClr val="tx1"/>
                </a:solidFill>
              </a:rPr>
              <a:t>Controller → /cmd_vel → ESP32 → motors</a:t>
            </a:r>
            <a:endParaRPr lang="en-US" sz="1400" dirty="0"/>
          </a:p>
        </p:txBody>
      </p:sp>
      <p:sp>
        <p:nvSpPr>
          <p:cNvPr id="31" name="Loop back 1"/>
          <p:cNvSpPr/>
          <p:nvPr/>
        </p:nvSpPr>
        <p:spPr>
          <a:xfrm>
            <a:off x="10405872" y="4754880"/>
            <a:ext cx="0" cy="365760"/>
          </a:xfrm>
          <a:prstGeom prst="line">
            <a:avLst/>
          </a:prstGeom>
          <a:noFill/>
          <a:ln w="28575">
            <a:solidFill>
              <a:schemeClr val="accent1"/>
            </a:solidFill>
            <a:prstDash val="solid"/>
          </a:ln>
        </p:spPr>
      </p:sp>
      <p:sp>
        <p:nvSpPr>
          <p:cNvPr id="32" name="Loop back 2"/>
          <p:cNvSpPr/>
          <p:nvPr/>
        </p:nvSpPr>
        <p:spPr>
          <a:xfrm flipH="1">
            <a:off x="1783080" y="5120640"/>
            <a:ext cx="8622792" cy="0"/>
          </a:xfrm>
          <a:prstGeom prst="line">
            <a:avLst/>
          </a:prstGeom>
          <a:noFill/>
          <a:ln w="28575">
            <a:solidFill>
              <a:schemeClr val="accent1"/>
            </a:solidFill>
            <a:prstDash val="solid"/>
          </a:ln>
        </p:spPr>
      </p:sp>
      <p:sp>
        <p:nvSpPr>
          <p:cNvPr id="33" name="Loop back 3"/>
          <p:cNvSpPr/>
          <p:nvPr/>
        </p:nvSpPr>
        <p:spPr>
          <a:xfrm flipV="1">
            <a:off x="1783080" y="4754880"/>
            <a:ext cx="0" cy="365760"/>
          </a:xfrm>
          <a:prstGeom prst="line">
            <a:avLst/>
          </a:prstGeom>
          <a:noFill/>
          <a:ln w="28575">
            <a:solidFill>
              <a:schemeClr val="accent1"/>
            </a:solidFill>
            <a:prstDash val="solid"/>
            <a:tailEnd type="triangle"/>
          </a:ln>
        </p:spPr>
      </p:sp>
      <p:sp>
        <p:nvSpPr>
          <p:cNvPr id="34" name="Loop rate"/>
          <p:cNvSpPr txBox="1"/>
          <p:nvPr/>
        </p:nvSpPr>
        <p:spPr>
          <a:xfrm>
            <a:off x="1828800" y="5257800"/>
            <a:ext cx="8503920" cy="365760"/>
          </a:xfrm>
          <a:prstGeom prst="rect">
            <a:avLst/>
          </a:prstGeom>
          <a:noFill/>
          <a:ln/>
        </p:spPr>
        <p:txBody>
          <a:bodyPr wrap="square" lIns="0" tIns="0" rIns="0" bIns="0" rtlCol="0" anchor="t"/>
          <a:lstStyle/>
          <a:p>
            <a:pPr algn="ctr" indent="0" marL="0">
              <a:buNone/>
            </a:pPr>
            <a:r>
              <a:rPr lang="en-US" sz="1500" b="1" dirty="0">
                <a:solidFill>
                  <a:schemeClr val="accent1"/>
                </a:solidFill>
              </a:rPr>
              <a:t>Repeats about 20 times per second (controller_frequency: 20 Hz)</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We reuse a stack of open-source packages and write only the glue</a:t>
            </a:r>
            <a:endParaRPr lang="en-US" sz="2800" dirty="0"/>
          </a:p>
        </p:txBody>
      </p:sp>
      <p:sp>
        <p:nvSpPr>
          <p:cNvPr id="4" name="Application label"/>
          <p:cNvSpPr/>
          <p:nvPr/>
        </p:nvSpPr>
        <p:spPr>
          <a:xfrm>
            <a:off x="548640" y="1417320"/>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Application</a:t>
            </a:r>
            <a:endParaRPr lang="en-US" sz="1500" dirty="0"/>
          </a:p>
        </p:txBody>
      </p:sp>
      <p:sp>
        <p:nvSpPr>
          <p:cNvPr id="5" name="Application packages"/>
          <p:cNvSpPr/>
          <p:nvPr/>
        </p:nvSpPr>
        <p:spPr>
          <a:xfrm>
            <a:off x="3063240" y="1417320"/>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table_nav_web — phone web page: “go to table1”</a:t>
            </a:r>
            <a:endParaRPr lang="en-US" sz="1500" dirty="0"/>
          </a:p>
        </p:txBody>
      </p:sp>
      <p:sp>
        <p:nvSpPr>
          <p:cNvPr id="6" name="Application tag"/>
          <p:cNvSpPr/>
          <p:nvPr/>
        </p:nvSpPr>
        <p:spPr>
          <a:xfrm>
            <a:off x="10012680" y="1417320"/>
            <a:ext cx="1627632" cy="658368"/>
          </a:xfrm>
          <a:prstGeom prst="roundRect">
            <a:avLst>
              <a:gd name="adj" fmla="val 50000"/>
            </a:avLst>
          </a:prstGeom>
          <a:solidFill>
            <a:schemeClr val="accent1"/>
          </a:solidFill>
          <a:ln w="6350">
            <a:solidFill>
              <a:schemeClr val="accent1"/>
            </a:solidFill>
          </a:ln>
        </p:spPr>
        <p:txBody>
          <a:bodyPr wrap="square" lIns="76200" tIns="76200" rIns="76200" bIns="76200" rtlCol="0" anchor="ctr"/>
          <a:lstStyle/>
          <a:p>
            <a:pPr algn="ctr" indent="0" marL="0">
              <a:buNone/>
            </a:pPr>
            <a:r>
              <a:rPr lang="en-US" sz="1300" b="1" dirty="0">
                <a:solidFill>
                  <a:schemeClr val="bg1"/>
                </a:solidFill>
              </a:rPr>
              <a:t>WE WROTE</a:t>
            </a:r>
            <a:endParaRPr lang="en-US" sz="1300" dirty="0"/>
          </a:p>
        </p:txBody>
      </p:sp>
      <p:sp>
        <p:nvSpPr>
          <p:cNvPr id="7" name="Navigation label"/>
          <p:cNvSpPr/>
          <p:nvPr/>
        </p:nvSpPr>
        <p:spPr>
          <a:xfrm>
            <a:off x="548640" y="2203704"/>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Navigation</a:t>
            </a:r>
            <a:endParaRPr lang="en-US" sz="1500" dirty="0"/>
          </a:p>
        </p:txBody>
      </p:sp>
      <p:sp>
        <p:nvSpPr>
          <p:cNvPr id="8" name="Navigation packages"/>
          <p:cNvSpPr/>
          <p:nvPr/>
        </p:nvSpPr>
        <p:spPr>
          <a:xfrm>
            <a:off x="3063240" y="2203704"/>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Nav2 — planner, controller, costmaps, behavior tree, AMCL</a:t>
            </a:r>
            <a:endParaRPr lang="en-US" sz="1500" dirty="0"/>
          </a:p>
        </p:txBody>
      </p:sp>
      <p:sp>
        <p:nvSpPr>
          <p:cNvPr id="9" name="Navigation tag"/>
          <p:cNvSpPr/>
          <p:nvPr/>
        </p:nvSpPr>
        <p:spPr>
          <a:xfrm>
            <a:off x="10012680" y="2203704"/>
            <a:ext cx="1627632" cy="658368"/>
          </a:xfrm>
          <a:prstGeom prst="roundRect">
            <a:avLst>
              <a:gd name="adj" fmla="val 50000"/>
            </a:avLst>
          </a:prstGeom>
          <a:solidFill>
            <a:schemeClr val="accent2"/>
          </a:solidFill>
          <a:ln w="6350">
            <a:solidFill>
              <a:schemeClr val="accent2"/>
            </a:solidFill>
          </a:ln>
        </p:spPr>
        <p:txBody>
          <a:bodyPr wrap="square" lIns="76200" tIns="76200" rIns="76200" bIns="76200" rtlCol="0" anchor="ctr"/>
          <a:lstStyle/>
          <a:p>
            <a:pPr algn="ctr" indent="0" marL="0">
              <a:buNone/>
            </a:pPr>
            <a:r>
              <a:rPr lang="en-US" sz="1300" b="1" dirty="0">
                <a:solidFill>
                  <a:schemeClr val="bg1"/>
                </a:solidFill>
              </a:rPr>
              <a:t>REUSED</a:t>
            </a:r>
            <a:endParaRPr lang="en-US" sz="1300" dirty="0"/>
          </a:p>
        </p:txBody>
      </p:sp>
      <p:sp>
        <p:nvSpPr>
          <p:cNvPr id="10" name="Mapping label"/>
          <p:cNvSpPr/>
          <p:nvPr/>
        </p:nvSpPr>
        <p:spPr>
          <a:xfrm>
            <a:off x="548640" y="2990088"/>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Mapping</a:t>
            </a:r>
            <a:endParaRPr lang="en-US" sz="1500" dirty="0"/>
          </a:p>
        </p:txBody>
      </p:sp>
      <p:sp>
        <p:nvSpPr>
          <p:cNvPr id="11" name="Mapping packages"/>
          <p:cNvSpPr/>
          <p:nvPr/>
        </p:nvSpPr>
        <p:spPr>
          <a:xfrm>
            <a:off x="3063240" y="2990088"/>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slam_toolbox — builds the map from LiDAR scans</a:t>
            </a:r>
            <a:endParaRPr lang="en-US" sz="1500" dirty="0"/>
          </a:p>
        </p:txBody>
      </p:sp>
      <p:sp>
        <p:nvSpPr>
          <p:cNvPr id="12" name="Mapping tag"/>
          <p:cNvSpPr/>
          <p:nvPr/>
        </p:nvSpPr>
        <p:spPr>
          <a:xfrm>
            <a:off x="10012680" y="2990088"/>
            <a:ext cx="1627632" cy="658368"/>
          </a:xfrm>
          <a:prstGeom prst="roundRect">
            <a:avLst>
              <a:gd name="adj" fmla="val 50000"/>
            </a:avLst>
          </a:prstGeom>
          <a:solidFill>
            <a:schemeClr val="accent2"/>
          </a:solidFill>
          <a:ln w="6350">
            <a:solidFill>
              <a:schemeClr val="accent2"/>
            </a:solidFill>
          </a:ln>
        </p:spPr>
        <p:txBody>
          <a:bodyPr wrap="square" lIns="76200" tIns="76200" rIns="76200" bIns="76200" rtlCol="0" anchor="ctr"/>
          <a:lstStyle/>
          <a:p>
            <a:pPr algn="ctr" indent="0" marL="0">
              <a:buNone/>
            </a:pPr>
            <a:r>
              <a:rPr lang="en-US" sz="1300" b="1" dirty="0">
                <a:solidFill>
                  <a:schemeClr val="bg1"/>
                </a:solidFill>
              </a:rPr>
              <a:t>REUSED</a:t>
            </a:r>
            <a:endParaRPr lang="en-US" sz="1300" dirty="0"/>
          </a:p>
        </p:txBody>
      </p:sp>
      <p:sp>
        <p:nvSpPr>
          <p:cNvPr id="13" name="Robot package label"/>
          <p:cNvSpPr/>
          <p:nvPr/>
        </p:nvSpPr>
        <p:spPr>
          <a:xfrm>
            <a:off x="548640" y="3776472"/>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Robot package</a:t>
            </a:r>
            <a:endParaRPr lang="en-US" sz="1500" dirty="0"/>
          </a:p>
        </p:txBody>
      </p:sp>
      <p:sp>
        <p:nvSpPr>
          <p:cNvPr id="14" name="Robot package packages"/>
          <p:cNvSpPr/>
          <p:nvPr/>
        </p:nvSpPr>
        <p:spPr>
          <a:xfrm>
            <a:off x="3063240" y="3776472"/>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bcr_bot — URDF, worlds, launch files, nav2_params.yaml</a:t>
            </a:r>
            <a:endParaRPr lang="en-US" sz="1500" dirty="0"/>
          </a:p>
        </p:txBody>
      </p:sp>
      <p:sp>
        <p:nvSpPr>
          <p:cNvPr id="15" name="Robot package tag"/>
          <p:cNvSpPr/>
          <p:nvPr/>
        </p:nvSpPr>
        <p:spPr>
          <a:xfrm>
            <a:off x="10012680" y="3776472"/>
            <a:ext cx="1627632" cy="658368"/>
          </a:xfrm>
          <a:prstGeom prst="roundRect">
            <a:avLst>
              <a:gd name="adj" fmla="val 50000"/>
            </a:avLst>
          </a:prstGeom>
          <a:solidFill>
            <a:schemeClr val="accent3"/>
          </a:solidFill>
          <a:ln w="6350">
            <a:solidFill>
              <a:schemeClr val="accent3"/>
            </a:solidFill>
          </a:ln>
        </p:spPr>
        <p:txBody>
          <a:bodyPr wrap="square" lIns="76200" tIns="76200" rIns="76200" bIns="76200" rtlCol="0" anchor="ctr"/>
          <a:lstStyle/>
          <a:p>
            <a:pPr algn="ctr" indent="0" marL="0">
              <a:buNone/>
            </a:pPr>
            <a:r>
              <a:rPr lang="en-US" sz="1300" b="1" dirty="0">
                <a:solidFill>
                  <a:schemeClr val="bg1"/>
                </a:solidFill>
              </a:rPr>
              <a:t>MODIFIED</a:t>
            </a:r>
            <a:endParaRPr lang="en-US" sz="1300" dirty="0"/>
          </a:p>
        </p:txBody>
      </p:sp>
      <p:sp>
        <p:nvSpPr>
          <p:cNvPr id="16" name="Drivers &amp;amp; odometry label"/>
          <p:cNvSpPr/>
          <p:nvPr/>
        </p:nvSpPr>
        <p:spPr>
          <a:xfrm>
            <a:off x="548640" y="4562856"/>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Drivers &amp; odometry</a:t>
            </a:r>
            <a:endParaRPr lang="en-US" sz="1500" dirty="0"/>
          </a:p>
        </p:txBody>
      </p:sp>
      <p:sp>
        <p:nvSpPr>
          <p:cNvPr id="17" name="Drivers &amp;amp; odometry packages"/>
          <p:cNvSpPr/>
          <p:nvPr/>
        </p:nvSpPr>
        <p:spPr>
          <a:xfrm>
            <a:off x="3063240" y="4562856"/>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sllidar_ros2 (LiDAR) · esp32_driver (motors + encoders) · rf2o</a:t>
            </a:r>
            <a:endParaRPr lang="en-US" sz="1500" dirty="0"/>
          </a:p>
        </p:txBody>
      </p:sp>
      <p:sp>
        <p:nvSpPr>
          <p:cNvPr id="18" name="Drivers &amp;amp; odometry tag"/>
          <p:cNvSpPr/>
          <p:nvPr/>
        </p:nvSpPr>
        <p:spPr>
          <a:xfrm>
            <a:off x="10012680" y="4562856"/>
            <a:ext cx="1627632" cy="658368"/>
          </a:xfrm>
          <a:prstGeom prst="roundRect">
            <a:avLst>
              <a:gd name="adj" fmla="val 50000"/>
            </a:avLst>
          </a:prstGeom>
          <a:solidFill>
            <a:schemeClr val="accent3"/>
          </a:solidFill>
          <a:ln w="6350">
            <a:solidFill>
              <a:schemeClr val="accent3"/>
            </a:solidFill>
          </a:ln>
        </p:spPr>
        <p:txBody>
          <a:bodyPr wrap="square" lIns="76200" tIns="76200" rIns="76200" bIns="76200" rtlCol="0" anchor="ctr"/>
          <a:lstStyle/>
          <a:p>
            <a:pPr algn="ctr" indent="0" marL="0">
              <a:buNone/>
            </a:pPr>
            <a:r>
              <a:rPr lang="en-US" sz="1300" b="1" dirty="0">
                <a:solidFill>
                  <a:schemeClr val="bg1"/>
                </a:solidFill>
              </a:rPr>
              <a:t>REUSED + OURS</a:t>
            </a:r>
            <a:endParaRPr lang="en-US" sz="1300" dirty="0"/>
          </a:p>
        </p:txBody>
      </p:sp>
      <p:sp>
        <p:nvSpPr>
          <p:cNvPr id="19" name="Hardware label"/>
          <p:cNvSpPr/>
          <p:nvPr/>
        </p:nvSpPr>
        <p:spPr>
          <a:xfrm>
            <a:off x="548640" y="5349240"/>
            <a:ext cx="2377440" cy="658368"/>
          </a:xfrm>
          <a:prstGeom prst="roundRect">
            <a:avLst>
              <a:gd name="adj" fmla="val 11111"/>
            </a:avLst>
          </a:prstGeom>
          <a:solidFill>
            <a:schemeClr val="tx2"/>
          </a:solidFill>
          <a:ln w="6350">
            <a:solidFill>
              <a:schemeClr val="tx2"/>
            </a:solidFill>
          </a:ln>
        </p:spPr>
        <p:txBody>
          <a:bodyPr wrap="square" lIns="76200" tIns="76200" rIns="76200" bIns="76200" rtlCol="0" anchor="ctr"/>
          <a:lstStyle/>
          <a:p>
            <a:pPr algn="ctr" indent="0" marL="0">
              <a:buNone/>
            </a:pPr>
            <a:r>
              <a:rPr lang="en-US" sz="1500" b="1" dirty="0">
                <a:solidFill>
                  <a:schemeClr val="bg1"/>
                </a:solidFill>
              </a:rPr>
              <a:t>Hardware</a:t>
            </a:r>
            <a:endParaRPr lang="en-US" sz="1500" dirty="0"/>
          </a:p>
        </p:txBody>
      </p:sp>
      <p:sp>
        <p:nvSpPr>
          <p:cNvPr id="20" name="Hardware packages"/>
          <p:cNvSpPr/>
          <p:nvPr/>
        </p:nvSpPr>
        <p:spPr>
          <a:xfrm>
            <a:off x="3063240" y="5349240"/>
            <a:ext cx="6812280" cy="658368"/>
          </a:xfrm>
          <a:prstGeom prst="roundRect">
            <a:avLst>
              <a:gd name="adj" fmla="val 11111"/>
            </a:avLst>
          </a:prstGeom>
          <a:solidFill>
            <a:schemeClr val="bg2"/>
          </a:solidFill>
          <a:ln w="6350">
            <a:solidFill>
              <a:schemeClr val="bg2"/>
            </a:solidFill>
          </a:ln>
        </p:spPr>
        <p:txBody>
          <a:bodyPr wrap="square" lIns="152400" tIns="152400" rIns="152400" bIns="152400" rtlCol="0" anchor="ctr"/>
          <a:lstStyle/>
          <a:p>
            <a:pPr algn="l" indent="0" marL="0">
              <a:buNone/>
            </a:pPr>
            <a:r>
              <a:rPr lang="en-US" sz="1500" dirty="0">
                <a:solidFill>
                  <a:schemeClr val="tx1"/>
                </a:solidFill>
              </a:rPr>
              <a:t>ESP32 · MDD10A motor driver · 2 DC gear motors + encoders · RPLidar A1</a:t>
            </a:r>
            <a:endParaRPr lang="en-US" sz="1500" dirty="0"/>
          </a:p>
        </p:txBody>
      </p:sp>
      <p:sp>
        <p:nvSpPr>
          <p:cNvPr id="21" name="Hardware tag"/>
          <p:cNvSpPr/>
          <p:nvPr/>
        </p:nvSpPr>
        <p:spPr>
          <a:xfrm>
            <a:off x="10012680" y="5349240"/>
            <a:ext cx="1627632" cy="658368"/>
          </a:xfrm>
          <a:prstGeom prst="roundRect">
            <a:avLst>
              <a:gd name="adj" fmla="val 50000"/>
            </a:avLst>
          </a:prstGeom>
          <a:solidFill>
            <a:schemeClr val="accent6"/>
          </a:solidFill>
          <a:ln w="6350">
            <a:solidFill>
              <a:schemeClr val="accent6"/>
            </a:solidFill>
          </a:ln>
        </p:spPr>
        <p:txBody>
          <a:bodyPr wrap="square" lIns="76200" tIns="76200" rIns="76200" bIns="76200" rtlCol="0" anchor="ctr"/>
          <a:lstStyle/>
          <a:p>
            <a:pPr algn="ctr" indent="0" marL="0">
              <a:buNone/>
            </a:pPr>
            <a:r>
              <a:rPr lang="en-US" sz="1300" b="1" dirty="0">
                <a:solidFill>
                  <a:schemeClr val="bg1"/>
                </a:solidFill>
              </a:rPr>
              <a:t>BUILT</a:t>
            </a:r>
            <a:endParaRPr lang="en-US" sz="13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Eight ROS 2 ideas you need before touching Nav2</a:t>
            </a:r>
            <a:endParaRPr lang="en-US" sz="2800" dirty="0"/>
          </a:p>
        </p:txBody>
      </p:sp>
      <p:sp>
        <p:nvSpPr>
          <p:cNvPr id="4" name="Node card"/>
          <p:cNvSpPr/>
          <p:nvPr/>
        </p:nvSpPr>
        <p:spPr>
          <a:xfrm>
            <a:off x="548640" y="1417320"/>
            <a:ext cx="2651760" cy="2240280"/>
          </a:xfrm>
          <a:prstGeom prst="roundRect">
            <a:avLst>
              <a:gd name="adj" fmla="val 4082"/>
            </a:avLst>
          </a:prstGeom>
          <a:solidFill>
            <a:schemeClr val="bg2"/>
          </a:solidFill>
          <a:ln w="6350">
            <a:solidFill>
              <a:schemeClr val="bg2"/>
            </a:solidFill>
            <a:prstDash val="solid"/>
          </a:ln>
        </p:spPr>
      </p:sp>
      <p:sp>
        <p:nvSpPr>
          <p:cNvPr id="5" name="Node tile"/>
          <p:cNvSpPr/>
          <p:nvPr/>
        </p:nvSpPr>
        <p:spPr>
          <a:xfrm>
            <a:off x="749808" y="1618488"/>
            <a:ext cx="502920" cy="502920"/>
          </a:xfrm>
          <a:prstGeom prst="roundRect">
            <a:avLst>
              <a:gd name="adj" fmla="val 20000"/>
            </a:avLst>
          </a:prstGeom>
          <a:solidFill>
            <a:schemeClr val="accent3"/>
          </a:solidFill>
          <a:ln w="6350">
            <a:solidFill>
              <a:schemeClr val="accent3"/>
            </a:solidFill>
            <a:prstDash val="solid"/>
          </a:ln>
        </p:spPr>
      </p:sp>
      <p:pic>
        <p:nvPicPr>
          <p:cNvPr id="6" name="Node icon" descr="preencoded.png">    </p:cNvPr>
          <p:cNvPicPr>
            <a:picLocks noChangeAspect="1"/>
          </p:cNvPicPr>
          <p:nvPr/>
        </p:nvPicPr>
        <p:blipFill>
          <a:blip r:embed="rId1"/>
          <a:stretch>
            <a:fillRect/>
          </a:stretch>
        </p:blipFill>
        <p:spPr>
          <a:xfrm>
            <a:off x="860450" y="1729130"/>
            <a:ext cx="281635" cy="281635"/>
          </a:xfrm>
          <a:prstGeom prst="rect">
            <a:avLst/>
          </a:prstGeom>
        </p:spPr>
      </p:pic>
      <p:sp>
        <p:nvSpPr>
          <p:cNvPr id="7" name="Node title"/>
          <p:cNvSpPr txBox="1"/>
          <p:nvPr/>
        </p:nvSpPr>
        <p:spPr>
          <a:xfrm>
            <a:off x="1389888" y="161848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Node</a:t>
            </a:r>
            <a:endParaRPr lang="en-US" sz="1700" dirty="0"/>
          </a:p>
        </p:txBody>
      </p:sp>
      <p:sp>
        <p:nvSpPr>
          <p:cNvPr id="8" name="Node text"/>
          <p:cNvSpPr txBox="1"/>
          <p:nvPr/>
        </p:nvSpPr>
        <p:spPr>
          <a:xfrm>
            <a:off x="749808" y="228600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A running program with one job</a:t>
            </a:r>
            <a:endParaRPr lang="en-US" sz="1400" dirty="0"/>
          </a:p>
        </p:txBody>
      </p:sp>
      <p:sp>
        <p:nvSpPr>
          <p:cNvPr id="9" name="Node example"/>
          <p:cNvSpPr txBox="1"/>
          <p:nvPr/>
        </p:nvSpPr>
        <p:spPr>
          <a:xfrm>
            <a:off x="749808" y="301752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esp32_driver</a:t>
            </a:r>
            <a:endParaRPr lang="en-US" sz="1200" dirty="0"/>
          </a:p>
          <a:p>
            <a:pPr algn="l" indent="0" marL="0">
              <a:buNone/>
            </a:pPr>
            <a:r>
              <a:rPr lang="en-US" sz="1200" b="1" dirty="0">
                <a:solidFill>
                  <a:schemeClr val="accent2"/>
                </a:solidFill>
                <a:latin typeface="Courier New" pitchFamily="34" charset="0"/>
                <a:ea typeface="Courier New" pitchFamily="34" charset="-122"/>
                <a:cs typeface="Courier New" pitchFamily="34" charset="-120"/>
              </a:rPr>
              <a:t>sllidar_node</a:t>
            </a:r>
            <a:endParaRPr lang="en-US" sz="1200" dirty="0"/>
          </a:p>
        </p:txBody>
      </p:sp>
      <p:sp>
        <p:nvSpPr>
          <p:cNvPr id="10" name="Topic card"/>
          <p:cNvSpPr/>
          <p:nvPr/>
        </p:nvSpPr>
        <p:spPr>
          <a:xfrm>
            <a:off x="3361944" y="1417320"/>
            <a:ext cx="2651760" cy="2240280"/>
          </a:xfrm>
          <a:prstGeom prst="roundRect">
            <a:avLst>
              <a:gd name="adj" fmla="val 4082"/>
            </a:avLst>
          </a:prstGeom>
          <a:solidFill>
            <a:schemeClr val="bg2"/>
          </a:solidFill>
          <a:ln w="6350">
            <a:solidFill>
              <a:schemeClr val="bg2"/>
            </a:solidFill>
            <a:prstDash val="solid"/>
          </a:ln>
        </p:spPr>
      </p:sp>
      <p:sp>
        <p:nvSpPr>
          <p:cNvPr id="11" name="Topic tile"/>
          <p:cNvSpPr/>
          <p:nvPr/>
        </p:nvSpPr>
        <p:spPr>
          <a:xfrm>
            <a:off x="3563112" y="1618488"/>
            <a:ext cx="502920" cy="502920"/>
          </a:xfrm>
          <a:prstGeom prst="roundRect">
            <a:avLst>
              <a:gd name="adj" fmla="val 20000"/>
            </a:avLst>
          </a:prstGeom>
          <a:solidFill>
            <a:schemeClr val="accent3"/>
          </a:solidFill>
          <a:ln w="6350">
            <a:solidFill>
              <a:schemeClr val="accent3"/>
            </a:solidFill>
            <a:prstDash val="solid"/>
          </a:ln>
        </p:spPr>
      </p:sp>
      <p:pic>
        <p:nvPicPr>
          <p:cNvPr id="12" name="Topic icon" descr="preencoded.png">    </p:cNvPr>
          <p:cNvPicPr>
            <a:picLocks noChangeAspect="1"/>
          </p:cNvPicPr>
          <p:nvPr/>
        </p:nvPicPr>
        <p:blipFill>
          <a:blip r:embed="rId2"/>
          <a:stretch>
            <a:fillRect/>
          </a:stretch>
        </p:blipFill>
        <p:spPr>
          <a:xfrm>
            <a:off x="3673754" y="1729130"/>
            <a:ext cx="281635" cy="281635"/>
          </a:xfrm>
          <a:prstGeom prst="rect">
            <a:avLst/>
          </a:prstGeom>
        </p:spPr>
      </p:pic>
      <p:sp>
        <p:nvSpPr>
          <p:cNvPr id="13" name="Topic title"/>
          <p:cNvSpPr txBox="1"/>
          <p:nvPr/>
        </p:nvSpPr>
        <p:spPr>
          <a:xfrm>
            <a:off x="4203192" y="161848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Topic</a:t>
            </a:r>
            <a:endParaRPr lang="en-US" sz="1700" dirty="0"/>
          </a:p>
        </p:txBody>
      </p:sp>
      <p:sp>
        <p:nvSpPr>
          <p:cNvPr id="14" name="Topic text"/>
          <p:cNvSpPr txBox="1"/>
          <p:nvPr/>
        </p:nvSpPr>
        <p:spPr>
          <a:xfrm>
            <a:off x="3563112" y="228600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Stream of messages: publish / subscribe</a:t>
            </a:r>
            <a:endParaRPr lang="en-US" sz="1400" dirty="0"/>
          </a:p>
        </p:txBody>
      </p:sp>
      <p:sp>
        <p:nvSpPr>
          <p:cNvPr id="15" name="Topic example"/>
          <p:cNvSpPr txBox="1"/>
          <p:nvPr/>
        </p:nvSpPr>
        <p:spPr>
          <a:xfrm>
            <a:off x="3563112" y="301752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/scan  /odom  /cmd_vel</a:t>
            </a:r>
            <a:endParaRPr lang="en-US" sz="1200" dirty="0"/>
          </a:p>
        </p:txBody>
      </p:sp>
      <p:sp>
        <p:nvSpPr>
          <p:cNvPr id="16" name="Service card"/>
          <p:cNvSpPr/>
          <p:nvPr/>
        </p:nvSpPr>
        <p:spPr>
          <a:xfrm>
            <a:off x="6175248" y="1417320"/>
            <a:ext cx="2651760" cy="2240280"/>
          </a:xfrm>
          <a:prstGeom prst="roundRect">
            <a:avLst>
              <a:gd name="adj" fmla="val 4082"/>
            </a:avLst>
          </a:prstGeom>
          <a:solidFill>
            <a:schemeClr val="bg2"/>
          </a:solidFill>
          <a:ln w="6350">
            <a:solidFill>
              <a:schemeClr val="bg2"/>
            </a:solidFill>
            <a:prstDash val="solid"/>
          </a:ln>
        </p:spPr>
      </p:sp>
      <p:sp>
        <p:nvSpPr>
          <p:cNvPr id="17" name="Service tile"/>
          <p:cNvSpPr/>
          <p:nvPr/>
        </p:nvSpPr>
        <p:spPr>
          <a:xfrm>
            <a:off x="6376416" y="1618488"/>
            <a:ext cx="502920" cy="502920"/>
          </a:xfrm>
          <a:prstGeom prst="roundRect">
            <a:avLst>
              <a:gd name="adj" fmla="val 20000"/>
            </a:avLst>
          </a:prstGeom>
          <a:solidFill>
            <a:schemeClr val="accent3"/>
          </a:solidFill>
          <a:ln w="6350">
            <a:solidFill>
              <a:schemeClr val="accent3"/>
            </a:solidFill>
            <a:prstDash val="solid"/>
          </a:ln>
        </p:spPr>
      </p:sp>
      <p:pic>
        <p:nvPicPr>
          <p:cNvPr id="18" name="Service icon" descr="preencoded.png">    </p:cNvPr>
          <p:cNvPicPr>
            <a:picLocks noChangeAspect="1"/>
          </p:cNvPicPr>
          <p:nvPr/>
        </p:nvPicPr>
        <p:blipFill>
          <a:blip r:embed="rId3"/>
          <a:stretch>
            <a:fillRect/>
          </a:stretch>
        </p:blipFill>
        <p:spPr>
          <a:xfrm>
            <a:off x="6487058" y="1729130"/>
            <a:ext cx="281635" cy="281635"/>
          </a:xfrm>
          <a:prstGeom prst="rect">
            <a:avLst/>
          </a:prstGeom>
        </p:spPr>
      </p:pic>
      <p:sp>
        <p:nvSpPr>
          <p:cNvPr id="19" name="Service title"/>
          <p:cNvSpPr txBox="1"/>
          <p:nvPr/>
        </p:nvSpPr>
        <p:spPr>
          <a:xfrm>
            <a:off x="7016496" y="161848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Service</a:t>
            </a:r>
            <a:endParaRPr lang="en-US" sz="1700" dirty="0"/>
          </a:p>
        </p:txBody>
      </p:sp>
      <p:sp>
        <p:nvSpPr>
          <p:cNvPr id="20" name="Service text"/>
          <p:cNvSpPr txBox="1"/>
          <p:nvPr/>
        </p:nvSpPr>
        <p:spPr>
          <a:xfrm>
            <a:off x="6376416" y="228600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Request → one reply</a:t>
            </a:r>
            <a:endParaRPr lang="en-US" sz="1400" dirty="0"/>
          </a:p>
        </p:txBody>
      </p:sp>
      <p:sp>
        <p:nvSpPr>
          <p:cNvPr id="21" name="Service example"/>
          <p:cNvSpPr txBox="1"/>
          <p:nvPr/>
        </p:nvSpPr>
        <p:spPr>
          <a:xfrm>
            <a:off x="6376416" y="301752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/map_server/load_map</a:t>
            </a:r>
            <a:endParaRPr lang="en-US" sz="1200" dirty="0"/>
          </a:p>
        </p:txBody>
      </p:sp>
      <p:sp>
        <p:nvSpPr>
          <p:cNvPr id="22" name="Action card"/>
          <p:cNvSpPr/>
          <p:nvPr/>
        </p:nvSpPr>
        <p:spPr>
          <a:xfrm>
            <a:off x="8988552" y="1417320"/>
            <a:ext cx="2651760" cy="2240280"/>
          </a:xfrm>
          <a:prstGeom prst="roundRect">
            <a:avLst>
              <a:gd name="adj" fmla="val 4082"/>
            </a:avLst>
          </a:prstGeom>
          <a:solidFill>
            <a:schemeClr val="bg2"/>
          </a:solidFill>
          <a:ln w="6350">
            <a:solidFill>
              <a:schemeClr val="bg2"/>
            </a:solidFill>
            <a:prstDash val="solid"/>
          </a:ln>
        </p:spPr>
      </p:sp>
      <p:sp>
        <p:nvSpPr>
          <p:cNvPr id="23" name="Action tile"/>
          <p:cNvSpPr/>
          <p:nvPr/>
        </p:nvSpPr>
        <p:spPr>
          <a:xfrm>
            <a:off x="9189720" y="1618488"/>
            <a:ext cx="502920" cy="502920"/>
          </a:xfrm>
          <a:prstGeom prst="roundRect">
            <a:avLst>
              <a:gd name="adj" fmla="val 20000"/>
            </a:avLst>
          </a:prstGeom>
          <a:solidFill>
            <a:schemeClr val="accent3"/>
          </a:solidFill>
          <a:ln w="6350">
            <a:solidFill>
              <a:schemeClr val="accent3"/>
            </a:solidFill>
            <a:prstDash val="solid"/>
          </a:ln>
        </p:spPr>
      </p:sp>
      <p:pic>
        <p:nvPicPr>
          <p:cNvPr id="24" name="Action icon" descr="preencoded.png">    </p:cNvPr>
          <p:cNvPicPr>
            <a:picLocks noChangeAspect="1"/>
          </p:cNvPicPr>
          <p:nvPr/>
        </p:nvPicPr>
        <p:blipFill>
          <a:blip r:embed="rId4"/>
          <a:stretch>
            <a:fillRect/>
          </a:stretch>
        </p:blipFill>
        <p:spPr>
          <a:xfrm>
            <a:off x="9300362" y="1729130"/>
            <a:ext cx="281635" cy="281635"/>
          </a:xfrm>
          <a:prstGeom prst="rect">
            <a:avLst/>
          </a:prstGeom>
        </p:spPr>
      </p:pic>
      <p:sp>
        <p:nvSpPr>
          <p:cNvPr id="25" name="Action title"/>
          <p:cNvSpPr txBox="1"/>
          <p:nvPr/>
        </p:nvSpPr>
        <p:spPr>
          <a:xfrm>
            <a:off x="9829800" y="161848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Action</a:t>
            </a:r>
            <a:endParaRPr lang="en-US" sz="1700" dirty="0"/>
          </a:p>
        </p:txBody>
      </p:sp>
      <p:sp>
        <p:nvSpPr>
          <p:cNvPr id="26" name="Action text"/>
          <p:cNvSpPr txBox="1"/>
          <p:nvPr/>
        </p:nvSpPr>
        <p:spPr>
          <a:xfrm>
            <a:off x="9189720" y="228600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Long task with feedback and cancel</a:t>
            </a:r>
            <a:endParaRPr lang="en-US" sz="1400" dirty="0"/>
          </a:p>
        </p:txBody>
      </p:sp>
      <p:sp>
        <p:nvSpPr>
          <p:cNvPr id="27" name="Action example"/>
          <p:cNvSpPr txBox="1"/>
          <p:nvPr/>
        </p:nvSpPr>
        <p:spPr>
          <a:xfrm>
            <a:off x="9189720" y="301752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navigate_to_pose</a:t>
            </a:r>
            <a:endParaRPr lang="en-US" sz="1200" dirty="0"/>
          </a:p>
        </p:txBody>
      </p:sp>
      <p:sp>
        <p:nvSpPr>
          <p:cNvPr id="28" name="Parameter card"/>
          <p:cNvSpPr/>
          <p:nvPr/>
        </p:nvSpPr>
        <p:spPr>
          <a:xfrm>
            <a:off x="548640" y="3840480"/>
            <a:ext cx="2651760" cy="2240280"/>
          </a:xfrm>
          <a:prstGeom prst="roundRect">
            <a:avLst>
              <a:gd name="adj" fmla="val 4082"/>
            </a:avLst>
          </a:prstGeom>
          <a:solidFill>
            <a:schemeClr val="bg2"/>
          </a:solidFill>
          <a:ln w="6350">
            <a:solidFill>
              <a:schemeClr val="bg2"/>
            </a:solidFill>
            <a:prstDash val="solid"/>
          </a:ln>
        </p:spPr>
      </p:sp>
      <p:sp>
        <p:nvSpPr>
          <p:cNvPr id="29" name="Parameter tile"/>
          <p:cNvSpPr/>
          <p:nvPr/>
        </p:nvSpPr>
        <p:spPr>
          <a:xfrm>
            <a:off x="749808" y="4041648"/>
            <a:ext cx="502920" cy="502920"/>
          </a:xfrm>
          <a:prstGeom prst="roundRect">
            <a:avLst>
              <a:gd name="adj" fmla="val 20000"/>
            </a:avLst>
          </a:prstGeom>
          <a:solidFill>
            <a:schemeClr val="accent3"/>
          </a:solidFill>
          <a:ln w="6350">
            <a:solidFill>
              <a:schemeClr val="accent3"/>
            </a:solidFill>
            <a:prstDash val="solid"/>
          </a:ln>
        </p:spPr>
      </p:sp>
      <p:pic>
        <p:nvPicPr>
          <p:cNvPr id="30" name="Parameter icon" descr="preencoded.png">    </p:cNvPr>
          <p:cNvPicPr>
            <a:picLocks noChangeAspect="1"/>
          </p:cNvPicPr>
          <p:nvPr/>
        </p:nvPicPr>
        <p:blipFill>
          <a:blip r:embed="rId5"/>
          <a:stretch>
            <a:fillRect/>
          </a:stretch>
        </p:blipFill>
        <p:spPr>
          <a:xfrm>
            <a:off x="860450" y="4152290"/>
            <a:ext cx="281635" cy="281635"/>
          </a:xfrm>
          <a:prstGeom prst="rect">
            <a:avLst/>
          </a:prstGeom>
        </p:spPr>
      </p:pic>
      <p:sp>
        <p:nvSpPr>
          <p:cNvPr id="31" name="Parameter title"/>
          <p:cNvSpPr txBox="1"/>
          <p:nvPr/>
        </p:nvSpPr>
        <p:spPr>
          <a:xfrm>
            <a:off x="1389888" y="404164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Parameter</a:t>
            </a:r>
            <a:endParaRPr lang="en-US" sz="1700" dirty="0"/>
          </a:p>
        </p:txBody>
      </p:sp>
      <p:sp>
        <p:nvSpPr>
          <p:cNvPr id="32" name="Parameter text"/>
          <p:cNvSpPr txBox="1"/>
          <p:nvPr/>
        </p:nvSpPr>
        <p:spPr>
          <a:xfrm>
            <a:off x="749808" y="470916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A setting of a node, loaded from YAML</a:t>
            </a:r>
            <a:endParaRPr lang="en-US" sz="1400" dirty="0"/>
          </a:p>
        </p:txBody>
      </p:sp>
      <p:sp>
        <p:nvSpPr>
          <p:cNvPr id="33" name="Parameter example"/>
          <p:cNvSpPr txBox="1"/>
          <p:nvPr/>
        </p:nvSpPr>
        <p:spPr>
          <a:xfrm>
            <a:off x="749808" y="544068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desired_linear_vel: 0.18</a:t>
            </a:r>
            <a:endParaRPr lang="en-US" sz="1200" dirty="0"/>
          </a:p>
        </p:txBody>
      </p:sp>
      <p:sp>
        <p:nvSpPr>
          <p:cNvPr id="34" name="Launch file card"/>
          <p:cNvSpPr/>
          <p:nvPr/>
        </p:nvSpPr>
        <p:spPr>
          <a:xfrm>
            <a:off x="3361944" y="3840480"/>
            <a:ext cx="2651760" cy="2240280"/>
          </a:xfrm>
          <a:prstGeom prst="roundRect">
            <a:avLst>
              <a:gd name="adj" fmla="val 4082"/>
            </a:avLst>
          </a:prstGeom>
          <a:solidFill>
            <a:schemeClr val="bg2"/>
          </a:solidFill>
          <a:ln w="6350">
            <a:solidFill>
              <a:schemeClr val="bg2"/>
            </a:solidFill>
            <a:prstDash val="solid"/>
          </a:ln>
        </p:spPr>
      </p:sp>
      <p:sp>
        <p:nvSpPr>
          <p:cNvPr id="35" name="Launch file tile"/>
          <p:cNvSpPr/>
          <p:nvPr/>
        </p:nvSpPr>
        <p:spPr>
          <a:xfrm>
            <a:off x="3563112" y="4041648"/>
            <a:ext cx="502920" cy="502920"/>
          </a:xfrm>
          <a:prstGeom prst="roundRect">
            <a:avLst>
              <a:gd name="adj" fmla="val 20000"/>
            </a:avLst>
          </a:prstGeom>
          <a:solidFill>
            <a:schemeClr val="accent3"/>
          </a:solidFill>
          <a:ln w="6350">
            <a:solidFill>
              <a:schemeClr val="accent3"/>
            </a:solidFill>
            <a:prstDash val="solid"/>
          </a:ln>
        </p:spPr>
      </p:sp>
      <p:pic>
        <p:nvPicPr>
          <p:cNvPr id="36" name="Launch file icon" descr="preencoded.png">    </p:cNvPr>
          <p:cNvPicPr>
            <a:picLocks noChangeAspect="1"/>
          </p:cNvPicPr>
          <p:nvPr/>
        </p:nvPicPr>
        <p:blipFill>
          <a:blip r:embed="rId6"/>
          <a:stretch>
            <a:fillRect/>
          </a:stretch>
        </p:blipFill>
        <p:spPr>
          <a:xfrm>
            <a:off x="3673754" y="4152290"/>
            <a:ext cx="281635" cy="281635"/>
          </a:xfrm>
          <a:prstGeom prst="rect">
            <a:avLst/>
          </a:prstGeom>
        </p:spPr>
      </p:pic>
      <p:sp>
        <p:nvSpPr>
          <p:cNvPr id="37" name="Launch file title"/>
          <p:cNvSpPr txBox="1"/>
          <p:nvPr/>
        </p:nvSpPr>
        <p:spPr>
          <a:xfrm>
            <a:off x="4203192" y="404164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Launch file</a:t>
            </a:r>
            <a:endParaRPr lang="en-US" sz="1700" dirty="0"/>
          </a:p>
        </p:txBody>
      </p:sp>
      <p:sp>
        <p:nvSpPr>
          <p:cNvPr id="38" name="Launch file text"/>
          <p:cNvSpPr txBox="1"/>
          <p:nvPr/>
        </p:nvSpPr>
        <p:spPr>
          <a:xfrm>
            <a:off x="3563112" y="470916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Python script that starts many nodes</a:t>
            </a:r>
            <a:endParaRPr lang="en-US" sz="1400" dirty="0"/>
          </a:p>
        </p:txBody>
      </p:sp>
      <p:sp>
        <p:nvSpPr>
          <p:cNvPr id="39" name="Launch file example"/>
          <p:cNvSpPr txBox="1"/>
          <p:nvPr/>
        </p:nvSpPr>
        <p:spPr>
          <a:xfrm>
            <a:off x="3563112" y="544068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nav2.launch.py</a:t>
            </a:r>
            <a:endParaRPr lang="en-US" sz="1200" dirty="0"/>
          </a:p>
        </p:txBody>
      </p:sp>
      <p:sp>
        <p:nvSpPr>
          <p:cNvPr id="40" name="TF card"/>
          <p:cNvSpPr/>
          <p:nvPr/>
        </p:nvSpPr>
        <p:spPr>
          <a:xfrm>
            <a:off x="6175248" y="3840480"/>
            <a:ext cx="2651760" cy="2240280"/>
          </a:xfrm>
          <a:prstGeom prst="roundRect">
            <a:avLst>
              <a:gd name="adj" fmla="val 4082"/>
            </a:avLst>
          </a:prstGeom>
          <a:solidFill>
            <a:schemeClr val="bg2"/>
          </a:solidFill>
          <a:ln w="6350">
            <a:solidFill>
              <a:schemeClr val="bg2"/>
            </a:solidFill>
            <a:prstDash val="solid"/>
          </a:ln>
        </p:spPr>
      </p:sp>
      <p:sp>
        <p:nvSpPr>
          <p:cNvPr id="41" name="TF tile"/>
          <p:cNvSpPr/>
          <p:nvPr/>
        </p:nvSpPr>
        <p:spPr>
          <a:xfrm>
            <a:off x="6376416" y="4041648"/>
            <a:ext cx="502920" cy="502920"/>
          </a:xfrm>
          <a:prstGeom prst="roundRect">
            <a:avLst>
              <a:gd name="adj" fmla="val 20000"/>
            </a:avLst>
          </a:prstGeom>
          <a:solidFill>
            <a:schemeClr val="accent3"/>
          </a:solidFill>
          <a:ln w="6350">
            <a:solidFill>
              <a:schemeClr val="accent3"/>
            </a:solidFill>
            <a:prstDash val="solid"/>
          </a:ln>
        </p:spPr>
      </p:sp>
      <p:pic>
        <p:nvPicPr>
          <p:cNvPr id="42" name="TF icon" descr="preencoded.png">    </p:cNvPr>
          <p:cNvPicPr>
            <a:picLocks noChangeAspect="1"/>
          </p:cNvPicPr>
          <p:nvPr/>
        </p:nvPicPr>
        <p:blipFill>
          <a:blip r:embed="rId7"/>
          <a:stretch>
            <a:fillRect/>
          </a:stretch>
        </p:blipFill>
        <p:spPr>
          <a:xfrm>
            <a:off x="6487058" y="4152290"/>
            <a:ext cx="281635" cy="281635"/>
          </a:xfrm>
          <a:prstGeom prst="rect">
            <a:avLst/>
          </a:prstGeom>
        </p:spPr>
      </p:pic>
      <p:sp>
        <p:nvSpPr>
          <p:cNvPr id="43" name="TF title"/>
          <p:cNvSpPr txBox="1"/>
          <p:nvPr/>
        </p:nvSpPr>
        <p:spPr>
          <a:xfrm>
            <a:off x="7016496" y="404164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TF</a:t>
            </a:r>
            <a:endParaRPr lang="en-US" sz="1700" dirty="0"/>
          </a:p>
        </p:txBody>
      </p:sp>
      <p:sp>
        <p:nvSpPr>
          <p:cNvPr id="44" name="TF text"/>
          <p:cNvSpPr txBox="1"/>
          <p:nvPr/>
        </p:nvSpPr>
        <p:spPr>
          <a:xfrm>
            <a:off x="6376416" y="470916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Where each frame is relative to another</a:t>
            </a:r>
            <a:endParaRPr lang="en-US" sz="1400" dirty="0"/>
          </a:p>
        </p:txBody>
      </p:sp>
      <p:sp>
        <p:nvSpPr>
          <p:cNvPr id="45" name="TF example"/>
          <p:cNvSpPr txBox="1"/>
          <p:nvPr/>
        </p:nvSpPr>
        <p:spPr>
          <a:xfrm>
            <a:off x="6376416" y="544068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map → odom → base_link</a:t>
            </a:r>
            <a:endParaRPr lang="en-US" sz="1200" dirty="0"/>
          </a:p>
        </p:txBody>
      </p:sp>
      <p:sp>
        <p:nvSpPr>
          <p:cNvPr id="46" name="Package + colcon card"/>
          <p:cNvSpPr/>
          <p:nvPr/>
        </p:nvSpPr>
        <p:spPr>
          <a:xfrm>
            <a:off x="8988552" y="3840480"/>
            <a:ext cx="2651760" cy="2240280"/>
          </a:xfrm>
          <a:prstGeom prst="roundRect">
            <a:avLst>
              <a:gd name="adj" fmla="val 4082"/>
            </a:avLst>
          </a:prstGeom>
          <a:solidFill>
            <a:schemeClr val="bg2"/>
          </a:solidFill>
          <a:ln w="6350">
            <a:solidFill>
              <a:schemeClr val="bg2"/>
            </a:solidFill>
            <a:prstDash val="solid"/>
          </a:ln>
        </p:spPr>
      </p:sp>
      <p:sp>
        <p:nvSpPr>
          <p:cNvPr id="47" name="Package + colcon tile"/>
          <p:cNvSpPr/>
          <p:nvPr/>
        </p:nvSpPr>
        <p:spPr>
          <a:xfrm>
            <a:off x="9189720" y="4041648"/>
            <a:ext cx="502920" cy="502920"/>
          </a:xfrm>
          <a:prstGeom prst="roundRect">
            <a:avLst>
              <a:gd name="adj" fmla="val 20000"/>
            </a:avLst>
          </a:prstGeom>
          <a:solidFill>
            <a:schemeClr val="accent3"/>
          </a:solidFill>
          <a:ln w="6350">
            <a:solidFill>
              <a:schemeClr val="accent3"/>
            </a:solidFill>
            <a:prstDash val="solid"/>
          </a:ln>
        </p:spPr>
      </p:sp>
      <p:pic>
        <p:nvPicPr>
          <p:cNvPr id="48" name="Package + colcon icon" descr="preencoded.png">    </p:cNvPr>
          <p:cNvPicPr>
            <a:picLocks noChangeAspect="1"/>
          </p:cNvPicPr>
          <p:nvPr/>
        </p:nvPicPr>
        <p:blipFill>
          <a:blip r:embed="rId8"/>
          <a:stretch>
            <a:fillRect/>
          </a:stretch>
        </p:blipFill>
        <p:spPr>
          <a:xfrm>
            <a:off x="9300362" y="4152290"/>
            <a:ext cx="281635" cy="281635"/>
          </a:xfrm>
          <a:prstGeom prst="rect">
            <a:avLst/>
          </a:prstGeom>
        </p:spPr>
      </p:pic>
      <p:sp>
        <p:nvSpPr>
          <p:cNvPr id="49" name="Package + colcon title"/>
          <p:cNvSpPr txBox="1"/>
          <p:nvPr/>
        </p:nvSpPr>
        <p:spPr>
          <a:xfrm>
            <a:off x="9829800" y="4041648"/>
            <a:ext cx="1645920" cy="502920"/>
          </a:xfrm>
          <a:prstGeom prst="rect">
            <a:avLst/>
          </a:prstGeom>
          <a:noFill/>
          <a:ln/>
        </p:spPr>
        <p:txBody>
          <a:bodyPr wrap="square" lIns="0" tIns="0" rIns="0" bIns="0" rtlCol="0" anchor="ctr"/>
          <a:lstStyle/>
          <a:p>
            <a:pPr algn="l" indent="0" marL="0">
              <a:buNone/>
            </a:pPr>
            <a:r>
              <a:rPr lang="en-US" sz="1700" b="1" dirty="0">
                <a:solidFill>
                  <a:schemeClr val="tx1"/>
                </a:solidFill>
              </a:rPr>
              <a:t>Package + colcon</a:t>
            </a:r>
            <a:endParaRPr lang="en-US" sz="1700" dirty="0"/>
          </a:p>
        </p:txBody>
      </p:sp>
      <p:sp>
        <p:nvSpPr>
          <p:cNvPr id="50" name="Package + colcon text"/>
          <p:cNvSpPr txBox="1"/>
          <p:nvPr/>
        </p:nvSpPr>
        <p:spPr>
          <a:xfrm>
            <a:off x="9189720" y="4709160"/>
            <a:ext cx="2249424" cy="731520"/>
          </a:xfrm>
          <a:prstGeom prst="rect">
            <a:avLst/>
          </a:prstGeom>
          <a:noFill/>
          <a:ln/>
        </p:spPr>
        <p:txBody>
          <a:bodyPr wrap="square" lIns="0" tIns="0" rIns="0" bIns="0" rtlCol="0" anchor="t"/>
          <a:lstStyle/>
          <a:p>
            <a:pPr algn="l" indent="0" marL="0">
              <a:buNone/>
            </a:pPr>
            <a:r>
              <a:rPr lang="en-US" sz="1400" dirty="0">
                <a:solidFill>
                  <a:schemeClr val="tx2"/>
                </a:solidFill>
              </a:rPr>
              <a:t>Folder of code and config; colcon builds it</a:t>
            </a:r>
            <a:endParaRPr lang="en-US" sz="1400" dirty="0"/>
          </a:p>
        </p:txBody>
      </p:sp>
      <p:sp>
        <p:nvSpPr>
          <p:cNvPr id="51" name="Package + colcon example"/>
          <p:cNvSpPr txBox="1"/>
          <p:nvPr/>
        </p:nvSpPr>
        <p:spPr>
          <a:xfrm>
            <a:off x="9189720" y="5440680"/>
            <a:ext cx="2249424" cy="548640"/>
          </a:xfrm>
          <a:prstGeom prst="rect">
            <a:avLst/>
          </a:prstGeom>
          <a:noFill/>
          <a:ln/>
        </p:spPr>
        <p:txBody>
          <a:bodyPr wrap="square" lIns="0" tIns="0" rIns="0" bIns="0" rtlCol="0" anchor="t"/>
          <a:lstStyle/>
          <a:p>
            <a:pPr algn="l" indent="0" marL="0">
              <a:buNone/>
            </a:pPr>
            <a:r>
              <a:rPr lang="en-US" sz="1200" b="1" dirty="0">
                <a:solidFill>
                  <a:schemeClr val="accent2"/>
                </a:solidFill>
                <a:latin typeface="Courier New" pitchFamily="34" charset="0"/>
                <a:ea typeface="Courier New" pitchFamily="34" charset="-122"/>
                <a:cs typeface="Courier New" pitchFamily="34" charset="-120"/>
              </a:rPr>
              <a:t>colcon build</a:t>
            </a:r>
            <a:endParaRPr lang="en-US" sz="12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number"/>
          <p:cNvSpPr txBox="1"/>
          <p:nvPr/>
        </p:nvSpPr>
        <p:spPr>
          <a:xfrm>
            <a:off x="731520" y="1143000"/>
            <a:ext cx="2743200" cy="1280160"/>
          </a:xfrm>
          <a:prstGeom prst="rect">
            <a:avLst/>
          </a:prstGeom>
          <a:noFill/>
          <a:ln/>
        </p:spPr>
        <p:txBody>
          <a:bodyPr wrap="square" lIns="0" tIns="0" rIns="0" bIns="0" rtlCol="0" anchor="b"/>
          <a:lstStyle/>
          <a:p>
            <a:pPr indent="0" marL="0">
              <a:buNone/>
            </a:pPr>
            <a:r>
              <a:rPr lang="en-US" sz="8000" b="1" dirty="0">
                <a:solidFill>
                  <a:schemeClr val="accent1"/>
                </a:solidFill>
              </a:rPr>
              <a:t>02</a:t>
            </a:r>
            <a:endParaRPr lang="en-US" sz="8000" dirty="0"/>
          </a:p>
        </p:txBody>
      </p:sp>
      <p:sp>
        <p:nvSpPr>
          <p:cNvPr id="3" name="Text 0"/>
          <p:cNvSpPr/>
          <p:nvPr>
            <p:ph idx="100" type="title" hasCustomPrompt="1"/>
          </p:nvPr>
        </p:nvSpPr>
        <p:spPr>
          <a:xfrm>
            <a:off x="731520" y="2514600"/>
            <a:ext cx="7680960" cy="1280160"/>
          </a:xfrm>
          <a:prstGeom prst="rect">
            <a:avLst/>
          </a:prstGeom>
          <a:noFill/>
          <a:ln/>
        </p:spPr>
        <p:txBody>
          <a:bodyPr wrap="square" lIns="0" tIns="0" rIns="0" bIns="0" rtlCol="0" anchor="b"/>
          <a:lstStyle/>
          <a:p>
            <a:pPr algn="l" indent="0" marL="0">
              <a:buNone/>
            </a:pPr>
            <a:r>
              <a:rPr lang="en-US" sz="4000" b="1" dirty="0">
                <a:solidFill>
                  <a:schemeClr val="bg1"/>
                </a:solidFill>
              </a:rPr>
              <a:t>Inside the bcr_bot package</a:t>
            </a:r>
            <a:endParaRPr lang="en-US" sz="4000" dirty="0"/>
          </a:p>
        </p:txBody>
      </p:sp>
      <p:sp>
        <p:nvSpPr>
          <p:cNvPr id="4" name="Text 0"/>
          <p:cNvSpPr/>
          <p:nvPr>
            <p:ph idx="101" type="body" hasCustomPrompt="1"/>
          </p:nvPr>
        </p:nvSpPr>
        <p:spPr>
          <a:xfrm>
            <a:off x="731520" y="397764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How a ready-made ROS 2 robot package is organised, built and launched</a:t>
            </a:r>
            <a:endParaRPr lang="en-US" sz="1800" dirty="0"/>
          </a:p>
        </p:txBody>
      </p:sp>
      <p:sp>
        <p:nvSpPr>
          <p:cNvPr id="5" name="Section icon circle"/>
          <p:cNvSpPr/>
          <p:nvPr/>
        </p:nvSpPr>
        <p:spPr>
          <a:xfrm>
            <a:off x="8823960" y="2057400"/>
            <a:ext cx="2560320" cy="2560320"/>
          </a:xfrm>
          <a:prstGeom prst="ellipse">
            <a:avLst/>
          </a:prstGeom>
          <a:solidFill>
            <a:schemeClr val="accent2"/>
          </a:solidFill>
          <a:ln w="12700">
            <a:solidFill>
              <a:schemeClr val="accent2"/>
            </a:solidFill>
            <a:prstDash val="solid"/>
          </a:ln>
        </p:spPr>
      </p:sp>
      <p:pic>
        <p:nvPicPr>
          <p:cNvPr id="6" name="Section icon" descr="preencoded.png">    </p:cNvPr>
          <p:cNvPicPr>
            <a:picLocks noChangeAspect="1"/>
          </p:cNvPicPr>
          <p:nvPr/>
        </p:nvPicPr>
        <p:blipFill>
          <a:blip r:embed="rId1"/>
          <a:stretch>
            <a:fillRect/>
          </a:stretch>
        </p:blipFill>
        <p:spPr>
          <a:xfrm>
            <a:off x="9464040" y="2697480"/>
            <a:ext cx="1280160" cy="1280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bcr_bot is a normal ROS 2 package: every folder has one job</a:t>
            </a:r>
            <a:endParaRPr lang="en-US" sz="2800" dirty="0"/>
          </a:p>
        </p:txBody>
      </p:sp>
      <p:sp>
        <p:nvSpPr>
          <p:cNvPr id="4" name="Folder tree background"/>
          <p:cNvSpPr/>
          <p:nvPr/>
        </p:nvSpPr>
        <p:spPr>
          <a:xfrm>
            <a:off x="548640" y="1417320"/>
            <a:ext cx="6035040" cy="4617720"/>
          </a:xfrm>
          <a:prstGeom prst="roundRect">
            <a:avLst>
              <a:gd name="adj" fmla="val 1584"/>
            </a:avLst>
          </a:prstGeom>
          <a:solidFill>
            <a:schemeClr val="tx1"/>
          </a:solidFill>
          <a:ln w="6350">
            <a:solidFill>
              <a:schemeClr val="tx1"/>
            </a:solidFill>
            <a:prstDash val="solid"/>
          </a:ln>
        </p:spPr>
      </p:sp>
      <p:sp>
        <p:nvSpPr>
          <p:cNvPr id="5" name="Folder tree text"/>
          <p:cNvSpPr txBox="1"/>
          <p:nvPr/>
        </p:nvSpPr>
        <p:spPr>
          <a:xfrm>
            <a:off x="749808" y="1563624"/>
            <a:ext cx="5632704" cy="4325112"/>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bcr_bot/</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package.xml     </a:t>
            </a:r>
            <a:pPr indent="0" marL="0">
              <a:buNone/>
            </a:pPr>
            <a:r>
              <a:rPr lang="en-US" sz="1400" b="1" dirty="0">
                <a:solidFill>
                  <a:schemeClr val="accent1"/>
                </a:solidFill>
                <a:latin typeface="Courier New" pitchFamily="34" charset="0"/>
                <a:ea typeface="Courier New" pitchFamily="34" charset="-122"/>
                <a:cs typeface="Courier New" pitchFamily="34" charset="-120"/>
              </a:rPr>
              <a:t># name, version, dependencies</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CMakeLists.txt  </a:t>
            </a:r>
            <a:pPr indent="0" marL="0">
              <a:buNone/>
            </a:pPr>
            <a:r>
              <a:rPr lang="en-US" sz="1400" b="1" dirty="0">
                <a:solidFill>
                  <a:schemeClr val="accent1"/>
                </a:solidFill>
                <a:latin typeface="Courier New" pitchFamily="34" charset="0"/>
                <a:ea typeface="Courier New" pitchFamily="34" charset="-122"/>
                <a:cs typeface="Courier New" pitchFamily="34" charset="-120"/>
              </a:rPr>
              <a:t># what gets installed</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urdf/           </a:t>
            </a:r>
            <a:pPr indent="0" marL="0">
              <a:buNone/>
            </a:pPr>
            <a:r>
              <a:rPr lang="en-US" sz="1400" b="1" dirty="0">
                <a:solidFill>
                  <a:schemeClr val="accent1"/>
                </a:solidFill>
                <a:latin typeface="Courier New" pitchFamily="34" charset="0"/>
                <a:ea typeface="Courier New" pitchFamily="34" charset="-122"/>
                <a:cs typeface="Courier New" pitchFamily="34" charset="-120"/>
              </a:rPr>
              <a:t># robot model (xacro)</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meshes/         </a:t>
            </a:r>
            <a:pPr indent="0" marL="0">
              <a:buNone/>
            </a:pPr>
            <a:r>
              <a:rPr lang="en-US" sz="1400" b="1" dirty="0">
                <a:solidFill>
                  <a:schemeClr val="accent1"/>
                </a:solidFill>
                <a:latin typeface="Courier New" pitchFamily="34" charset="0"/>
                <a:ea typeface="Courier New" pitchFamily="34" charset="-122"/>
                <a:cs typeface="Courier New" pitchFamily="34" charset="-120"/>
              </a:rPr>
              <a:t># 3D shapes for visuals</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worlds/         </a:t>
            </a:r>
            <a:pPr indent="0" marL="0">
              <a:buNone/>
            </a:pPr>
            <a:r>
              <a:rPr lang="en-US" sz="1400" b="1" dirty="0">
                <a:solidFill>
                  <a:schemeClr val="accent1"/>
                </a:solidFill>
                <a:latin typeface="Courier New" pitchFamily="34" charset="0"/>
                <a:ea typeface="Courier New" pitchFamily="34" charset="-122"/>
                <a:cs typeface="Courier New" pitchFamily="34" charset="-120"/>
              </a:rPr>
              <a:t># Gazebo worlds (.sdf)</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models/         </a:t>
            </a:r>
            <a:pPr indent="0" marL="0">
              <a:buNone/>
            </a:pPr>
            <a:r>
              <a:rPr lang="en-US" sz="1400" b="1" dirty="0">
                <a:solidFill>
                  <a:schemeClr val="accent1"/>
                </a:solidFill>
                <a:latin typeface="Courier New" pitchFamily="34" charset="0"/>
                <a:ea typeface="Courier New" pitchFamily="34" charset="-122"/>
                <a:cs typeface="Courier New" pitchFamily="34" charset="-120"/>
              </a:rPr>
              <a:t># warehouse objects</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launch/         </a:t>
            </a:r>
            <a:pPr indent="0" marL="0">
              <a:buNone/>
            </a:pPr>
            <a:r>
              <a:rPr lang="en-US" sz="1400" b="1" dirty="0">
                <a:solidFill>
                  <a:schemeClr val="accent1"/>
                </a:solidFill>
                <a:latin typeface="Courier New" pitchFamily="34" charset="0"/>
                <a:ea typeface="Courier New" pitchFamily="34" charset="-122"/>
                <a:cs typeface="Courier New" pitchFamily="34" charset="-120"/>
              </a:rPr>
              <a:t># start-up scripts (.py)</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config/         </a:t>
            </a:r>
            <a:pPr indent="0" marL="0">
              <a:buNone/>
            </a:pPr>
            <a:r>
              <a:rPr lang="en-US" sz="1400" b="1" dirty="0">
                <a:solidFill>
                  <a:schemeClr val="accent1"/>
                </a:solidFill>
                <a:latin typeface="Courier New" pitchFamily="34" charset="0"/>
                <a:ea typeface="Courier New" pitchFamily="34" charset="-122"/>
                <a:cs typeface="Courier New" pitchFamily="34" charset="-120"/>
              </a:rPr>
              <a:t># nav2 + slam params, map</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rviz/           </a:t>
            </a:r>
            <a:pPr indent="0" marL="0">
              <a:buNone/>
            </a:pPr>
            <a:r>
              <a:rPr lang="en-US" sz="1400" b="1" dirty="0">
                <a:solidFill>
                  <a:schemeClr val="accent1"/>
                </a:solidFill>
                <a:latin typeface="Courier New" pitchFamily="34" charset="0"/>
                <a:ea typeface="Courier New" pitchFamily="34" charset="-122"/>
                <a:cs typeface="Courier New" pitchFamily="34" charset="-120"/>
              </a:rPr>
              <a:t># saved RViz views</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scripts/        </a:t>
            </a:r>
            <a:pPr indent="0" marL="0">
              <a:buNone/>
            </a:pPr>
            <a:r>
              <a:rPr lang="en-US" sz="1400" b="1" dirty="0">
                <a:solidFill>
                  <a:schemeClr val="accent1"/>
                </a:solidFill>
                <a:latin typeface="Courier New" pitchFamily="34" charset="0"/>
                <a:ea typeface="Courier New" pitchFamily="34" charset="-122"/>
                <a:cs typeface="Courier New" pitchFamily="34" charset="-120"/>
              </a:rPr>
              <a:t># remapper.py (sim only)</a:t>
            </a:r>
            <a:endParaRPr lang="en-US" sz="1400" dirty="0"/>
          </a:p>
        </p:txBody>
      </p:sp>
      <p:sp>
        <p:nvSpPr>
          <p:cNvPr id="6" name="Describe the robot card"/>
          <p:cNvSpPr/>
          <p:nvPr/>
        </p:nvSpPr>
        <p:spPr>
          <a:xfrm>
            <a:off x="6858000" y="1417320"/>
            <a:ext cx="4782312" cy="1417320"/>
          </a:xfrm>
          <a:prstGeom prst="roundRect">
            <a:avLst>
              <a:gd name="adj" fmla="val 6452"/>
            </a:avLst>
          </a:prstGeom>
          <a:solidFill>
            <a:schemeClr val="bg2"/>
          </a:solidFill>
          <a:ln w="6350">
            <a:solidFill>
              <a:schemeClr val="bg2"/>
            </a:solidFill>
            <a:prstDash val="solid"/>
          </a:ln>
        </p:spPr>
      </p:sp>
      <p:sp>
        <p:nvSpPr>
          <p:cNvPr id="7" name="Describe the robot tile"/>
          <p:cNvSpPr/>
          <p:nvPr/>
        </p:nvSpPr>
        <p:spPr>
          <a:xfrm>
            <a:off x="7086600" y="1645920"/>
            <a:ext cx="594360" cy="594360"/>
          </a:xfrm>
          <a:prstGeom prst="roundRect">
            <a:avLst>
              <a:gd name="adj" fmla="val 20000"/>
            </a:avLst>
          </a:prstGeom>
          <a:solidFill>
            <a:schemeClr val="accent3"/>
          </a:solidFill>
          <a:ln w="6350">
            <a:solidFill>
              <a:schemeClr val="accent3"/>
            </a:solidFill>
            <a:prstDash val="solid"/>
          </a:ln>
        </p:spPr>
      </p:sp>
      <p:pic>
        <p:nvPicPr>
          <p:cNvPr id="8" name="Describe the robot icon" descr="preencoded.png">    </p:cNvPr>
          <p:cNvPicPr>
            <a:picLocks noChangeAspect="1"/>
          </p:cNvPicPr>
          <p:nvPr/>
        </p:nvPicPr>
        <p:blipFill>
          <a:blip r:embed="rId1"/>
          <a:stretch>
            <a:fillRect/>
          </a:stretch>
        </p:blipFill>
        <p:spPr>
          <a:xfrm>
            <a:off x="7217359" y="1776679"/>
            <a:ext cx="332842" cy="332842"/>
          </a:xfrm>
          <a:prstGeom prst="rect">
            <a:avLst/>
          </a:prstGeom>
        </p:spPr>
      </p:pic>
      <p:sp>
        <p:nvSpPr>
          <p:cNvPr id="9" name="Describe the robot title"/>
          <p:cNvSpPr txBox="1"/>
          <p:nvPr/>
        </p:nvSpPr>
        <p:spPr>
          <a:xfrm>
            <a:off x="7863840" y="1581912"/>
            <a:ext cx="3593592" cy="411480"/>
          </a:xfrm>
          <a:prstGeom prst="rect">
            <a:avLst/>
          </a:prstGeom>
          <a:noFill/>
          <a:ln/>
        </p:spPr>
        <p:txBody>
          <a:bodyPr wrap="square" lIns="0" tIns="0" rIns="0" bIns="0" rtlCol="0" anchor="t"/>
          <a:lstStyle/>
          <a:p>
            <a:pPr algn="l" indent="0" marL="0">
              <a:buNone/>
            </a:pPr>
            <a:r>
              <a:rPr lang="en-US" sz="1800" b="1" dirty="0">
                <a:solidFill>
                  <a:schemeClr val="tx1"/>
                </a:solidFill>
              </a:rPr>
              <a:t>Describe the robot</a:t>
            </a:r>
            <a:endParaRPr lang="en-US" sz="1800" dirty="0"/>
          </a:p>
        </p:txBody>
      </p:sp>
      <p:sp>
        <p:nvSpPr>
          <p:cNvPr id="10" name="Describe the robot folders"/>
          <p:cNvSpPr txBox="1"/>
          <p:nvPr/>
        </p:nvSpPr>
        <p:spPr>
          <a:xfrm>
            <a:off x="7863840" y="2011680"/>
            <a:ext cx="3593592" cy="320040"/>
          </a:xfrm>
          <a:prstGeom prst="rect">
            <a:avLst/>
          </a:prstGeom>
          <a:noFill/>
          <a:ln/>
        </p:spPr>
        <p:txBody>
          <a:bodyPr wrap="square" lIns="0" tIns="0" rIns="0" bIns="0" rtlCol="0" anchor="t"/>
          <a:lstStyle/>
          <a:p>
            <a:pPr algn="l" indent="0" marL="0">
              <a:buNone/>
            </a:pPr>
            <a:r>
              <a:rPr lang="en-US" sz="1300" b="1" dirty="0">
                <a:solidFill>
                  <a:schemeClr val="accent3"/>
                </a:solidFill>
                <a:latin typeface="Courier New" pitchFamily="34" charset="0"/>
                <a:ea typeface="Courier New" pitchFamily="34" charset="-122"/>
                <a:cs typeface="Courier New" pitchFamily="34" charset="-120"/>
              </a:rPr>
              <a:t>urdf/  meshes/</a:t>
            </a:r>
            <a:endParaRPr lang="en-US" sz="1300" dirty="0"/>
          </a:p>
        </p:txBody>
      </p:sp>
      <p:sp>
        <p:nvSpPr>
          <p:cNvPr id="11" name="Describe the robot text"/>
          <p:cNvSpPr txBox="1"/>
          <p:nvPr/>
        </p:nvSpPr>
        <p:spPr>
          <a:xfrm>
            <a:off x="7863840" y="2331720"/>
            <a:ext cx="3593592" cy="365760"/>
          </a:xfrm>
          <a:prstGeom prst="rect">
            <a:avLst/>
          </a:prstGeom>
          <a:noFill/>
          <a:ln/>
        </p:spPr>
        <p:txBody>
          <a:bodyPr wrap="square" lIns="0" tIns="0" rIns="0" bIns="0" rtlCol="0" anchor="t"/>
          <a:lstStyle/>
          <a:p>
            <a:pPr algn="l" indent="0" marL="0">
              <a:buNone/>
            </a:pPr>
            <a:r>
              <a:rPr lang="en-US" sz="1400" dirty="0">
                <a:solidFill>
                  <a:schemeClr val="tx2"/>
                </a:solidFill>
              </a:rPr>
              <a:t>Links, joints, sensors and where they are mounted</a:t>
            </a:r>
            <a:endParaRPr lang="en-US" sz="1400" dirty="0"/>
          </a:p>
        </p:txBody>
      </p:sp>
      <p:sp>
        <p:nvSpPr>
          <p:cNvPr id="12" name="Simulate the world card"/>
          <p:cNvSpPr/>
          <p:nvPr/>
        </p:nvSpPr>
        <p:spPr>
          <a:xfrm>
            <a:off x="6858000" y="3017520"/>
            <a:ext cx="4782312" cy="1417320"/>
          </a:xfrm>
          <a:prstGeom prst="roundRect">
            <a:avLst>
              <a:gd name="adj" fmla="val 6452"/>
            </a:avLst>
          </a:prstGeom>
          <a:solidFill>
            <a:schemeClr val="bg2"/>
          </a:solidFill>
          <a:ln w="6350">
            <a:solidFill>
              <a:schemeClr val="bg2"/>
            </a:solidFill>
            <a:prstDash val="solid"/>
          </a:ln>
        </p:spPr>
      </p:sp>
      <p:sp>
        <p:nvSpPr>
          <p:cNvPr id="13" name="Simulate the world tile"/>
          <p:cNvSpPr/>
          <p:nvPr/>
        </p:nvSpPr>
        <p:spPr>
          <a:xfrm>
            <a:off x="7086600" y="3246120"/>
            <a:ext cx="594360" cy="594360"/>
          </a:xfrm>
          <a:prstGeom prst="roundRect">
            <a:avLst>
              <a:gd name="adj" fmla="val 20000"/>
            </a:avLst>
          </a:prstGeom>
          <a:solidFill>
            <a:schemeClr val="accent2"/>
          </a:solidFill>
          <a:ln w="6350">
            <a:solidFill>
              <a:schemeClr val="accent2"/>
            </a:solidFill>
            <a:prstDash val="solid"/>
          </a:ln>
        </p:spPr>
      </p:sp>
      <p:pic>
        <p:nvPicPr>
          <p:cNvPr id="14" name="Simulate the world icon" descr="preencoded.png">    </p:cNvPr>
          <p:cNvPicPr>
            <a:picLocks noChangeAspect="1"/>
          </p:cNvPicPr>
          <p:nvPr/>
        </p:nvPicPr>
        <p:blipFill>
          <a:blip r:embed="rId2"/>
          <a:stretch>
            <a:fillRect/>
          </a:stretch>
        </p:blipFill>
        <p:spPr>
          <a:xfrm>
            <a:off x="7217359" y="3376879"/>
            <a:ext cx="332842" cy="332842"/>
          </a:xfrm>
          <a:prstGeom prst="rect">
            <a:avLst/>
          </a:prstGeom>
        </p:spPr>
      </p:pic>
      <p:sp>
        <p:nvSpPr>
          <p:cNvPr id="15" name="Simulate the world title"/>
          <p:cNvSpPr txBox="1"/>
          <p:nvPr/>
        </p:nvSpPr>
        <p:spPr>
          <a:xfrm>
            <a:off x="7863840" y="3182112"/>
            <a:ext cx="3593592" cy="411480"/>
          </a:xfrm>
          <a:prstGeom prst="rect">
            <a:avLst/>
          </a:prstGeom>
          <a:noFill/>
          <a:ln/>
        </p:spPr>
        <p:txBody>
          <a:bodyPr wrap="square" lIns="0" tIns="0" rIns="0" bIns="0" rtlCol="0" anchor="t"/>
          <a:lstStyle/>
          <a:p>
            <a:pPr algn="l" indent="0" marL="0">
              <a:buNone/>
            </a:pPr>
            <a:r>
              <a:rPr lang="en-US" sz="1800" b="1" dirty="0">
                <a:solidFill>
                  <a:schemeClr val="tx1"/>
                </a:solidFill>
              </a:rPr>
              <a:t>Simulate the world</a:t>
            </a:r>
            <a:endParaRPr lang="en-US" sz="1800" dirty="0"/>
          </a:p>
        </p:txBody>
      </p:sp>
      <p:sp>
        <p:nvSpPr>
          <p:cNvPr id="16" name="Simulate the world folders"/>
          <p:cNvSpPr txBox="1"/>
          <p:nvPr/>
        </p:nvSpPr>
        <p:spPr>
          <a:xfrm>
            <a:off x="7863840" y="3611880"/>
            <a:ext cx="3593592" cy="320040"/>
          </a:xfrm>
          <a:prstGeom prst="rect">
            <a:avLst/>
          </a:prstGeom>
          <a:noFill/>
          <a:ln/>
        </p:spPr>
        <p:txBody>
          <a:bodyPr wrap="square" lIns="0" tIns="0" rIns="0" bIns="0" rtlCol="0" anchor="t"/>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worlds/  models/  urdf/gazebo.xacro</a:t>
            </a:r>
            <a:endParaRPr lang="en-US" sz="1300" dirty="0"/>
          </a:p>
        </p:txBody>
      </p:sp>
      <p:sp>
        <p:nvSpPr>
          <p:cNvPr id="17" name="Simulate the world text"/>
          <p:cNvSpPr txBox="1"/>
          <p:nvPr/>
        </p:nvSpPr>
        <p:spPr>
          <a:xfrm>
            <a:off x="7863840" y="3931920"/>
            <a:ext cx="3593592" cy="365760"/>
          </a:xfrm>
          <a:prstGeom prst="rect">
            <a:avLst/>
          </a:prstGeom>
          <a:noFill/>
          <a:ln/>
        </p:spPr>
        <p:txBody>
          <a:bodyPr wrap="square" lIns="0" tIns="0" rIns="0" bIns="0" rtlCol="0" anchor="t"/>
          <a:lstStyle/>
          <a:p>
            <a:pPr algn="l" indent="0" marL="0">
              <a:buNone/>
            </a:pPr>
            <a:r>
              <a:rPr lang="en-US" sz="1400" dirty="0">
                <a:solidFill>
                  <a:schemeClr val="tx2"/>
                </a:solidFill>
              </a:rPr>
              <a:t>Warehouse world and the Gazebo plugins</a:t>
            </a:r>
            <a:endParaRPr lang="en-US" sz="1400" dirty="0"/>
          </a:p>
        </p:txBody>
      </p:sp>
      <p:sp>
        <p:nvSpPr>
          <p:cNvPr id="18" name="Run &amp; configure card"/>
          <p:cNvSpPr/>
          <p:nvPr/>
        </p:nvSpPr>
        <p:spPr>
          <a:xfrm>
            <a:off x="6858000" y="4617720"/>
            <a:ext cx="4782312" cy="1417320"/>
          </a:xfrm>
          <a:prstGeom prst="roundRect">
            <a:avLst>
              <a:gd name="adj" fmla="val 6452"/>
            </a:avLst>
          </a:prstGeom>
          <a:solidFill>
            <a:schemeClr val="bg2"/>
          </a:solidFill>
          <a:ln w="6350">
            <a:solidFill>
              <a:schemeClr val="bg2"/>
            </a:solidFill>
            <a:prstDash val="solid"/>
          </a:ln>
        </p:spPr>
      </p:sp>
      <p:sp>
        <p:nvSpPr>
          <p:cNvPr id="19" name="Run &amp; configure tile"/>
          <p:cNvSpPr/>
          <p:nvPr/>
        </p:nvSpPr>
        <p:spPr>
          <a:xfrm>
            <a:off x="7086600" y="4846320"/>
            <a:ext cx="594360" cy="594360"/>
          </a:xfrm>
          <a:prstGeom prst="roundRect">
            <a:avLst>
              <a:gd name="adj" fmla="val 20000"/>
            </a:avLst>
          </a:prstGeom>
          <a:solidFill>
            <a:schemeClr val="accent1"/>
          </a:solidFill>
          <a:ln w="6350">
            <a:solidFill>
              <a:schemeClr val="accent1"/>
            </a:solidFill>
            <a:prstDash val="solid"/>
          </a:ln>
        </p:spPr>
      </p:sp>
      <p:pic>
        <p:nvPicPr>
          <p:cNvPr id="20" name="Run &amp; configure icon" descr="preencoded.png">    </p:cNvPr>
          <p:cNvPicPr>
            <a:picLocks noChangeAspect="1"/>
          </p:cNvPicPr>
          <p:nvPr/>
        </p:nvPicPr>
        <p:blipFill>
          <a:blip r:embed="rId3"/>
          <a:stretch>
            <a:fillRect/>
          </a:stretch>
        </p:blipFill>
        <p:spPr>
          <a:xfrm>
            <a:off x="7217359" y="4977079"/>
            <a:ext cx="332842" cy="332842"/>
          </a:xfrm>
          <a:prstGeom prst="rect">
            <a:avLst/>
          </a:prstGeom>
        </p:spPr>
      </p:pic>
      <p:sp>
        <p:nvSpPr>
          <p:cNvPr id="21" name="Run &amp;amp; configure title"/>
          <p:cNvSpPr txBox="1"/>
          <p:nvPr/>
        </p:nvSpPr>
        <p:spPr>
          <a:xfrm>
            <a:off x="7863840" y="4782312"/>
            <a:ext cx="3593592" cy="411480"/>
          </a:xfrm>
          <a:prstGeom prst="rect">
            <a:avLst/>
          </a:prstGeom>
          <a:noFill/>
          <a:ln/>
        </p:spPr>
        <p:txBody>
          <a:bodyPr wrap="square" lIns="0" tIns="0" rIns="0" bIns="0" rtlCol="0" anchor="t"/>
          <a:lstStyle/>
          <a:p>
            <a:pPr algn="l" indent="0" marL="0">
              <a:buNone/>
            </a:pPr>
            <a:r>
              <a:rPr lang="en-US" sz="1800" b="1" dirty="0">
                <a:solidFill>
                  <a:schemeClr val="tx1"/>
                </a:solidFill>
              </a:rPr>
              <a:t>Run &amp; configure</a:t>
            </a:r>
            <a:endParaRPr lang="en-US" sz="1800" dirty="0"/>
          </a:p>
        </p:txBody>
      </p:sp>
      <p:sp>
        <p:nvSpPr>
          <p:cNvPr id="22" name="Run &amp;amp; configure folders"/>
          <p:cNvSpPr txBox="1"/>
          <p:nvPr/>
        </p:nvSpPr>
        <p:spPr>
          <a:xfrm>
            <a:off x="7863840" y="5212080"/>
            <a:ext cx="3593592" cy="320040"/>
          </a:xfrm>
          <a:prstGeom prst="rect">
            <a:avLst/>
          </a:prstGeom>
          <a:noFill/>
          <a:ln/>
        </p:spPr>
        <p:txBody>
          <a:bodyPr wrap="square" lIns="0" tIns="0" rIns="0" bIns="0" rtlCol="0" anchor="t"/>
          <a:lstStyle/>
          <a:p>
            <a:pPr algn="l" indent="0" marL="0">
              <a:buNone/>
            </a:pPr>
            <a:r>
              <a:rPr lang="en-US" sz="1300" b="1" dirty="0">
                <a:solidFill>
                  <a:schemeClr val="accent1"/>
                </a:solidFill>
                <a:latin typeface="Courier New" pitchFamily="34" charset="0"/>
                <a:ea typeface="Courier New" pitchFamily="34" charset="-122"/>
                <a:cs typeface="Courier New" pitchFamily="34" charset="-120"/>
              </a:rPr>
              <a:t>launch/  config/  rviz/</a:t>
            </a:r>
            <a:endParaRPr lang="en-US" sz="1300" dirty="0"/>
          </a:p>
        </p:txBody>
      </p:sp>
      <p:sp>
        <p:nvSpPr>
          <p:cNvPr id="23" name="Run &amp;amp; configure text"/>
          <p:cNvSpPr txBox="1"/>
          <p:nvPr/>
        </p:nvSpPr>
        <p:spPr>
          <a:xfrm>
            <a:off x="7863840" y="5532120"/>
            <a:ext cx="3593592" cy="365760"/>
          </a:xfrm>
          <a:prstGeom prst="rect">
            <a:avLst/>
          </a:prstGeom>
          <a:noFill/>
          <a:ln/>
        </p:spPr>
        <p:txBody>
          <a:bodyPr wrap="square" lIns="0" tIns="0" rIns="0" bIns="0" rtlCol="0" anchor="t"/>
          <a:lstStyle/>
          <a:p>
            <a:pPr algn="l" indent="0" marL="0">
              <a:buNone/>
            </a:pPr>
            <a:r>
              <a:rPr lang="en-US" sz="1400" dirty="0">
                <a:solidFill>
                  <a:schemeClr val="tx2"/>
                </a:solidFill>
              </a:rPr>
              <a:t>What starts, and with which parameters</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From source folder to ros2 launch: how the package is built</a:t>
            </a:r>
            <a:endParaRPr lang="en-US" sz="2800" dirty="0"/>
          </a:p>
        </p:txBody>
      </p:sp>
      <p:sp>
        <p:nvSpPr>
          <p:cNvPr id="4" name="Build step 1"/>
          <p:cNvSpPr/>
          <p:nvPr/>
        </p:nvSpPr>
        <p:spPr>
          <a:xfrm>
            <a:off x="548640" y="1417320"/>
            <a:ext cx="1965960" cy="1371600"/>
          </a:xfrm>
          <a:prstGeom prst="roundRect">
            <a:avLst>
              <a:gd name="adj" fmla="val 5333"/>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package.xml</a:t>
            </a:r>
            <a:endParaRPr lang="en-US" sz="1400" dirty="0"/>
          </a:p>
          <a:p>
            <a:pPr algn="ctr" indent="0" marL="0">
              <a:buNone/>
            </a:pPr>
            <a:r>
              <a:rPr lang="en-US" sz="1400" dirty="0">
                <a:solidFill>
                  <a:schemeClr val="tx1"/>
                </a:solidFill>
              </a:rPr>
              <a:t>declares the dependencies</a:t>
            </a:r>
            <a:endParaRPr lang="en-US" sz="1400" dirty="0"/>
          </a:p>
        </p:txBody>
      </p:sp>
      <p:sp>
        <p:nvSpPr>
          <p:cNvPr id="5" name="Build arrow 1"/>
          <p:cNvSpPr/>
          <p:nvPr/>
        </p:nvSpPr>
        <p:spPr>
          <a:xfrm>
            <a:off x="2551176" y="2103120"/>
            <a:ext cx="242316" cy="0"/>
          </a:xfrm>
          <a:prstGeom prst="line">
            <a:avLst/>
          </a:prstGeom>
          <a:noFill/>
          <a:ln w="25400">
            <a:solidFill>
              <a:schemeClr val="accent6"/>
            </a:solidFill>
            <a:prstDash val="solid"/>
            <a:tailEnd type="triangle"/>
          </a:ln>
        </p:spPr>
      </p:sp>
      <p:sp>
        <p:nvSpPr>
          <p:cNvPr id="6" name="Build step 2"/>
          <p:cNvSpPr/>
          <p:nvPr/>
        </p:nvSpPr>
        <p:spPr>
          <a:xfrm>
            <a:off x="2830068" y="1417320"/>
            <a:ext cx="1965960" cy="1371600"/>
          </a:xfrm>
          <a:prstGeom prst="roundRect">
            <a:avLst>
              <a:gd name="adj" fmla="val 5333"/>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CMakeLists.txt</a:t>
            </a:r>
            <a:endParaRPr lang="en-US" sz="1400" dirty="0"/>
          </a:p>
          <a:p>
            <a:pPr algn="ctr" indent="0" marL="0">
              <a:buNone/>
            </a:pPr>
            <a:r>
              <a:rPr lang="en-US" sz="1400" dirty="0">
                <a:solidFill>
                  <a:schemeClr val="tx1"/>
                </a:solidFill>
              </a:rPr>
              <a:t>install(DIRECTORY …) lists folders to copy</a:t>
            </a:r>
            <a:endParaRPr lang="en-US" sz="1400" dirty="0"/>
          </a:p>
        </p:txBody>
      </p:sp>
      <p:sp>
        <p:nvSpPr>
          <p:cNvPr id="7" name="Build arrow 2"/>
          <p:cNvSpPr/>
          <p:nvPr/>
        </p:nvSpPr>
        <p:spPr>
          <a:xfrm>
            <a:off x="4832604" y="2103120"/>
            <a:ext cx="242316" cy="0"/>
          </a:xfrm>
          <a:prstGeom prst="line">
            <a:avLst/>
          </a:prstGeom>
          <a:noFill/>
          <a:ln w="25400">
            <a:solidFill>
              <a:schemeClr val="accent6"/>
            </a:solidFill>
            <a:prstDash val="solid"/>
            <a:tailEnd type="triangle"/>
          </a:ln>
        </p:spPr>
      </p:sp>
      <p:sp>
        <p:nvSpPr>
          <p:cNvPr id="8" name="Build step 3"/>
          <p:cNvSpPr/>
          <p:nvPr/>
        </p:nvSpPr>
        <p:spPr>
          <a:xfrm>
            <a:off x="5111496" y="1417320"/>
            <a:ext cx="1965960" cy="1371600"/>
          </a:xfrm>
          <a:prstGeom prst="roundRect">
            <a:avLst>
              <a:gd name="adj" fmla="val 5333"/>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colcon build</a:t>
            </a:r>
            <a:endParaRPr lang="en-US" sz="1400" dirty="0"/>
          </a:p>
          <a:p>
            <a:pPr algn="ctr" indent="0" marL="0">
              <a:buNone/>
            </a:pPr>
            <a:r>
              <a:rPr lang="en-US" sz="1400" dirty="0">
                <a:solidFill>
                  <a:schemeClr val="tx1"/>
                </a:solidFill>
              </a:rPr>
              <a:t>copies files into install/</a:t>
            </a:r>
            <a:endParaRPr lang="en-US" sz="1400" dirty="0"/>
          </a:p>
        </p:txBody>
      </p:sp>
      <p:sp>
        <p:nvSpPr>
          <p:cNvPr id="9" name="Build arrow 3"/>
          <p:cNvSpPr/>
          <p:nvPr/>
        </p:nvSpPr>
        <p:spPr>
          <a:xfrm>
            <a:off x="7114032" y="2103120"/>
            <a:ext cx="242316" cy="0"/>
          </a:xfrm>
          <a:prstGeom prst="line">
            <a:avLst/>
          </a:prstGeom>
          <a:noFill/>
          <a:ln w="25400">
            <a:solidFill>
              <a:schemeClr val="accent6"/>
            </a:solidFill>
            <a:prstDash val="solid"/>
            <a:tailEnd type="triangle"/>
          </a:ln>
        </p:spPr>
      </p:sp>
      <p:sp>
        <p:nvSpPr>
          <p:cNvPr id="10" name="Build step 4"/>
          <p:cNvSpPr/>
          <p:nvPr/>
        </p:nvSpPr>
        <p:spPr>
          <a:xfrm>
            <a:off x="7392924" y="1417320"/>
            <a:ext cx="1965960" cy="1371600"/>
          </a:xfrm>
          <a:prstGeom prst="roundRect">
            <a:avLst>
              <a:gd name="adj" fmla="val 5333"/>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install/share/</a:t>
            </a:r>
            <a:endParaRPr lang="en-US" sz="1400" dirty="0"/>
          </a:p>
          <a:p>
            <a:pPr algn="ctr" indent="0" marL="0">
              <a:buNone/>
            </a:pPr>
            <a:r>
              <a:rPr lang="en-US" sz="1500" b="1" dirty="0">
                <a:solidFill>
                  <a:schemeClr val="accent2"/>
                </a:solidFill>
                <a:latin typeface="Courier New" pitchFamily="34" charset="0"/>
                <a:ea typeface="Courier New" pitchFamily="34" charset="-122"/>
                <a:cs typeface="Courier New" pitchFamily="34" charset="-120"/>
              </a:rPr>
              <a:t>bcr_bot</a:t>
            </a:r>
            <a:endParaRPr lang="en-US" sz="1400" dirty="0"/>
          </a:p>
          <a:p>
            <a:pPr algn="ctr" indent="0" marL="0">
              <a:buNone/>
            </a:pPr>
            <a:r>
              <a:rPr lang="en-US" sz="1400" dirty="0">
                <a:solidFill>
                  <a:schemeClr val="tx1"/>
                </a:solidFill>
              </a:rPr>
              <a:t>what ROS actually reads</a:t>
            </a:r>
            <a:endParaRPr lang="en-US" sz="1400" dirty="0"/>
          </a:p>
        </p:txBody>
      </p:sp>
      <p:sp>
        <p:nvSpPr>
          <p:cNvPr id="11" name="Build arrow 4"/>
          <p:cNvSpPr/>
          <p:nvPr/>
        </p:nvSpPr>
        <p:spPr>
          <a:xfrm>
            <a:off x="9395460" y="2103120"/>
            <a:ext cx="242316" cy="0"/>
          </a:xfrm>
          <a:prstGeom prst="line">
            <a:avLst/>
          </a:prstGeom>
          <a:noFill/>
          <a:ln w="25400">
            <a:solidFill>
              <a:schemeClr val="accent6"/>
            </a:solidFill>
            <a:prstDash val="solid"/>
            <a:tailEnd type="triangle"/>
          </a:ln>
        </p:spPr>
      </p:sp>
      <p:sp>
        <p:nvSpPr>
          <p:cNvPr id="12" name="Build step 5"/>
          <p:cNvSpPr/>
          <p:nvPr/>
        </p:nvSpPr>
        <p:spPr>
          <a:xfrm>
            <a:off x="9674352" y="1417320"/>
            <a:ext cx="1965960" cy="1371600"/>
          </a:xfrm>
          <a:prstGeom prst="roundRect">
            <a:avLst>
              <a:gd name="adj" fmla="val 5333"/>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ros2 launch</a:t>
            </a:r>
            <a:endParaRPr lang="en-US" sz="1400" dirty="0"/>
          </a:p>
          <a:p>
            <a:pPr algn="ctr" indent="0" marL="0">
              <a:buNone/>
            </a:pPr>
            <a:r>
              <a:rPr lang="en-US" sz="1400" dirty="0">
                <a:solidFill>
                  <a:schemeClr val="tx1"/>
                </a:solidFill>
              </a:rPr>
              <a:t>reads files from the install folder</a:t>
            </a:r>
            <a:endParaRPr lang="en-US" sz="1400" dirty="0"/>
          </a:p>
        </p:txBody>
      </p:sp>
      <p:sp>
        <p:nvSpPr>
          <p:cNvPr id="13" name="Build commands background"/>
          <p:cNvSpPr/>
          <p:nvPr/>
        </p:nvSpPr>
        <p:spPr>
          <a:xfrm>
            <a:off x="548640" y="3063240"/>
            <a:ext cx="5806440" cy="2514600"/>
          </a:xfrm>
          <a:prstGeom prst="roundRect">
            <a:avLst>
              <a:gd name="adj" fmla="val 2909"/>
            </a:avLst>
          </a:prstGeom>
          <a:solidFill>
            <a:schemeClr val="tx1"/>
          </a:solidFill>
          <a:ln w="6350">
            <a:solidFill>
              <a:schemeClr val="tx1"/>
            </a:solidFill>
            <a:prstDash val="solid"/>
          </a:ln>
        </p:spPr>
      </p:sp>
      <p:sp>
        <p:nvSpPr>
          <p:cNvPr id="14" name="Build commands text"/>
          <p:cNvSpPr txBox="1"/>
          <p:nvPr/>
        </p:nvSpPr>
        <p:spPr>
          <a:xfrm>
            <a:off x="749808" y="3209544"/>
            <a:ext cx="5404104" cy="2221992"/>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build the workspace</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mkdir -p ~/ros2_ws/src &amp;&amp; cd ~/ros2_ws/src</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git clone -b real-robot-nav-web-app \</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https://github.com/febintjames/autonomousrobot.git</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cd ~/ros2_ws</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rosdep install --from-paths src --ignore-src -r -y</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colcon build --symlink-install</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source install/setup.bash</a:t>
            </a:r>
            <a:endParaRPr lang="en-US" sz="1300" dirty="0"/>
          </a:p>
        </p:txBody>
      </p:sp>
      <p:sp>
        <p:nvSpPr>
          <p:cNvPr id="15" name="CMakeLists snippet background"/>
          <p:cNvSpPr/>
          <p:nvPr/>
        </p:nvSpPr>
        <p:spPr>
          <a:xfrm>
            <a:off x="6537960" y="3063240"/>
            <a:ext cx="5102352" cy="2514600"/>
          </a:xfrm>
          <a:prstGeom prst="roundRect">
            <a:avLst>
              <a:gd name="adj" fmla="val 2909"/>
            </a:avLst>
          </a:prstGeom>
          <a:solidFill>
            <a:schemeClr val="tx1"/>
          </a:solidFill>
          <a:ln w="6350">
            <a:solidFill>
              <a:schemeClr val="tx1"/>
            </a:solidFill>
            <a:prstDash val="solid"/>
          </a:ln>
        </p:spPr>
      </p:sp>
      <p:sp>
        <p:nvSpPr>
          <p:cNvPr id="16" name="CMakeLists snippet text"/>
          <p:cNvSpPr txBox="1"/>
          <p:nvPr/>
        </p:nvSpPr>
        <p:spPr>
          <a:xfrm>
            <a:off x="6739128" y="3209544"/>
            <a:ext cx="4700016" cy="2221992"/>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CMakeLists.txt (bcr_bot)</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install(DIRECTORY launch meshes models</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urdf worlds rviz</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DESTINATION share/${PROJECT_NAME}/)</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install(DIRECTORY config/ DESTINATION</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share/${PROJECT_NAME}/config)</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install(PROGRAMS scripts/remapper.py</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DESTINATION lib/${PROJECT_NAME})</a:t>
            </a:r>
            <a:endParaRPr lang="en-US" sz="1300" dirty="0"/>
          </a:p>
        </p:txBody>
      </p:sp>
      <p:sp>
        <p:nvSpPr>
          <p:cNvPr id="17" name="Build tip"/>
          <p:cNvSpPr txBox="1"/>
          <p:nvPr/>
        </p:nvSpPr>
        <p:spPr>
          <a:xfrm>
            <a:off x="548640" y="5715000"/>
            <a:ext cx="11091672" cy="411480"/>
          </a:xfrm>
          <a:prstGeom prst="rect">
            <a:avLst/>
          </a:prstGeom>
          <a:noFill/>
          <a:ln/>
        </p:spPr>
        <p:txBody>
          <a:bodyPr wrap="square" lIns="0" tIns="0" rIns="0" bIns="0" rtlCol="0" anchor="t"/>
          <a:lstStyle/>
          <a:p>
            <a:pPr algn="l" indent="0" marL="0">
              <a:buNone/>
            </a:pPr>
            <a:r>
              <a:rPr lang="en-US" sz="1400" b="1" dirty="0">
                <a:solidFill>
                  <a:schemeClr val="accent1"/>
                </a:solidFill>
              </a:rPr>
              <a:t>Tip: </a:t>
            </a:r>
            <a:pPr algn="l" indent="0" marL="0">
              <a:buNone/>
            </a:pPr>
            <a:r>
              <a:rPr lang="en-US" sz="1400" dirty="0">
                <a:solidFill>
                  <a:schemeClr val="tx1"/>
                </a:solidFill>
              </a:rPr>
              <a:t>with --symlink-install, edits to existing launch and config files work without rebuilding; new files still need colcon build.</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The robot model: links connected by joints, written in Xacro</a:t>
            </a:r>
            <a:endParaRPr lang="en-US" sz="2800" dirty="0"/>
          </a:p>
        </p:txBody>
      </p:sp>
      <p:sp>
        <p:nvSpPr>
          <p:cNvPr id="4" name="base_footprint"/>
          <p:cNvSpPr/>
          <p:nvPr/>
        </p:nvSpPr>
        <p:spPr>
          <a:xfrm>
            <a:off x="548640" y="1463040"/>
            <a:ext cx="2011680" cy="502920"/>
          </a:xfrm>
          <a:prstGeom prst="roundRect">
            <a:avLst>
              <a:gd name="adj" fmla="val 14545"/>
            </a:avLst>
          </a:prstGeom>
          <a:solidFill>
            <a:schemeClr val="tx2"/>
          </a:solidFill>
          <a:ln w="6350">
            <a:solidFill>
              <a:schemeClr val="tx2"/>
            </a:solid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base_footprint</a:t>
            </a:r>
            <a:endParaRPr lang="en-US" sz="1300" dirty="0"/>
          </a:p>
        </p:txBody>
      </p:sp>
      <p:sp>
        <p:nvSpPr>
          <p:cNvPr id="5" name="footprint to base"/>
          <p:cNvSpPr/>
          <p:nvPr/>
        </p:nvSpPr>
        <p:spPr>
          <a:xfrm>
            <a:off x="1554480" y="1965960"/>
            <a:ext cx="0" cy="365760"/>
          </a:xfrm>
          <a:prstGeom prst="line">
            <a:avLst/>
          </a:prstGeom>
          <a:noFill/>
          <a:ln w="22225">
            <a:solidFill>
              <a:schemeClr val="accent6"/>
            </a:solidFill>
            <a:prstDash val="solid"/>
            <a:tailEnd type="triangle"/>
          </a:ln>
        </p:spPr>
      </p:sp>
      <p:sp>
        <p:nvSpPr>
          <p:cNvPr id="6" name="base_link"/>
          <p:cNvSpPr/>
          <p:nvPr/>
        </p:nvSpPr>
        <p:spPr>
          <a:xfrm>
            <a:off x="548640" y="2331720"/>
            <a:ext cx="2011680" cy="502920"/>
          </a:xfrm>
          <a:prstGeom prst="roundRect">
            <a:avLst>
              <a:gd name="adj" fmla="val 14545"/>
            </a:avLst>
          </a:prstGeom>
          <a:solidFill>
            <a:schemeClr val="tx2"/>
          </a:solidFill>
          <a:ln w="6350">
            <a:solidFill>
              <a:schemeClr val="tx2"/>
            </a:solidFill>
          </a:ln>
        </p:spPr>
        <p:txBody>
          <a:bodyPr wrap="square" lIns="76200" tIns="76200" rIns="76200" bIns="762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base_link</a:t>
            </a:r>
            <a:endParaRPr lang="en-US" sz="1300" dirty="0"/>
          </a:p>
        </p:txBody>
      </p:sp>
      <p:sp>
        <p:nvSpPr>
          <p:cNvPr id="7" name="Tree trunk link"/>
          <p:cNvSpPr/>
          <p:nvPr/>
        </p:nvSpPr>
        <p:spPr>
          <a:xfrm>
            <a:off x="2560320" y="2583180"/>
            <a:ext cx="228600" cy="0"/>
          </a:xfrm>
          <a:prstGeom prst="line">
            <a:avLst/>
          </a:prstGeom>
          <a:noFill/>
          <a:ln w="22225">
            <a:solidFill>
              <a:schemeClr val="accent6"/>
            </a:solidFill>
            <a:prstDash val="solid"/>
          </a:ln>
        </p:spPr>
      </p:sp>
      <p:sp>
        <p:nvSpPr>
          <p:cNvPr id="8" name="Tree trunk"/>
          <p:cNvSpPr/>
          <p:nvPr/>
        </p:nvSpPr>
        <p:spPr>
          <a:xfrm>
            <a:off x="2788920" y="1700784"/>
            <a:ext cx="0" cy="3840480"/>
          </a:xfrm>
          <a:prstGeom prst="line">
            <a:avLst/>
          </a:prstGeom>
          <a:noFill/>
          <a:ln w="22225">
            <a:solidFill>
              <a:schemeClr val="accent6"/>
            </a:solidFill>
            <a:prstDash val="solid"/>
          </a:ln>
        </p:spPr>
      </p:sp>
      <p:sp>
        <p:nvSpPr>
          <p:cNvPr id="9" name="Branch chassis_link"/>
          <p:cNvSpPr/>
          <p:nvPr/>
        </p:nvSpPr>
        <p:spPr>
          <a:xfrm>
            <a:off x="2788920" y="1700784"/>
            <a:ext cx="228600" cy="0"/>
          </a:xfrm>
          <a:prstGeom prst="line">
            <a:avLst/>
          </a:prstGeom>
          <a:noFill/>
          <a:ln w="22225">
            <a:solidFill>
              <a:schemeClr val="accent6"/>
            </a:solidFill>
            <a:prstDash val="solid"/>
            <a:tailEnd type="triangle"/>
          </a:ln>
        </p:spPr>
      </p:sp>
      <p:sp>
        <p:nvSpPr>
          <p:cNvPr id="10" name="Link chassis_link"/>
          <p:cNvSpPr/>
          <p:nvPr/>
        </p:nvSpPr>
        <p:spPr>
          <a:xfrm>
            <a:off x="3017520" y="1463040"/>
            <a:ext cx="3657600" cy="475488"/>
          </a:xfrm>
          <a:prstGeom prst="roundRect">
            <a:avLst>
              <a:gd name="adj" fmla="val 15385"/>
            </a:avLst>
          </a:prstGeom>
          <a:solidFill>
            <a:schemeClr val="accent3">
              <a:alpha val="18000"/>
            </a:schemeClr>
          </a:solidFill>
          <a:ln w="6350">
            <a:solidFill>
              <a:schemeClr val="accent3">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chassis_link</a:t>
            </a:r>
            <a:pPr algn="l" indent="0" marL="0">
              <a:buNone/>
            </a:pPr>
            <a:r>
              <a:rPr lang="en-US" sz="1200" dirty="0">
                <a:solidFill>
                  <a:schemeClr val="tx2"/>
                </a:solidFill>
              </a:rPr>
              <a:t>  fixed</a:t>
            </a:r>
            <a:endParaRPr lang="en-US" sz="1400" dirty="0"/>
          </a:p>
        </p:txBody>
      </p:sp>
      <p:sp>
        <p:nvSpPr>
          <p:cNvPr id="11" name="Branch middle_left_wheel"/>
          <p:cNvSpPr/>
          <p:nvPr/>
        </p:nvSpPr>
        <p:spPr>
          <a:xfrm>
            <a:off x="2788920" y="2340864"/>
            <a:ext cx="228600" cy="0"/>
          </a:xfrm>
          <a:prstGeom prst="line">
            <a:avLst/>
          </a:prstGeom>
          <a:noFill/>
          <a:ln w="22225">
            <a:solidFill>
              <a:schemeClr val="accent6"/>
            </a:solidFill>
            <a:prstDash val="solid"/>
            <a:tailEnd type="triangle"/>
          </a:ln>
        </p:spPr>
      </p:sp>
      <p:sp>
        <p:nvSpPr>
          <p:cNvPr id="12" name="Link middle_left_wheel"/>
          <p:cNvSpPr/>
          <p:nvPr/>
        </p:nvSpPr>
        <p:spPr>
          <a:xfrm>
            <a:off x="3017520" y="2103120"/>
            <a:ext cx="3657600" cy="475488"/>
          </a:xfrm>
          <a:prstGeom prst="roundRect">
            <a:avLst>
              <a:gd name="adj" fmla="val 15385"/>
            </a:avLst>
          </a:prstGeom>
          <a:solidFill>
            <a:schemeClr val="accent1">
              <a:alpha val="18000"/>
            </a:schemeClr>
          </a:solidFill>
          <a:ln w="6350">
            <a:solidFill>
              <a:schemeClr val="accent1">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middle_left_wheel</a:t>
            </a:r>
            <a:pPr algn="l" indent="0" marL="0">
              <a:buNone/>
            </a:pPr>
            <a:r>
              <a:rPr lang="en-US" sz="1200" dirty="0">
                <a:solidFill>
                  <a:schemeClr val="tx2"/>
                </a:solidFill>
              </a:rPr>
              <a:t>  continuous</a:t>
            </a:r>
            <a:endParaRPr lang="en-US" sz="1400" dirty="0"/>
          </a:p>
        </p:txBody>
      </p:sp>
      <p:sp>
        <p:nvSpPr>
          <p:cNvPr id="13" name="Branch middle_right_wheel"/>
          <p:cNvSpPr/>
          <p:nvPr/>
        </p:nvSpPr>
        <p:spPr>
          <a:xfrm>
            <a:off x="2788920" y="2980944"/>
            <a:ext cx="228600" cy="0"/>
          </a:xfrm>
          <a:prstGeom prst="line">
            <a:avLst/>
          </a:prstGeom>
          <a:noFill/>
          <a:ln w="22225">
            <a:solidFill>
              <a:schemeClr val="accent6"/>
            </a:solidFill>
            <a:prstDash val="solid"/>
            <a:tailEnd type="triangle"/>
          </a:ln>
        </p:spPr>
      </p:sp>
      <p:sp>
        <p:nvSpPr>
          <p:cNvPr id="14" name="Link middle_right_wheel"/>
          <p:cNvSpPr/>
          <p:nvPr/>
        </p:nvSpPr>
        <p:spPr>
          <a:xfrm>
            <a:off x="3017520" y="2743200"/>
            <a:ext cx="3657600" cy="475488"/>
          </a:xfrm>
          <a:prstGeom prst="roundRect">
            <a:avLst>
              <a:gd name="adj" fmla="val 15385"/>
            </a:avLst>
          </a:prstGeom>
          <a:solidFill>
            <a:schemeClr val="accent1">
              <a:alpha val="18000"/>
            </a:schemeClr>
          </a:solidFill>
          <a:ln w="6350">
            <a:solidFill>
              <a:schemeClr val="accent1">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middle_right_wheel</a:t>
            </a:r>
            <a:pPr algn="l" indent="0" marL="0">
              <a:buNone/>
            </a:pPr>
            <a:r>
              <a:rPr lang="en-US" sz="1200" dirty="0">
                <a:solidFill>
                  <a:schemeClr val="tx2"/>
                </a:solidFill>
              </a:rPr>
              <a:t>  continuous</a:t>
            </a:r>
            <a:endParaRPr lang="en-US" sz="1400" dirty="0"/>
          </a:p>
        </p:txBody>
      </p:sp>
      <p:sp>
        <p:nvSpPr>
          <p:cNvPr id="15" name="Branch front/back wheels ×4"/>
          <p:cNvSpPr/>
          <p:nvPr/>
        </p:nvSpPr>
        <p:spPr>
          <a:xfrm>
            <a:off x="2788920" y="3621024"/>
            <a:ext cx="228600" cy="0"/>
          </a:xfrm>
          <a:prstGeom prst="line">
            <a:avLst/>
          </a:prstGeom>
          <a:noFill/>
          <a:ln w="22225">
            <a:solidFill>
              <a:schemeClr val="accent6"/>
            </a:solidFill>
            <a:prstDash val="solid"/>
            <a:tailEnd type="triangle"/>
          </a:ln>
        </p:spPr>
      </p:sp>
      <p:sp>
        <p:nvSpPr>
          <p:cNvPr id="16" name="Link front/back wheels ×4"/>
          <p:cNvSpPr/>
          <p:nvPr/>
        </p:nvSpPr>
        <p:spPr>
          <a:xfrm>
            <a:off x="3017520" y="3383280"/>
            <a:ext cx="3657600" cy="475488"/>
          </a:xfrm>
          <a:prstGeom prst="roundRect">
            <a:avLst>
              <a:gd name="adj" fmla="val 15385"/>
            </a:avLst>
          </a:prstGeom>
          <a:solidFill>
            <a:schemeClr val="accent6">
              <a:alpha val="18000"/>
            </a:schemeClr>
          </a:solidFill>
          <a:ln w="6350">
            <a:solidFill>
              <a:schemeClr val="accent6">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front/back wheels ×4</a:t>
            </a:r>
            <a:pPr algn="l" indent="0" marL="0">
              <a:buNone/>
            </a:pPr>
            <a:r>
              <a:rPr lang="en-US" sz="1200" dirty="0">
                <a:solidFill>
                  <a:schemeClr val="tx2"/>
                </a:solidFill>
              </a:rPr>
              <a:t>  fixed</a:t>
            </a:r>
            <a:endParaRPr lang="en-US" sz="1400" dirty="0"/>
          </a:p>
        </p:txBody>
      </p:sp>
      <p:sp>
        <p:nvSpPr>
          <p:cNvPr id="17" name="Branch two_d_lidar"/>
          <p:cNvSpPr/>
          <p:nvPr/>
        </p:nvSpPr>
        <p:spPr>
          <a:xfrm>
            <a:off x="2788920" y="4261104"/>
            <a:ext cx="228600" cy="0"/>
          </a:xfrm>
          <a:prstGeom prst="line">
            <a:avLst/>
          </a:prstGeom>
          <a:noFill/>
          <a:ln w="22225">
            <a:solidFill>
              <a:schemeClr val="accent6"/>
            </a:solidFill>
            <a:prstDash val="solid"/>
            <a:tailEnd type="triangle"/>
          </a:ln>
        </p:spPr>
      </p:sp>
      <p:sp>
        <p:nvSpPr>
          <p:cNvPr id="18" name="Link two_d_lidar"/>
          <p:cNvSpPr/>
          <p:nvPr/>
        </p:nvSpPr>
        <p:spPr>
          <a:xfrm>
            <a:off x="3017520" y="4023360"/>
            <a:ext cx="3657600" cy="475488"/>
          </a:xfrm>
          <a:prstGeom prst="roundRect">
            <a:avLst>
              <a:gd name="adj" fmla="val 15385"/>
            </a:avLst>
          </a:prstGeom>
          <a:solidFill>
            <a:schemeClr val="accent2">
              <a:alpha val="18000"/>
            </a:schemeClr>
          </a:solidFill>
          <a:ln w="6350">
            <a:solidFill>
              <a:schemeClr val="accent2">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two_d_lidar</a:t>
            </a:r>
            <a:pPr algn="l" indent="0" marL="0">
              <a:buNone/>
            </a:pPr>
            <a:r>
              <a:rPr lang="en-US" sz="1200" dirty="0">
                <a:solidFill>
                  <a:schemeClr val="tx2"/>
                </a:solidFill>
              </a:rPr>
              <a:t>  fixed</a:t>
            </a:r>
            <a:endParaRPr lang="en-US" sz="1400" dirty="0"/>
          </a:p>
        </p:txBody>
      </p:sp>
      <p:sp>
        <p:nvSpPr>
          <p:cNvPr id="19" name="Branch imu_frame"/>
          <p:cNvSpPr/>
          <p:nvPr/>
        </p:nvSpPr>
        <p:spPr>
          <a:xfrm>
            <a:off x="2788920" y="4901184"/>
            <a:ext cx="228600" cy="0"/>
          </a:xfrm>
          <a:prstGeom prst="line">
            <a:avLst/>
          </a:prstGeom>
          <a:noFill/>
          <a:ln w="22225">
            <a:solidFill>
              <a:schemeClr val="accent6"/>
            </a:solidFill>
            <a:prstDash val="solid"/>
            <a:tailEnd type="triangle"/>
          </a:ln>
        </p:spPr>
      </p:sp>
      <p:sp>
        <p:nvSpPr>
          <p:cNvPr id="20" name="Link imu_frame"/>
          <p:cNvSpPr/>
          <p:nvPr/>
        </p:nvSpPr>
        <p:spPr>
          <a:xfrm>
            <a:off x="3017520" y="4663440"/>
            <a:ext cx="3657600" cy="475488"/>
          </a:xfrm>
          <a:prstGeom prst="roundRect">
            <a:avLst>
              <a:gd name="adj" fmla="val 15385"/>
            </a:avLst>
          </a:prstGeom>
          <a:solidFill>
            <a:schemeClr val="accent2">
              <a:alpha val="18000"/>
            </a:schemeClr>
          </a:solidFill>
          <a:ln w="6350">
            <a:solidFill>
              <a:schemeClr val="accent2">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imu_frame</a:t>
            </a:r>
            <a:pPr algn="l" indent="0" marL="0">
              <a:buNone/>
            </a:pPr>
            <a:r>
              <a:rPr lang="en-US" sz="1200" dirty="0">
                <a:solidFill>
                  <a:schemeClr val="tx2"/>
                </a:solidFill>
              </a:rPr>
              <a:t>  fixed</a:t>
            </a:r>
            <a:endParaRPr lang="en-US" sz="1400" dirty="0"/>
          </a:p>
        </p:txBody>
      </p:sp>
      <p:sp>
        <p:nvSpPr>
          <p:cNvPr id="21" name="Branch kinect_camera"/>
          <p:cNvSpPr/>
          <p:nvPr/>
        </p:nvSpPr>
        <p:spPr>
          <a:xfrm>
            <a:off x="2788920" y="5541264"/>
            <a:ext cx="228600" cy="0"/>
          </a:xfrm>
          <a:prstGeom prst="line">
            <a:avLst/>
          </a:prstGeom>
          <a:noFill/>
          <a:ln w="22225">
            <a:solidFill>
              <a:schemeClr val="accent6"/>
            </a:solidFill>
            <a:prstDash val="solid"/>
            <a:tailEnd type="triangle"/>
          </a:ln>
        </p:spPr>
      </p:sp>
      <p:sp>
        <p:nvSpPr>
          <p:cNvPr id="22" name="Link kinect_camera"/>
          <p:cNvSpPr/>
          <p:nvPr/>
        </p:nvSpPr>
        <p:spPr>
          <a:xfrm>
            <a:off x="3017520" y="5303520"/>
            <a:ext cx="3657600" cy="475488"/>
          </a:xfrm>
          <a:prstGeom prst="roundRect">
            <a:avLst>
              <a:gd name="adj" fmla="val 15385"/>
            </a:avLst>
          </a:prstGeom>
          <a:solidFill>
            <a:schemeClr val="accent2">
              <a:alpha val="18000"/>
            </a:schemeClr>
          </a:solidFill>
          <a:ln w="6350">
            <a:solidFill>
              <a:schemeClr val="accent2">
                <a:alpha val="18000"/>
              </a:schemeClr>
            </a:solidFill>
          </a:ln>
        </p:spPr>
        <p:txBody>
          <a:bodyPr wrap="square" lIns="101600" tIns="101600" rIns="101600" bIns="10160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kinect_camera</a:t>
            </a:r>
            <a:pPr algn="l" indent="0" marL="0">
              <a:buNone/>
            </a:pPr>
            <a:r>
              <a:rPr lang="en-US" sz="1200" dirty="0">
                <a:solidFill>
                  <a:schemeClr val="tx2"/>
                </a:solidFill>
              </a:rPr>
              <a:t>  fixed</a:t>
            </a:r>
            <a:endParaRPr lang="en-US" sz="1400" dirty="0"/>
          </a:p>
        </p:txBody>
      </p:sp>
      <p:sp>
        <p:nvSpPr>
          <p:cNvPr id="23" name="Xacro snippet background"/>
          <p:cNvSpPr/>
          <p:nvPr/>
        </p:nvSpPr>
        <p:spPr>
          <a:xfrm>
            <a:off x="6949440" y="1463040"/>
            <a:ext cx="4690872" cy="2331720"/>
          </a:xfrm>
          <a:prstGeom prst="roundRect">
            <a:avLst>
              <a:gd name="adj" fmla="val 3137"/>
            </a:avLst>
          </a:prstGeom>
          <a:solidFill>
            <a:schemeClr val="tx1"/>
          </a:solidFill>
          <a:ln w="6350">
            <a:solidFill>
              <a:schemeClr val="tx1"/>
            </a:solidFill>
            <a:prstDash val="solid"/>
          </a:ln>
        </p:spPr>
      </p:sp>
      <p:sp>
        <p:nvSpPr>
          <p:cNvPr id="24" name="Xacro snippet text"/>
          <p:cNvSpPr txBox="1"/>
          <p:nvPr/>
        </p:nvSpPr>
        <p:spPr>
          <a:xfrm>
            <a:off x="7150608" y="1609344"/>
            <a:ext cx="4288536" cy="2039112"/>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&lt;xacro:property</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  name="traction_wheel_radius" value="0.1"/&gt;</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&lt;xacro:property</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  name="traction_track_width" value="0.6"/&gt;</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&lt;xacro:arg name="two_d_lidar_enabled"</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  default="false"/&gt;</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&lt;xacro:traction_wheel dexterity="left"</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  origin_y="${traction_track_width/2}"/&gt;</a:t>
            </a:r>
            <a:endParaRPr lang="en-US" sz="1200" dirty="0"/>
          </a:p>
        </p:txBody>
      </p:sp>
      <p:sp>
        <p:nvSpPr>
          <p:cNvPr id="25" name="URDF terms"/>
          <p:cNvSpPr txBox="1"/>
          <p:nvPr/>
        </p:nvSpPr>
        <p:spPr>
          <a:xfrm>
            <a:off x="6949440" y="4023360"/>
            <a:ext cx="4690872" cy="2103120"/>
          </a:xfrm>
          <a:prstGeom prst="rect">
            <a:avLst/>
          </a:prstGeom>
          <a:noFill/>
          <a:ln/>
        </p:spPr>
        <p:txBody>
          <a:bodyPr wrap="square" lIns="0" tIns="0" rIns="0" bIns="0" rtlCol="0" anchor="t"/>
          <a:lstStyle/>
          <a:p>
            <a:pPr algn="l" marL="342900" indent="-342900">
              <a:spcAft>
                <a:spcPts val="800"/>
              </a:spcAft>
              <a:buSzPct val="100000"/>
              <a:buChar char="•"/>
            </a:pPr>
            <a:r>
              <a:rPr lang="en-US" sz="1500" b="1" dirty="0">
                <a:solidFill>
                  <a:schemeClr val="tx1"/>
                </a:solidFill>
              </a:rPr>
              <a:t>Link</a:t>
            </a:r>
            <a:pPr algn="l" marL="342900" indent="-342900">
              <a:spcAft>
                <a:spcPts val="800"/>
              </a:spcAft>
              <a:buSzPct val="100000"/>
              <a:buChar char="•"/>
            </a:pPr>
            <a:r>
              <a:rPr lang="en-US" sz="1500" dirty="0">
                <a:solidFill>
                  <a:schemeClr val="tx1"/>
                </a:solidFill>
              </a:rPr>
              <a:t> = rigid part with visual, collision and inertia</a:t>
            </a:r>
            <a:endParaRPr lang="en-US" sz="1500" dirty="0"/>
          </a:p>
          <a:p>
            <a:pPr algn="l" marL="342900" indent="-342900">
              <a:spcAft>
                <a:spcPts val="800"/>
              </a:spcAft>
              <a:buSzPct val="100000"/>
              <a:buChar char="•"/>
            </a:pPr>
            <a:r>
              <a:rPr lang="en-US" sz="1500" b="1" dirty="0">
                <a:solidFill>
                  <a:schemeClr val="tx1"/>
                </a:solidFill>
              </a:rPr>
              <a:t>Joint</a:t>
            </a:r>
            <a:pPr algn="l" marL="342900" indent="-342900">
              <a:spcAft>
                <a:spcPts val="800"/>
              </a:spcAft>
              <a:buSzPct val="100000"/>
              <a:buChar char="•"/>
            </a:pPr>
            <a:r>
              <a:rPr lang="en-US" sz="1500" dirty="0">
                <a:solidFill>
                  <a:schemeClr val="tx1"/>
                </a:solidFill>
              </a:rPr>
              <a:t> = how two links connect: fixed, continuous (wheels), revolute</a:t>
            </a:r>
            <a:endParaRPr lang="en-US" sz="1500" dirty="0"/>
          </a:p>
          <a:p>
            <a:pPr algn="l" marL="342900" indent="-342900">
              <a:spcAft>
                <a:spcPts val="800"/>
              </a:spcAft>
              <a:buSzPct val="100000"/>
              <a:buChar char="•"/>
            </a:pPr>
            <a:r>
              <a:rPr lang="en-US" sz="1500" b="1" dirty="0">
                <a:solidFill>
                  <a:schemeClr val="tx1"/>
                </a:solidFill>
              </a:rPr>
              <a:t>Xacro</a:t>
            </a:r>
            <a:pPr algn="l" marL="342900" indent="-342900">
              <a:spcAft>
                <a:spcPts val="800"/>
              </a:spcAft>
              <a:buSzPct val="100000"/>
              <a:buChar char="•"/>
            </a:pPr>
            <a:r>
              <a:rPr lang="en-US" sz="1500" dirty="0">
                <a:solidFill>
                  <a:schemeClr val="tx1"/>
                </a:solidFill>
              </a:rPr>
              <a:t> = URDF + variables, macros and if-switches: one file, many robot variants</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Gazebo plugins turn the model into a virtual robot</a:t>
            </a:r>
            <a:endParaRPr lang="en-US" sz="2800" dirty="0"/>
          </a:p>
        </p:txBody>
      </p:sp>
      <p:graphicFrame>
        <p:nvGraphicFramePr>
          <p:cNvPr id="12" name="Gazebo plugin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383280"/>
                <a:gridCol w="4754880"/>
                <a:gridCol w="2953512"/>
              </a:tblGrid>
              <a:tr h="502920">
                <a:tc>
                  <a:txBody>
                    <a:bodyPr/>
                    <a:lstStyle/>
                    <a:p>
                      <a:pPr indent="0" marL="0">
                        <a:buNone/>
                      </a:pPr>
                      <a:r>
                        <a:rPr lang="en-US" sz="1400" b="1" dirty="0">
                          <a:solidFill>
                            <a:schemeClr val="bg1"/>
                          </a:solidFill>
                        </a:rPr>
                        <a:t>Plugin (urdf/gazebo.xacro)</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simulates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ROS 2 interface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50292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libgazebo_ros_diff_drive</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Two driven wheels: turns cmd_vel into motion and reports odometry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sub cmd_vel · pub odom + TF</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0292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libgazebo_ros_ray_sensor</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2D LiDAR: 361 rays, 30 Hz, 0.55–16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 scan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libgazebo_ros_imu_sensor</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IMU (gyro + accelerometer), 5 Hz</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 imu</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0292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libgazebo_ros_camera</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Kinect depth camera and stereo camera</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 image + depth topics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libgazebo_ros_p3d</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Exact ground-truth pose for debugging</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 p3d_ground_truth</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5" name="Simulation warning card"/>
          <p:cNvSpPr/>
          <p:nvPr/>
        </p:nvSpPr>
        <p:spPr>
          <a:xfrm>
            <a:off x="548640" y="4663440"/>
            <a:ext cx="11091672" cy="1417320"/>
          </a:xfrm>
          <a:prstGeom prst="roundRect">
            <a:avLst>
              <a:gd name="adj" fmla="val 6452"/>
            </a:avLst>
          </a:prstGeom>
          <a:solidFill>
            <a:schemeClr val="accent1">
              <a:alpha val="12000"/>
            </a:schemeClr>
          </a:solidFill>
          <a:ln w="6350">
            <a:solidFill>
              <a:schemeClr val="accent1">
                <a:alpha val="12000"/>
              </a:schemeClr>
            </a:solidFill>
            <a:prstDash val="solid"/>
          </a:ln>
        </p:spPr>
      </p:sp>
      <p:sp>
        <p:nvSpPr>
          <p:cNvPr id="6" name="Warning tile"/>
          <p:cNvSpPr/>
          <p:nvPr/>
        </p:nvSpPr>
        <p:spPr>
          <a:xfrm>
            <a:off x="777240" y="4937760"/>
            <a:ext cx="822960" cy="822960"/>
          </a:xfrm>
          <a:prstGeom prst="roundRect">
            <a:avLst>
              <a:gd name="adj" fmla="val 20000"/>
            </a:avLst>
          </a:prstGeom>
          <a:solidFill>
            <a:schemeClr val="accent1"/>
          </a:solidFill>
          <a:ln w="6350">
            <a:solidFill>
              <a:schemeClr val="accent1"/>
            </a:solidFill>
            <a:prstDash val="solid"/>
          </a:ln>
        </p:spPr>
      </p:sp>
      <p:pic>
        <p:nvPicPr>
          <p:cNvPr id="7" name="Warning icon" descr="preencoded.png">    </p:cNvPr>
          <p:cNvPicPr>
            <a:picLocks noChangeAspect="1"/>
          </p:cNvPicPr>
          <p:nvPr/>
        </p:nvPicPr>
        <p:blipFill>
          <a:blip r:embed="rId1"/>
          <a:stretch>
            <a:fillRect/>
          </a:stretch>
        </p:blipFill>
        <p:spPr>
          <a:xfrm>
            <a:off x="958291" y="5118811"/>
            <a:ext cx="460858" cy="460858"/>
          </a:xfrm>
          <a:prstGeom prst="rect">
            <a:avLst/>
          </a:prstGeom>
        </p:spPr>
      </p:pic>
      <p:sp>
        <p:nvSpPr>
          <p:cNvPr id="8" name="Simulation warning text"/>
          <p:cNvSpPr txBox="1"/>
          <p:nvPr/>
        </p:nvSpPr>
        <p:spPr>
          <a:xfrm>
            <a:off x="1828800" y="4800600"/>
            <a:ext cx="9601200" cy="1143000"/>
          </a:xfrm>
          <a:prstGeom prst="rect">
            <a:avLst/>
          </a:prstGeom>
          <a:noFill/>
          <a:ln/>
        </p:spPr>
        <p:txBody>
          <a:bodyPr wrap="square" lIns="0" tIns="0" rIns="0" bIns="0" rtlCol="0" anchor="ctr"/>
          <a:lstStyle/>
          <a:p>
            <a:pPr algn="l" indent="0" marL="0">
              <a:buNone/>
            </a:pPr>
            <a:r>
              <a:rPr lang="en-US" sz="1500" b="1" dirty="0">
                <a:solidFill>
                  <a:schemeClr val="tx1"/>
                </a:solidFill>
              </a:rPr>
              <a:t>odometry_source:=world makes Gazebo report PERFECT odometry. </a:t>
            </a:r>
            <a:pPr algn="l" indent="0" marL="0">
              <a:buNone/>
            </a:pPr>
            <a:r>
              <a:rPr lang="en-US" sz="1500" dirty="0">
                <a:solidFill>
                  <a:schemeClr val="tx1"/>
                </a:solidFill>
              </a:rPr>
              <a:t>Real wheels slip and encoders miscount, so a robot that drives perfectly in simulation can wander on a real floor. On the real robot every plugin above is replaced by a real driver (Module 4).</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Five launch commands run the whole system</a:t>
            </a:r>
            <a:endParaRPr lang="en-US" sz="2800" dirty="0"/>
          </a:p>
        </p:txBody>
      </p:sp>
      <p:graphicFrame>
        <p:nvGraphicFramePr>
          <p:cNvPr id="13" name="Launch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5349240"/>
                <a:gridCol w="3931920"/>
                <a:gridCol w="1810512"/>
              </a:tblGrid>
              <a:tr h="658368">
                <a:tc>
                  <a:txBody>
                    <a:bodyPr/>
                    <a:lstStyle/>
                    <a:p>
                      <a:pPr indent="0" marL="0">
                        <a:buNone/>
                      </a:pPr>
                      <a:r>
                        <a:rPr lang="en-US" sz="1400" b="1" dirty="0">
                          <a:solidFill>
                            <a:schemeClr val="bg1"/>
                          </a:solidFill>
                        </a:rPr>
                        <a:t>Command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starts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Use it for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65836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launch bcr_bot gazebo.launch.py</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Gazebo, warehouse world, robot_state_publisher, spawn_entity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Simulation only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5836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launch bcr_bot robot_bringup.launch.py</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RPLidar driver, base_link → laser TF, ESP32 motor + odometry driver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Real robot (new)</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launch bcr_bot mapping.launch.py</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slam_toolbox (online async) + RViz</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Making a map</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5836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launch bcr_bot nav2.launch.py map:=…</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map_server, AMCL, planner, controller, BT navigator, RViz</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Navigating</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launch table_nav_web table_nav_web.launch.py</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Web server on port 8080</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Going to tables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5" name="Launch arguments"/>
          <p:cNvSpPr txBox="1"/>
          <p:nvPr/>
        </p:nvSpPr>
        <p:spPr>
          <a:xfrm>
            <a:off x="548640" y="5577840"/>
            <a:ext cx="11091672" cy="502920"/>
          </a:xfrm>
          <a:prstGeom prst="rect">
            <a:avLst/>
          </a:prstGeom>
          <a:noFill/>
          <a:ln/>
        </p:spPr>
        <p:txBody>
          <a:bodyPr wrap="square" lIns="0" tIns="0" rIns="0" bIns="0" rtlCol="0" anchor="ctr"/>
          <a:lstStyle/>
          <a:p>
            <a:pPr algn="l" indent="0" marL="0">
              <a:buNone/>
            </a:pPr>
            <a:r>
              <a:rPr lang="en-US" sz="1400" b="1" dirty="0">
                <a:solidFill>
                  <a:schemeClr val="tx1"/>
                </a:solidFill>
              </a:rPr>
              <a:t>Launch arguments (no file editing): </a:t>
            </a:r>
            <a:pPr algn="l" indent="0" marL="0">
              <a:buNone/>
            </a:pPr>
            <a:r>
              <a:rPr lang="en-US" sz="1300" b="1" dirty="0">
                <a:solidFill>
                  <a:schemeClr val="accent2"/>
                </a:solidFill>
                <a:latin typeface="Courier New" pitchFamily="34" charset="0"/>
                <a:ea typeface="Courier New" pitchFamily="34" charset="-122"/>
                <a:cs typeface="Courier New" pitchFamily="34" charset="-120"/>
              </a:rPr>
              <a:t>two_d_lidar_enabled:=True   map:=$HOME/maps/my_map.yaml   use_rviz:=False</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TF: every frame has one parent and exactly one publisher</a:t>
            </a:r>
            <a:endParaRPr lang="en-US" sz="2800" dirty="0"/>
          </a:p>
        </p:txBody>
      </p:sp>
      <p:sp>
        <p:nvSpPr>
          <p:cNvPr id="4" name="Frame map"/>
          <p:cNvSpPr/>
          <p:nvPr/>
        </p:nvSpPr>
        <p:spPr>
          <a:xfrm>
            <a:off x="822960" y="1463040"/>
            <a:ext cx="2194560" cy="640080"/>
          </a:xfrm>
          <a:prstGeom prst="roundRect">
            <a:avLst>
              <a:gd name="adj" fmla="val 11429"/>
            </a:avLst>
          </a:prstGeom>
          <a:solidFill>
            <a:schemeClr val="tx2"/>
          </a:solidFill>
          <a:ln w="6350">
            <a:solidFill>
              <a:schemeClr val="tx2"/>
            </a:solid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map</a:t>
            </a:r>
            <a:endParaRPr lang="en-US" sz="1800" dirty="0"/>
          </a:p>
        </p:txBody>
      </p:sp>
      <p:sp>
        <p:nvSpPr>
          <p:cNvPr id="5" name="Frame odom"/>
          <p:cNvSpPr/>
          <p:nvPr/>
        </p:nvSpPr>
        <p:spPr>
          <a:xfrm>
            <a:off x="822960" y="2788920"/>
            <a:ext cx="2194560" cy="640080"/>
          </a:xfrm>
          <a:prstGeom prst="roundRect">
            <a:avLst>
              <a:gd name="adj" fmla="val 11429"/>
            </a:avLst>
          </a:prstGeom>
          <a:solidFill>
            <a:schemeClr val="tx2"/>
          </a:solidFill>
          <a:ln w="6350">
            <a:solidFill>
              <a:schemeClr val="tx2"/>
            </a:solid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odom</a:t>
            </a:r>
            <a:endParaRPr lang="en-US" sz="1800" dirty="0"/>
          </a:p>
        </p:txBody>
      </p:sp>
      <p:sp>
        <p:nvSpPr>
          <p:cNvPr id="6" name="Frame base_link"/>
          <p:cNvSpPr/>
          <p:nvPr/>
        </p:nvSpPr>
        <p:spPr>
          <a:xfrm>
            <a:off x="822960" y="4114800"/>
            <a:ext cx="2194560" cy="640080"/>
          </a:xfrm>
          <a:prstGeom prst="roundRect">
            <a:avLst>
              <a:gd name="adj" fmla="val 11429"/>
            </a:avLst>
          </a:prstGeom>
          <a:solidFill>
            <a:schemeClr val="tx2"/>
          </a:solidFill>
          <a:ln w="6350">
            <a:solidFill>
              <a:schemeClr val="tx2"/>
            </a:solid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base_link</a:t>
            </a:r>
            <a:endParaRPr lang="en-US" sz="1800" dirty="0"/>
          </a:p>
        </p:txBody>
      </p:sp>
      <p:sp>
        <p:nvSpPr>
          <p:cNvPr id="7" name="Frame laser"/>
          <p:cNvSpPr/>
          <p:nvPr/>
        </p:nvSpPr>
        <p:spPr>
          <a:xfrm>
            <a:off x="822960" y="5440680"/>
            <a:ext cx="2194560" cy="640080"/>
          </a:xfrm>
          <a:prstGeom prst="roundRect">
            <a:avLst>
              <a:gd name="adj" fmla="val 11429"/>
            </a:avLst>
          </a:prstGeom>
          <a:solidFill>
            <a:schemeClr val="tx2"/>
          </a:solidFill>
          <a:ln w="6350">
            <a:solidFill>
              <a:schemeClr val="tx2"/>
            </a:solidFill>
          </a:ln>
        </p:spPr>
        <p:txBody>
          <a:bodyPr wrap="square" lIns="76200" tIns="76200" rIns="76200" bIns="762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laser</a:t>
            </a:r>
            <a:endParaRPr lang="en-US" sz="1800" dirty="0"/>
          </a:p>
        </p:txBody>
      </p:sp>
      <p:sp>
        <p:nvSpPr>
          <p:cNvPr id="8" name="TF arrow 1"/>
          <p:cNvSpPr/>
          <p:nvPr/>
        </p:nvSpPr>
        <p:spPr>
          <a:xfrm>
            <a:off x="1920240" y="2130552"/>
            <a:ext cx="0" cy="630936"/>
          </a:xfrm>
          <a:prstGeom prst="line">
            <a:avLst/>
          </a:prstGeom>
          <a:noFill/>
          <a:ln w="31750">
            <a:solidFill>
              <a:schemeClr val="accent2"/>
            </a:solidFill>
            <a:prstDash val="solid"/>
            <a:tailEnd type="triangle"/>
          </a:ln>
        </p:spPr>
      </p:sp>
      <p:sp>
        <p:nvSpPr>
          <p:cNvPr id="9" name="TF publisher 1"/>
          <p:cNvSpPr txBox="1"/>
          <p:nvPr/>
        </p:nvSpPr>
        <p:spPr>
          <a:xfrm>
            <a:off x="2240280" y="2148840"/>
            <a:ext cx="5029200" cy="594360"/>
          </a:xfrm>
          <a:prstGeom prst="rect">
            <a:avLst/>
          </a:prstGeom>
          <a:noFill/>
          <a:ln/>
        </p:spPr>
        <p:txBody>
          <a:bodyPr wrap="square" lIns="0" tIns="0" rIns="0" bIns="0" rtlCol="0" anchor="ctr"/>
          <a:lstStyle/>
          <a:p>
            <a:pPr algn="l" indent="0" marL="0">
              <a:buNone/>
            </a:pPr>
            <a:r>
              <a:rPr lang="en-US" sz="1400" b="1" dirty="0">
                <a:solidFill>
                  <a:schemeClr val="accent2"/>
                </a:solidFill>
              </a:rPr>
              <a:t>AMCL (navigation) or slam_toolbox (mapping)</a:t>
            </a:r>
            <a:endParaRPr lang="en-US" sz="1400" dirty="0"/>
          </a:p>
          <a:p>
            <a:pPr algn="l" indent="0" marL="0">
              <a:buNone/>
            </a:pPr>
            <a:r>
              <a:rPr lang="en-US" sz="1400" dirty="0">
                <a:solidFill>
                  <a:schemeClr val="tx2"/>
                </a:solidFill>
              </a:rPr>
              <a:t>corrects drift — may jump</a:t>
            </a:r>
            <a:endParaRPr lang="en-US" sz="1400" dirty="0"/>
          </a:p>
        </p:txBody>
      </p:sp>
      <p:sp>
        <p:nvSpPr>
          <p:cNvPr id="10" name="TF arrow 2"/>
          <p:cNvSpPr/>
          <p:nvPr/>
        </p:nvSpPr>
        <p:spPr>
          <a:xfrm>
            <a:off x="1920240" y="3456432"/>
            <a:ext cx="0" cy="630936"/>
          </a:xfrm>
          <a:prstGeom prst="line">
            <a:avLst/>
          </a:prstGeom>
          <a:noFill/>
          <a:ln w="31750">
            <a:solidFill>
              <a:schemeClr val="accent1"/>
            </a:solidFill>
            <a:prstDash val="solid"/>
            <a:tailEnd type="triangle"/>
          </a:ln>
        </p:spPr>
      </p:sp>
      <p:sp>
        <p:nvSpPr>
          <p:cNvPr id="11" name="TF publisher 2"/>
          <p:cNvSpPr txBox="1"/>
          <p:nvPr/>
        </p:nvSpPr>
        <p:spPr>
          <a:xfrm>
            <a:off x="2240280" y="3474720"/>
            <a:ext cx="5029200" cy="594360"/>
          </a:xfrm>
          <a:prstGeom prst="rect">
            <a:avLst/>
          </a:prstGeom>
          <a:noFill/>
          <a:ln/>
        </p:spPr>
        <p:txBody>
          <a:bodyPr wrap="square" lIns="0" tIns="0" rIns="0" bIns="0" rtlCol="0" anchor="ctr"/>
          <a:lstStyle/>
          <a:p>
            <a:pPr algn="l" indent="0" marL="0">
              <a:buNone/>
            </a:pPr>
            <a:r>
              <a:rPr lang="en-US" sz="1400" b="1" dirty="0">
                <a:solidFill>
                  <a:schemeClr val="accent1"/>
                </a:solidFill>
              </a:rPr>
              <a:t>esp32_driver (encoders) OR rf2o (laser)</a:t>
            </a:r>
            <a:endParaRPr lang="en-US" sz="1400" dirty="0"/>
          </a:p>
          <a:p>
            <a:pPr algn="l" indent="0" marL="0">
              <a:buNone/>
            </a:pPr>
            <a:r>
              <a:rPr lang="en-US" sz="1400" dirty="0">
                <a:solidFill>
                  <a:schemeClr val="tx2"/>
                </a:solidFill>
              </a:rPr>
              <a:t>smooth — drifts slowly — exactly ONE</a:t>
            </a:r>
            <a:endParaRPr lang="en-US" sz="1400" dirty="0"/>
          </a:p>
        </p:txBody>
      </p:sp>
      <p:sp>
        <p:nvSpPr>
          <p:cNvPr id="12" name="TF arrow 3"/>
          <p:cNvSpPr/>
          <p:nvPr/>
        </p:nvSpPr>
        <p:spPr>
          <a:xfrm>
            <a:off x="1920240" y="4782312"/>
            <a:ext cx="0" cy="630936"/>
          </a:xfrm>
          <a:prstGeom prst="line">
            <a:avLst/>
          </a:prstGeom>
          <a:noFill/>
          <a:ln w="31750">
            <a:solidFill>
              <a:schemeClr val="accent3"/>
            </a:solidFill>
            <a:prstDash val="solid"/>
            <a:tailEnd type="triangle"/>
          </a:ln>
        </p:spPr>
      </p:sp>
      <p:sp>
        <p:nvSpPr>
          <p:cNvPr id="13" name="TF publisher 3"/>
          <p:cNvSpPr txBox="1"/>
          <p:nvPr/>
        </p:nvSpPr>
        <p:spPr>
          <a:xfrm>
            <a:off x="2240280" y="4800600"/>
            <a:ext cx="5029200" cy="594360"/>
          </a:xfrm>
          <a:prstGeom prst="rect">
            <a:avLst/>
          </a:prstGeom>
          <a:noFill/>
          <a:ln/>
        </p:spPr>
        <p:txBody>
          <a:bodyPr wrap="square" lIns="0" tIns="0" rIns="0" bIns="0" rtlCol="0" anchor="ctr"/>
          <a:lstStyle/>
          <a:p>
            <a:pPr algn="l" indent="0" marL="0">
              <a:buNone/>
            </a:pPr>
            <a:r>
              <a:rPr lang="en-US" sz="1400" b="1" dirty="0">
                <a:solidFill>
                  <a:schemeClr val="accent3"/>
                </a:solidFill>
              </a:rPr>
              <a:t>static transform (robot_bringup / URDF)</a:t>
            </a:r>
            <a:endParaRPr lang="en-US" sz="1400" dirty="0"/>
          </a:p>
          <a:p>
            <a:pPr algn="l" indent="0" marL="0">
              <a:buNone/>
            </a:pPr>
            <a:r>
              <a:rPr lang="en-US" sz="1400" dirty="0">
                <a:solidFill>
                  <a:schemeClr val="tx2"/>
                </a:solidFill>
              </a:rPr>
              <a:t>where the LiDAR is mounted</a:t>
            </a:r>
            <a:endParaRPr lang="en-US" sz="1400" dirty="0"/>
          </a:p>
        </p:txBody>
      </p:sp>
      <p:sp>
        <p:nvSpPr>
          <p:cNvPr id="14" name="TF rules card"/>
          <p:cNvSpPr/>
          <p:nvPr/>
        </p:nvSpPr>
        <p:spPr>
          <a:xfrm>
            <a:off x="7589520" y="1463040"/>
            <a:ext cx="4050792" cy="4617720"/>
          </a:xfrm>
          <a:prstGeom prst="roundRect">
            <a:avLst>
              <a:gd name="adj" fmla="val 2257"/>
            </a:avLst>
          </a:prstGeom>
          <a:solidFill>
            <a:schemeClr val="bg2"/>
          </a:solidFill>
          <a:ln w="6350">
            <a:solidFill>
              <a:schemeClr val="bg2"/>
            </a:solidFill>
            <a:prstDash val="solid"/>
          </a:ln>
        </p:spPr>
      </p:sp>
      <p:sp>
        <p:nvSpPr>
          <p:cNvPr id="15" name="TF rules tile"/>
          <p:cNvSpPr/>
          <p:nvPr/>
        </p:nvSpPr>
        <p:spPr>
          <a:xfrm>
            <a:off x="7818120" y="1691640"/>
            <a:ext cx="548640" cy="548640"/>
          </a:xfrm>
          <a:prstGeom prst="roundRect">
            <a:avLst>
              <a:gd name="adj" fmla="val 20000"/>
            </a:avLst>
          </a:prstGeom>
          <a:solidFill>
            <a:schemeClr val="accent1"/>
          </a:solidFill>
          <a:ln w="6350">
            <a:solidFill>
              <a:schemeClr val="accent1"/>
            </a:solidFill>
            <a:prstDash val="solid"/>
          </a:ln>
        </p:spPr>
      </p:sp>
      <p:pic>
        <p:nvPicPr>
          <p:cNvPr id="16" name="TF rules icon" descr="preencoded.png">    </p:cNvPr>
          <p:cNvPicPr>
            <a:picLocks noChangeAspect="1"/>
          </p:cNvPicPr>
          <p:nvPr/>
        </p:nvPicPr>
        <p:blipFill>
          <a:blip r:embed="rId1"/>
          <a:stretch>
            <a:fillRect/>
          </a:stretch>
        </p:blipFill>
        <p:spPr>
          <a:xfrm>
            <a:off x="7938821" y="1812341"/>
            <a:ext cx="307238" cy="307238"/>
          </a:xfrm>
          <a:prstGeom prst="rect">
            <a:avLst/>
          </a:prstGeom>
        </p:spPr>
      </p:pic>
      <p:sp>
        <p:nvSpPr>
          <p:cNvPr id="17" name="TF rules title"/>
          <p:cNvSpPr txBox="1"/>
          <p:nvPr/>
        </p:nvSpPr>
        <p:spPr>
          <a:xfrm>
            <a:off x="8503920" y="1691640"/>
            <a:ext cx="3017520" cy="548640"/>
          </a:xfrm>
          <a:prstGeom prst="rect">
            <a:avLst/>
          </a:prstGeom>
          <a:noFill/>
          <a:ln/>
        </p:spPr>
        <p:txBody>
          <a:bodyPr wrap="square" lIns="0" tIns="0" rIns="0" bIns="0" rtlCol="0" anchor="ctr"/>
          <a:lstStyle/>
          <a:p>
            <a:pPr algn="l" indent="0" marL="0">
              <a:buNone/>
            </a:pPr>
            <a:r>
              <a:rPr lang="en-US" sz="1800" b="1" dirty="0">
                <a:solidFill>
                  <a:schemeClr val="tx1"/>
                </a:solidFill>
              </a:rPr>
              <a:t>Rules students forget</a:t>
            </a:r>
            <a:endParaRPr lang="en-US" sz="1800" dirty="0"/>
          </a:p>
        </p:txBody>
      </p:sp>
      <p:sp>
        <p:nvSpPr>
          <p:cNvPr id="18" name="TF rules list"/>
          <p:cNvSpPr txBox="1"/>
          <p:nvPr/>
        </p:nvSpPr>
        <p:spPr>
          <a:xfrm>
            <a:off x="7818120" y="2423160"/>
            <a:ext cx="3611880" cy="352044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Only ONE node may publish each transform. Two odometry publishers make the pose flicker.</a:t>
            </a:r>
            <a:endParaRPr lang="en-US" sz="1500" dirty="0"/>
          </a:p>
          <a:p>
            <a:pPr algn="l" marL="342900" indent="-342900">
              <a:spcAft>
                <a:spcPts val="1000"/>
              </a:spcAft>
              <a:buSzPct val="100000"/>
              <a:buChar char="•"/>
            </a:pPr>
            <a:r>
              <a:rPr lang="en-US" sz="1500" dirty="0">
                <a:solidFill>
                  <a:schemeClr val="tx1"/>
                </a:solidFill>
              </a:rPr>
              <a:t>map → odom appears only after AMCL gets an initial pose.</a:t>
            </a:r>
            <a:endParaRPr lang="en-US" sz="1500" dirty="0"/>
          </a:p>
          <a:p>
            <a:pPr algn="l" marL="342900" indent="-342900">
              <a:spcAft>
                <a:spcPts val="1000"/>
              </a:spcAft>
              <a:buSzPct val="100000"/>
              <a:buChar char="•"/>
            </a:pPr>
            <a:r>
              <a:rPr lang="en-US" sz="1500" dirty="0">
                <a:solidFill>
                  <a:schemeClr val="tx1"/>
                </a:solidFill>
              </a:rPr>
              <a:t>A wrong laser yaw puts obstacles behind the robot.</a:t>
            </a:r>
            <a:endParaRPr lang="en-US" sz="1500" dirty="0"/>
          </a:p>
          <a:p>
            <a:pPr algn="l" marL="342900" indent="-342900">
              <a:spcAft>
                <a:spcPts val="1000"/>
              </a:spcAft>
              <a:buSzPct val="100000"/>
              <a:buChar char="•"/>
            </a:pPr>
            <a:r>
              <a:rPr lang="en-US" sz="1500" dirty="0">
                <a:solidFill>
                  <a:schemeClr val="tx1"/>
                </a:solidFill>
              </a:rPr>
              <a:t>Check: </a:t>
            </a:r>
            <a:pPr algn="l" marL="342900" indent="-342900">
              <a:spcAft>
                <a:spcPts val="1000"/>
              </a:spcAft>
              <a:buSzPct val="100000"/>
              <a:buChar char="•"/>
            </a:pPr>
            <a:r>
              <a:rPr lang="en-US" sz="1300" dirty="0">
                <a:solidFill>
                  <a:schemeClr val="accent2"/>
                </a:solidFill>
                <a:latin typeface="Courier New" pitchFamily="34" charset="0"/>
                <a:ea typeface="Courier New" pitchFamily="34" charset="-122"/>
                <a:cs typeface="Courier New" pitchFamily="34" charset="-120"/>
              </a:rPr>
              <a:t>ros2 run tf2_tools view_frames</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number"/>
          <p:cNvSpPr txBox="1"/>
          <p:nvPr/>
        </p:nvSpPr>
        <p:spPr>
          <a:xfrm>
            <a:off x="731520" y="1143000"/>
            <a:ext cx="2743200" cy="1280160"/>
          </a:xfrm>
          <a:prstGeom prst="rect">
            <a:avLst/>
          </a:prstGeom>
          <a:noFill/>
          <a:ln/>
        </p:spPr>
        <p:txBody>
          <a:bodyPr wrap="square" lIns="0" tIns="0" rIns="0" bIns="0" rtlCol="0" anchor="b"/>
          <a:lstStyle/>
          <a:p>
            <a:pPr indent="0" marL="0">
              <a:buNone/>
            </a:pPr>
            <a:r>
              <a:rPr lang="en-US" sz="8000" b="1" dirty="0">
                <a:solidFill>
                  <a:schemeClr val="accent1"/>
                </a:solidFill>
              </a:rPr>
              <a:t>03</a:t>
            </a:r>
            <a:endParaRPr lang="en-US" sz="8000" dirty="0"/>
          </a:p>
        </p:txBody>
      </p:sp>
      <p:sp>
        <p:nvSpPr>
          <p:cNvPr id="3" name="Text 0"/>
          <p:cNvSpPr/>
          <p:nvPr>
            <p:ph idx="100" type="title" hasCustomPrompt="1"/>
          </p:nvPr>
        </p:nvSpPr>
        <p:spPr>
          <a:xfrm>
            <a:off x="731520" y="2514600"/>
            <a:ext cx="7680960" cy="1280160"/>
          </a:xfrm>
          <a:prstGeom prst="rect">
            <a:avLst/>
          </a:prstGeom>
          <a:noFill/>
          <a:ln/>
        </p:spPr>
        <p:txBody>
          <a:bodyPr wrap="square" lIns="0" tIns="0" rIns="0" bIns="0" rtlCol="0" anchor="b"/>
          <a:lstStyle/>
          <a:p>
            <a:pPr algn="l" indent="0" marL="0">
              <a:buNone/>
            </a:pPr>
            <a:r>
              <a:rPr lang="en-US" sz="4000" b="1" dirty="0">
                <a:solidFill>
                  <a:schemeClr val="bg1"/>
                </a:solidFill>
              </a:rPr>
              <a:t>The algorithms</a:t>
            </a:r>
            <a:endParaRPr lang="en-US" sz="4000" dirty="0"/>
          </a:p>
        </p:txBody>
      </p:sp>
      <p:sp>
        <p:nvSpPr>
          <p:cNvPr id="4" name="Text 0"/>
          <p:cNvSpPr/>
          <p:nvPr>
            <p:ph idx="101" type="body" hasCustomPrompt="1"/>
          </p:nvPr>
        </p:nvSpPr>
        <p:spPr>
          <a:xfrm>
            <a:off x="731520" y="397764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What each package computes — with the formulas and the parameter values we use</a:t>
            </a:r>
            <a:endParaRPr lang="en-US" sz="1800" dirty="0"/>
          </a:p>
        </p:txBody>
      </p:sp>
      <p:sp>
        <p:nvSpPr>
          <p:cNvPr id="5" name="Section icon circle"/>
          <p:cNvSpPr/>
          <p:nvPr/>
        </p:nvSpPr>
        <p:spPr>
          <a:xfrm>
            <a:off x="8823960" y="2057400"/>
            <a:ext cx="2560320" cy="2560320"/>
          </a:xfrm>
          <a:prstGeom prst="ellipse">
            <a:avLst/>
          </a:prstGeom>
          <a:solidFill>
            <a:schemeClr val="accent2"/>
          </a:solidFill>
          <a:ln w="12700">
            <a:solidFill>
              <a:schemeClr val="accent2"/>
            </a:solidFill>
            <a:prstDash val="solid"/>
          </a:ln>
        </p:spPr>
      </p:sp>
      <p:pic>
        <p:nvPicPr>
          <p:cNvPr id="6" name="Section icon" descr="preencoded.png">    </p:cNvPr>
          <p:cNvPicPr>
            <a:picLocks noChangeAspect="1"/>
          </p:cNvPicPr>
          <p:nvPr/>
        </p:nvPicPr>
        <p:blipFill>
          <a:blip r:embed="rId1"/>
          <a:stretch>
            <a:fillRect/>
          </a:stretch>
        </p:blipFill>
        <p:spPr>
          <a:xfrm>
            <a:off x="9464040" y="2697480"/>
            <a:ext cx="1280160" cy="12801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Differential drive: two wheel speeds give any forward and turning speed</a:t>
            </a:r>
            <a:endParaRPr lang="en-US" sz="2800" dirty="0"/>
          </a:p>
        </p:txBody>
      </p:sp>
      <p:sp>
        <p:nvSpPr>
          <p:cNvPr id="4" name="Robot body"/>
          <p:cNvSpPr/>
          <p:nvPr/>
        </p:nvSpPr>
        <p:spPr>
          <a:xfrm>
            <a:off x="1417320" y="2148840"/>
            <a:ext cx="2651760" cy="2834640"/>
          </a:xfrm>
          <a:prstGeom prst="roundRect">
            <a:avLst>
              <a:gd name="adj" fmla="val 3448"/>
            </a:avLst>
          </a:prstGeom>
          <a:solidFill>
            <a:schemeClr val="bg2"/>
          </a:solidFill>
          <a:ln w="6350">
            <a:solidFill>
              <a:schemeClr val="bg2"/>
            </a:solidFill>
            <a:prstDash val="solid"/>
          </a:ln>
        </p:spPr>
      </p:sp>
      <p:sp>
        <p:nvSpPr>
          <p:cNvPr id="5" name="Left wheel"/>
          <p:cNvSpPr/>
          <p:nvPr/>
        </p:nvSpPr>
        <p:spPr>
          <a:xfrm>
            <a:off x="1097280" y="3063240"/>
            <a:ext cx="320040" cy="1005840"/>
          </a:xfrm>
          <a:prstGeom prst="roundRect">
            <a:avLst>
              <a:gd name="adj" fmla="val 17143"/>
            </a:avLst>
          </a:prstGeom>
          <a:solidFill>
            <a:schemeClr val="tx1"/>
          </a:solidFill>
          <a:ln w="12700">
            <a:solidFill>
              <a:schemeClr val="tx1"/>
            </a:solidFill>
            <a:prstDash val="solid"/>
          </a:ln>
        </p:spPr>
      </p:sp>
      <p:sp>
        <p:nvSpPr>
          <p:cNvPr id="6" name="Right wheel"/>
          <p:cNvSpPr/>
          <p:nvPr/>
        </p:nvSpPr>
        <p:spPr>
          <a:xfrm>
            <a:off x="4069080" y="3063240"/>
            <a:ext cx="320040" cy="1005840"/>
          </a:xfrm>
          <a:prstGeom prst="roundRect">
            <a:avLst>
              <a:gd name="adj" fmla="val 17143"/>
            </a:avLst>
          </a:prstGeom>
          <a:solidFill>
            <a:schemeClr val="tx1"/>
          </a:solidFill>
          <a:ln w="12700">
            <a:solidFill>
              <a:schemeClr val="tx1"/>
            </a:solidFill>
            <a:prstDash val="solid"/>
          </a:ln>
        </p:spPr>
      </p:sp>
      <p:sp>
        <p:nvSpPr>
          <p:cNvPr id="7" name="v_l arrow"/>
          <p:cNvSpPr/>
          <p:nvPr/>
        </p:nvSpPr>
        <p:spPr>
          <a:xfrm flipV="1">
            <a:off x="1257300" y="2148840"/>
            <a:ext cx="0" cy="868680"/>
          </a:xfrm>
          <a:prstGeom prst="line">
            <a:avLst/>
          </a:prstGeom>
          <a:noFill/>
          <a:ln w="38100">
            <a:solidFill>
              <a:schemeClr val="accent3"/>
            </a:solidFill>
            <a:prstDash val="solid"/>
            <a:tailEnd type="triangle"/>
          </a:ln>
        </p:spPr>
      </p:sp>
      <p:sp>
        <p:nvSpPr>
          <p:cNvPr id="8" name="v_r arrow"/>
          <p:cNvSpPr/>
          <p:nvPr/>
        </p:nvSpPr>
        <p:spPr>
          <a:xfrm flipV="1">
            <a:off x="4229100" y="1463040"/>
            <a:ext cx="0" cy="1554480"/>
          </a:xfrm>
          <a:prstGeom prst="line">
            <a:avLst/>
          </a:prstGeom>
          <a:noFill/>
          <a:ln w="38100">
            <a:solidFill>
              <a:schemeClr val="accent3"/>
            </a:solidFill>
            <a:prstDash val="solid"/>
            <a:tailEnd type="triangle"/>
          </a:ln>
        </p:spPr>
      </p:sp>
      <p:sp>
        <p:nvSpPr>
          <p:cNvPr id="9" name="v_l label"/>
          <p:cNvSpPr txBox="1"/>
          <p:nvPr/>
        </p:nvSpPr>
        <p:spPr>
          <a:xfrm>
            <a:off x="548640" y="2103120"/>
            <a:ext cx="640080" cy="365760"/>
          </a:xfrm>
          <a:prstGeom prst="rect">
            <a:avLst/>
          </a:prstGeom>
          <a:noFill/>
          <a:ln/>
        </p:spPr>
        <p:txBody>
          <a:bodyPr wrap="square" lIns="0" tIns="0" rIns="0" bIns="0" rtlCol="0" anchor="t"/>
          <a:lstStyle/>
          <a:p>
            <a:pPr algn="l" indent="0" marL="0">
              <a:buNone/>
            </a:pPr>
            <a:r>
              <a:rPr lang="en-US" sz="1600" b="1" i="1" dirty="0">
                <a:solidFill>
                  <a:schemeClr val="accent3"/>
                </a:solidFill>
              </a:rPr>
              <a:t>v_l</a:t>
            </a:r>
            <a:endParaRPr lang="en-US" sz="1600" dirty="0"/>
          </a:p>
        </p:txBody>
      </p:sp>
      <p:sp>
        <p:nvSpPr>
          <p:cNvPr id="10" name="v_r label"/>
          <p:cNvSpPr txBox="1"/>
          <p:nvPr/>
        </p:nvSpPr>
        <p:spPr>
          <a:xfrm>
            <a:off x="4389120" y="1463040"/>
            <a:ext cx="640080" cy="365760"/>
          </a:xfrm>
          <a:prstGeom prst="rect">
            <a:avLst/>
          </a:prstGeom>
          <a:noFill/>
          <a:ln/>
        </p:spPr>
        <p:txBody>
          <a:bodyPr wrap="square" lIns="0" tIns="0" rIns="0" bIns="0" rtlCol="0" anchor="t"/>
          <a:lstStyle/>
          <a:p>
            <a:pPr algn="l" indent="0" marL="0">
              <a:buNone/>
            </a:pPr>
            <a:r>
              <a:rPr lang="en-US" sz="1600" b="1" i="1" dirty="0">
                <a:solidFill>
                  <a:schemeClr val="accent3"/>
                </a:solidFill>
              </a:rPr>
              <a:t>v_r</a:t>
            </a:r>
            <a:endParaRPr lang="en-US" sz="1600" dirty="0"/>
          </a:p>
        </p:txBody>
      </p:sp>
      <p:sp>
        <p:nvSpPr>
          <p:cNvPr id="11" name="v arrow"/>
          <p:cNvSpPr/>
          <p:nvPr/>
        </p:nvSpPr>
        <p:spPr>
          <a:xfrm flipV="1">
            <a:off x="2743200" y="2514600"/>
            <a:ext cx="0" cy="1143000"/>
          </a:xfrm>
          <a:prstGeom prst="line">
            <a:avLst/>
          </a:prstGeom>
          <a:noFill/>
          <a:ln w="44450">
            <a:solidFill>
              <a:schemeClr val="accent1"/>
            </a:solidFill>
            <a:prstDash val="solid"/>
            <a:tailEnd type="triangle"/>
          </a:ln>
        </p:spPr>
      </p:sp>
      <p:sp>
        <p:nvSpPr>
          <p:cNvPr id="12" name="v label"/>
          <p:cNvSpPr txBox="1"/>
          <p:nvPr/>
        </p:nvSpPr>
        <p:spPr>
          <a:xfrm>
            <a:off x="2834640" y="2468880"/>
            <a:ext cx="914400" cy="365760"/>
          </a:xfrm>
          <a:prstGeom prst="rect">
            <a:avLst/>
          </a:prstGeom>
          <a:noFill/>
          <a:ln/>
        </p:spPr>
        <p:txBody>
          <a:bodyPr wrap="square" lIns="0" tIns="0" rIns="0" bIns="0" rtlCol="0" anchor="t"/>
          <a:lstStyle/>
          <a:p>
            <a:pPr algn="l" indent="0" marL="0">
              <a:buNone/>
            </a:pPr>
            <a:r>
              <a:rPr lang="en-US" sz="1600" b="1" i="1" dirty="0">
                <a:solidFill>
                  <a:schemeClr val="accent1"/>
                </a:solidFill>
              </a:rPr>
              <a:t>v, ω</a:t>
            </a:r>
            <a:endParaRPr lang="en-US" sz="1600" dirty="0"/>
          </a:p>
        </p:txBody>
      </p:sp>
      <p:sp>
        <p:nvSpPr>
          <p:cNvPr id="13" name="Robot centre"/>
          <p:cNvSpPr/>
          <p:nvPr/>
        </p:nvSpPr>
        <p:spPr>
          <a:xfrm>
            <a:off x="2651760" y="3566160"/>
            <a:ext cx="182880" cy="182880"/>
          </a:xfrm>
          <a:prstGeom prst="ellipse">
            <a:avLst/>
          </a:prstGeom>
          <a:solidFill>
            <a:schemeClr val="accent1"/>
          </a:solidFill>
          <a:ln w="12700">
            <a:solidFill>
              <a:schemeClr val="accent1"/>
            </a:solidFill>
            <a:prstDash val="solid"/>
          </a:ln>
        </p:spPr>
      </p:sp>
      <p:sp>
        <p:nvSpPr>
          <p:cNvPr id="14" name="W dimension"/>
          <p:cNvSpPr/>
          <p:nvPr/>
        </p:nvSpPr>
        <p:spPr>
          <a:xfrm>
            <a:off x="1257300" y="5349240"/>
            <a:ext cx="2971800" cy="0"/>
          </a:xfrm>
          <a:prstGeom prst="line">
            <a:avLst/>
          </a:prstGeom>
          <a:noFill/>
          <a:ln w="19050">
            <a:solidFill>
              <a:schemeClr val="tx2"/>
            </a:solidFill>
            <a:prstDash val="solid"/>
            <a:headEnd type="triangle"/>
            <a:tailEnd type="triangle"/>
          </a:ln>
        </p:spPr>
      </p:sp>
      <p:sp>
        <p:nvSpPr>
          <p:cNvPr id="15" name="W label"/>
          <p:cNvSpPr txBox="1"/>
          <p:nvPr/>
        </p:nvSpPr>
        <p:spPr>
          <a:xfrm>
            <a:off x="914400" y="5440680"/>
            <a:ext cx="3657600" cy="365760"/>
          </a:xfrm>
          <a:prstGeom prst="rect">
            <a:avLst/>
          </a:prstGeom>
          <a:noFill/>
          <a:ln/>
        </p:spPr>
        <p:txBody>
          <a:bodyPr wrap="square" lIns="0" tIns="0" rIns="0" bIns="0" rtlCol="0" anchor="t"/>
          <a:lstStyle/>
          <a:p>
            <a:pPr algn="ctr" indent="0" marL="0">
              <a:buNone/>
            </a:pPr>
            <a:r>
              <a:rPr lang="en-US" sz="1400" dirty="0">
                <a:solidFill>
                  <a:schemeClr val="tx2"/>
                </a:solidFill>
              </a:rPr>
              <a:t>W = wheel separation = 0.34 m</a:t>
            </a:r>
            <a:endParaRPr lang="en-US" sz="1400" dirty="0"/>
          </a:p>
        </p:txBody>
      </p:sp>
      <p:sp>
        <p:nvSpPr>
          <p:cNvPr id="16" name="Forward label"/>
          <p:cNvSpPr txBox="1"/>
          <p:nvPr/>
        </p:nvSpPr>
        <p:spPr>
          <a:xfrm>
            <a:off x="2331720" y="1783080"/>
            <a:ext cx="822960" cy="320040"/>
          </a:xfrm>
          <a:prstGeom prst="rect">
            <a:avLst/>
          </a:prstGeom>
          <a:noFill/>
          <a:ln/>
        </p:spPr>
        <p:txBody>
          <a:bodyPr wrap="square" lIns="0" tIns="0" rIns="0" bIns="0" rtlCol="0" anchor="t"/>
          <a:lstStyle/>
          <a:p>
            <a:pPr algn="ctr" indent="0" marL="0">
              <a:buNone/>
            </a:pPr>
            <a:r>
              <a:rPr lang="en-US" sz="1200" dirty="0">
                <a:solidFill>
                  <a:schemeClr val="accent6"/>
                </a:solidFill>
              </a:rPr>
              <a:t>forward</a:t>
            </a:r>
            <a:endParaRPr lang="en-US" sz="1200" dirty="0"/>
          </a:p>
        </p:txBody>
      </p:sp>
      <p:sp>
        <p:nvSpPr>
          <p:cNvPr id="17" name="Formula card"/>
          <p:cNvSpPr/>
          <p:nvPr/>
        </p:nvSpPr>
        <p:spPr>
          <a:xfrm>
            <a:off x="5577840" y="1417320"/>
            <a:ext cx="6062472" cy="4663440"/>
          </a:xfrm>
          <a:prstGeom prst="roundRect">
            <a:avLst>
              <a:gd name="adj" fmla="val 1961"/>
            </a:avLst>
          </a:prstGeom>
          <a:solidFill>
            <a:schemeClr val="bg2"/>
          </a:solidFill>
          <a:ln w="6350">
            <a:solidFill>
              <a:schemeClr val="bg2"/>
            </a:solidFill>
            <a:prstDash val="solid"/>
          </a:ln>
        </p:spPr>
      </p:sp>
      <p:sp>
        <p:nvSpPr>
          <p:cNvPr id="18" name="Formula heading 1"/>
          <p:cNvSpPr txBox="1"/>
          <p:nvPr/>
        </p:nvSpPr>
        <p:spPr>
          <a:xfrm>
            <a:off x="5852160" y="1600200"/>
            <a:ext cx="5486400" cy="365760"/>
          </a:xfrm>
          <a:prstGeom prst="rect">
            <a:avLst/>
          </a:prstGeom>
          <a:noFill/>
          <a:ln/>
        </p:spPr>
        <p:txBody>
          <a:bodyPr wrap="square" lIns="0" tIns="0" rIns="0" bIns="0" rtlCol="0" anchor="t"/>
          <a:lstStyle/>
          <a:p>
            <a:pPr algn="l" indent="0" marL="0">
              <a:buNone/>
            </a:pPr>
            <a:r>
              <a:rPr lang="en-US" sz="1600" b="1" dirty="0">
                <a:solidFill>
                  <a:schemeClr val="accent2"/>
                </a:solidFill>
              </a:rPr>
              <a:t>Robot → wheels  (esp32_driver)</a:t>
            </a:r>
            <a:endParaRPr lang="en-US" sz="1600" dirty="0"/>
          </a:p>
        </p:txBody>
      </p:sp>
      <p:sp>
        <p:nvSpPr>
          <p:cNvPr id="19" name="Inverse kinematics"/>
          <p:cNvSpPr txBox="1"/>
          <p:nvPr/>
        </p:nvSpPr>
        <p:spPr>
          <a:xfrm>
            <a:off x="5852160" y="2011680"/>
            <a:ext cx="5486400" cy="868680"/>
          </a:xfrm>
          <a:prstGeom prst="rect">
            <a:avLst/>
          </a:prstGeom>
          <a:noFill/>
          <a:ln/>
        </p:spPr>
        <p:txBody>
          <a:bodyPr wrap="square" lIns="0" tIns="0" rIns="0" bIns="0" rtlCol="0" anchor="t"/>
          <a:lstStyle/>
          <a:p>
            <a:pPr algn="l" indent="0" marL="0">
              <a:buNone/>
            </a:pPr>
            <a:r>
              <a:rPr lang="en-US" sz="2200" i="1" dirty="0">
                <a:solidFill>
                  <a:schemeClr val="tx1"/>
                </a:solidFill>
                <a:latin typeface="Cambria" pitchFamily="34" charset="0"/>
                <a:ea typeface="Cambria" pitchFamily="34" charset="-122"/>
                <a:cs typeface="Cambria" pitchFamily="34" charset="-120"/>
              </a:rPr>
              <a:t>v_l = v − ω·W/2</a:t>
            </a:r>
            <a:endParaRPr lang="en-US" sz="2200" dirty="0"/>
          </a:p>
          <a:p>
            <a:pPr algn="l" indent="0" marL="0">
              <a:buNone/>
            </a:pPr>
            <a:r>
              <a:rPr lang="en-US" sz="2200" i="1" dirty="0">
                <a:solidFill>
                  <a:schemeClr val="tx1"/>
                </a:solidFill>
                <a:latin typeface="Cambria" pitchFamily="34" charset="0"/>
                <a:ea typeface="Cambria" pitchFamily="34" charset="-122"/>
                <a:cs typeface="Cambria" pitchFamily="34" charset="-120"/>
              </a:rPr>
              <a:t>v_r = v + ω·W/2</a:t>
            </a:r>
            <a:endParaRPr lang="en-US" sz="2200" dirty="0"/>
          </a:p>
        </p:txBody>
      </p:sp>
      <p:sp>
        <p:nvSpPr>
          <p:cNvPr id="20" name="Formula heading 2"/>
          <p:cNvSpPr txBox="1"/>
          <p:nvPr/>
        </p:nvSpPr>
        <p:spPr>
          <a:xfrm>
            <a:off x="5852160" y="2971800"/>
            <a:ext cx="5486400" cy="365760"/>
          </a:xfrm>
          <a:prstGeom prst="rect">
            <a:avLst/>
          </a:prstGeom>
          <a:noFill/>
          <a:ln/>
        </p:spPr>
        <p:txBody>
          <a:bodyPr wrap="square" lIns="0" tIns="0" rIns="0" bIns="0" rtlCol="0" anchor="t"/>
          <a:lstStyle/>
          <a:p>
            <a:pPr algn="l" indent="0" marL="0">
              <a:buNone/>
            </a:pPr>
            <a:r>
              <a:rPr lang="en-US" sz="1600" b="1" dirty="0">
                <a:solidFill>
                  <a:schemeClr val="accent2"/>
                </a:solidFill>
              </a:rPr>
              <a:t>Wheels → robot  (odometry)</a:t>
            </a:r>
            <a:endParaRPr lang="en-US" sz="1600" dirty="0"/>
          </a:p>
        </p:txBody>
      </p:sp>
      <p:sp>
        <p:nvSpPr>
          <p:cNvPr id="21" name="Forward kinematics"/>
          <p:cNvSpPr txBox="1"/>
          <p:nvPr/>
        </p:nvSpPr>
        <p:spPr>
          <a:xfrm>
            <a:off x="5852160" y="3383280"/>
            <a:ext cx="5486400" cy="457200"/>
          </a:xfrm>
          <a:prstGeom prst="rect">
            <a:avLst/>
          </a:prstGeom>
          <a:noFill/>
          <a:ln/>
        </p:spPr>
        <p:txBody>
          <a:bodyPr wrap="square" lIns="0" tIns="0" rIns="0" bIns="0" rtlCol="0" anchor="t"/>
          <a:lstStyle/>
          <a:p>
            <a:pPr algn="l" indent="0" marL="0">
              <a:buNone/>
            </a:pPr>
            <a:r>
              <a:rPr lang="en-US" sz="2200" i="1" dirty="0">
                <a:solidFill>
                  <a:schemeClr val="tx1"/>
                </a:solidFill>
                <a:latin typeface="Cambria" pitchFamily="34" charset="0"/>
                <a:ea typeface="Cambria" pitchFamily="34" charset="-122"/>
                <a:cs typeface="Cambria" pitchFamily="34" charset="-120"/>
              </a:rPr>
              <a:t>v = (v_r + v_l)/2      ω = (v_r − v_l)/W</a:t>
            </a:r>
            <a:endParaRPr lang="en-US" sz="2200" dirty="0"/>
          </a:p>
        </p:txBody>
      </p:sp>
      <p:sp>
        <p:nvSpPr>
          <p:cNvPr id="22" name="Kinematics example"/>
          <p:cNvSpPr/>
          <p:nvPr/>
        </p:nvSpPr>
        <p:spPr>
          <a:xfrm>
            <a:off x="5852160" y="4069080"/>
            <a:ext cx="5513832" cy="1783080"/>
          </a:xfrm>
          <a:prstGeom prst="roundRect">
            <a:avLst>
              <a:gd name="adj" fmla="val 4103"/>
            </a:avLst>
          </a:prstGeom>
          <a:solidFill>
            <a:schemeClr val="bg1"/>
          </a:solidFill>
          <a:ln w="6350">
            <a:solidFill>
              <a:schemeClr val="bg1"/>
            </a:solidFill>
          </a:ln>
        </p:spPr>
        <p:txBody>
          <a:bodyPr wrap="square" lIns="127000" tIns="127000" rIns="127000" bIns="127000" rtlCol="0" anchor="ctr"/>
          <a:lstStyle/>
          <a:p>
            <a:pPr algn="l" indent="0" marL="0">
              <a:buNone/>
            </a:pPr>
            <a:r>
              <a:rPr lang="en-US" sz="1500" b="1" dirty="0">
                <a:solidFill>
                  <a:schemeClr val="tx1"/>
                </a:solidFill>
              </a:rPr>
              <a:t>Example: </a:t>
            </a:r>
            <a:pPr algn="l" indent="0" marL="0">
              <a:buNone/>
            </a:pPr>
            <a:r>
              <a:rPr lang="en-US" sz="1500" dirty="0">
                <a:solidFill>
                  <a:schemeClr val="tx1"/>
                </a:solidFill>
              </a:rPr>
              <a:t>v = 0.18 m/s, ω = 0.5 rad/s → v_l = 0.095 m/s, v_r = 0.265 m/s, turn radius R = v/ω = 0.36 m</a:t>
            </a:r>
            <a:endParaRPr lang="en-US" sz="1500" dirty="0"/>
          </a:p>
          <a:p>
            <a:pPr algn="l" indent="0" marL="0">
              <a:buNone/>
            </a:pPr>
            <a:r>
              <a:rPr lang="en-US" sz="1500" b="1" dirty="0">
                <a:solidFill>
                  <a:schemeClr val="accent1"/>
                </a:solidFill>
              </a:rPr>
              <a:t>Speed limit? Scale v and ω together — clamping one changes R and the curve.</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Wheel odometry: count encoder ticks and add up the motion</a:t>
            </a:r>
            <a:endParaRPr lang="en-US" sz="2800" dirty="0"/>
          </a:p>
        </p:txBody>
      </p:sp>
      <p:sp>
        <p:nvSpPr>
          <p:cNvPr id="4" name="Odometry step 1"/>
          <p:cNvSpPr/>
          <p:nvPr/>
        </p:nvSpPr>
        <p:spPr>
          <a:xfrm>
            <a:off x="548640" y="1572768"/>
            <a:ext cx="502920" cy="5029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Odometry step title 1"/>
          <p:cNvSpPr txBox="1"/>
          <p:nvPr/>
        </p:nvSpPr>
        <p:spPr>
          <a:xfrm>
            <a:off x="1234440" y="1463040"/>
            <a:ext cx="5760720" cy="347472"/>
          </a:xfrm>
          <a:prstGeom prst="rect">
            <a:avLst/>
          </a:prstGeom>
          <a:noFill/>
          <a:ln/>
        </p:spPr>
        <p:txBody>
          <a:bodyPr wrap="square" lIns="0" tIns="0" rIns="0" bIns="0" rtlCol="0" anchor="t"/>
          <a:lstStyle/>
          <a:p>
            <a:pPr algn="l" indent="0" marL="0">
              <a:buNone/>
            </a:pPr>
            <a:r>
              <a:rPr lang="en-US" sz="1600" b="1" dirty="0">
                <a:solidFill>
                  <a:schemeClr val="tx1"/>
                </a:solidFill>
              </a:rPr>
              <a:t>Ticks per wheel turn</a:t>
            </a:r>
            <a:endParaRPr lang="en-US" sz="1600" dirty="0"/>
          </a:p>
        </p:txBody>
      </p:sp>
      <p:sp>
        <p:nvSpPr>
          <p:cNvPr id="6" name="Odometry step formula 1"/>
          <p:cNvSpPr txBox="1"/>
          <p:nvPr/>
        </p:nvSpPr>
        <p:spPr>
          <a:xfrm>
            <a:off x="1234440" y="1810512"/>
            <a:ext cx="5760720" cy="411480"/>
          </a:xfrm>
          <a:prstGeom prst="rect">
            <a:avLst/>
          </a:prstGeom>
          <a:noFill/>
          <a:ln/>
        </p:spPr>
        <p:txBody>
          <a:bodyPr wrap="square" lIns="0" tIns="0" rIns="0" bIns="0" rtlCol="0" anchor="t"/>
          <a:lstStyle/>
          <a:p>
            <a:pPr algn="l" indent="0" marL="0">
              <a:buNone/>
            </a:pPr>
            <a:r>
              <a:rPr lang="en-US" sz="1600" i="1" dirty="0">
                <a:solidFill>
                  <a:schemeClr val="tx2"/>
                </a:solidFill>
                <a:latin typeface="Cambria" pitchFamily="34" charset="0"/>
                <a:ea typeface="Cambria" pitchFamily="34" charset="-122"/>
                <a:cs typeface="Cambria" pitchFamily="34" charset="-120"/>
              </a:rPr>
              <a:t>7 PPR × 19.2 gearbox × 4 (quadrature) = 537.6</a:t>
            </a:r>
            <a:endParaRPr lang="en-US" sz="1600" dirty="0"/>
          </a:p>
        </p:txBody>
      </p:sp>
      <p:sp>
        <p:nvSpPr>
          <p:cNvPr id="7" name="Odometry step 2"/>
          <p:cNvSpPr/>
          <p:nvPr/>
        </p:nvSpPr>
        <p:spPr>
          <a:xfrm>
            <a:off x="548640" y="2459736"/>
            <a:ext cx="502920" cy="5029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Odometry step title 2"/>
          <p:cNvSpPr txBox="1"/>
          <p:nvPr/>
        </p:nvSpPr>
        <p:spPr>
          <a:xfrm>
            <a:off x="1234440" y="2350008"/>
            <a:ext cx="5760720" cy="347472"/>
          </a:xfrm>
          <a:prstGeom prst="rect">
            <a:avLst/>
          </a:prstGeom>
          <a:noFill/>
          <a:ln/>
        </p:spPr>
        <p:txBody>
          <a:bodyPr wrap="square" lIns="0" tIns="0" rIns="0" bIns="0" rtlCol="0" anchor="t"/>
          <a:lstStyle/>
          <a:p>
            <a:pPr algn="l" indent="0" marL="0">
              <a:buNone/>
            </a:pPr>
            <a:r>
              <a:rPr lang="en-US" sz="1600" b="1" dirty="0">
                <a:solidFill>
                  <a:schemeClr val="tx1"/>
                </a:solidFill>
              </a:rPr>
              <a:t>Metres per tick</a:t>
            </a:r>
            <a:endParaRPr lang="en-US" sz="1600" dirty="0"/>
          </a:p>
        </p:txBody>
      </p:sp>
      <p:sp>
        <p:nvSpPr>
          <p:cNvPr id="9" name="Odometry step formula 2"/>
          <p:cNvSpPr txBox="1"/>
          <p:nvPr/>
        </p:nvSpPr>
        <p:spPr>
          <a:xfrm>
            <a:off x="1234440" y="2697480"/>
            <a:ext cx="5760720" cy="411480"/>
          </a:xfrm>
          <a:prstGeom prst="rect">
            <a:avLst/>
          </a:prstGeom>
          <a:noFill/>
          <a:ln/>
        </p:spPr>
        <p:txBody>
          <a:bodyPr wrap="square" lIns="0" tIns="0" rIns="0" bIns="0" rtlCol="0" anchor="t"/>
          <a:lstStyle/>
          <a:p>
            <a:pPr algn="l" indent="0" marL="0">
              <a:buNone/>
            </a:pPr>
            <a:r>
              <a:rPr lang="en-US" sz="1600" i="1" dirty="0">
                <a:solidFill>
                  <a:schemeClr val="tx2"/>
                </a:solidFill>
                <a:latin typeface="Cambria" pitchFamily="34" charset="0"/>
                <a:ea typeface="Cambria" pitchFamily="34" charset="-122"/>
                <a:cs typeface="Cambria" pitchFamily="34" charset="-120"/>
              </a:rPr>
              <a:t>2π × 0.0425 m ÷ 537.6 ≈ 0.50 mm</a:t>
            </a:r>
            <a:endParaRPr lang="en-US" sz="1600" dirty="0"/>
          </a:p>
        </p:txBody>
      </p:sp>
      <p:sp>
        <p:nvSpPr>
          <p:cNvPr id="10" name="Odometry step 3"/>
          <p:cNvSpPr/>
          <p:nvPr/>
        </p:nvSpPr>
        <p:spPr>
          <a:xfrm>
            <a:off x="548640" y="3346704"/>
            <a:ext cx="502920" cy="5029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Odometry step title 3"/>
          <p:cNvSpPr txBox="1"/>
          <p:nvPr/>
        </p:nvSpPr>
        <p:spPr>
          <a:xfrm>
            <a:off x="1234440" y="3236976"/>
            <a:ext cx="5760720" cy="347472"/>
          </a:xfrm>
          <a:prstGeom prst="rect">
            <a:avLst/>
          </a:prstGeom>
          <a:noFill/>
          <a:ln/>
        </p:spPr>
        <p:txBody>
          <a:bodyPr wrap="square" lIns="0" tIns="0" rIns="0" bIns="0" rtlCol="0" anchor="t"/>
          <a:lstStyle/>
          <a:p>
            <a:pPr algn="l" indent="0" marL="0">
              <a:buNone/>
            </a:pPr>
            <a:r>
              <a:rPr lang="en-US" sz="1600" b="1" dirty="0">
                <a:solidFill>
                  <a:schemeClr val="tx1"/>
                </a:solidFill>
              </a:rPr>
              <a:t>Wheel distances</a:t>
            </a:r>
            <a:endParaRPr lang="en-US" sz="1600" dirty="0"/>
          </a:p>
        </p:txBody>
      </p:sp>
      <p:sp>
        <p:nvSpPr>
          <p:cNvPr id="12" name="Odometry step formula 3"/>
          <p:cNvSpPr txBox="1"/>
          <p:nvPr/>
        </p:nvSpPr>
        <p:spPr>
          <a:xfrm>
            <a:off x="1234440" y="3584448"/>
            <a:ext cx="5760720" cy="411480"/>
          </a:xfrm>
          <a:prstGeom prst="rect">
            <a:avLst/>
          </a:prstGeom>
          <a:noFill/>
          <a:ln/>
        </p:spPr>
        <p:txBody>
          <a:bodyPr wrap="square" lIns="0" tIns="0" rIns="0" bIns="0" rtlCol="0" anchor="t"/>
          <a:lstStyle/>
          <a:p>
            <a:pPr algn="l" indent="0" marL="0">
              <a:buNone/>
            </a:pPr>
            <a:r>
              <a:rPr lang="en-US" sz="1600" i="1" dirty="0">
                <a:solidFill>
                  <a:schemeClr val="tx2"/>
                </a:solidFill>
                <a:latin typeface="Cambria" pitchFamily="34" charset="0"/>
                <a:ea typeface="Cambria" pitchFamily="34" charset="-122"/>
                <a:cs typeface="Cambria" pitchFamily="34" charset="-120"/>
              </a:rPr>
              <a:t>d_L, d_R = Δticks × metres per tick</a:t>
            </a:r>
            <a:endParaRPr lang="en-US" sz="1600" dirty="0"/>
          </a:p>
        </p:txBody>
      </p:sp>
      <p:sp>
        <p:nvSpPr>
          <p:cNvPr id="13" name="Odometry step 4"/>
          <p:cNvSpPr/>
          <p:nvPr/>
        </p:nvSpPr>
        <p:spPr>
          <a:xfrm>
            <a:off x="548640" y="4233672"/>
            <a:ext cx="502920" cy="5029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Odometry step title 4"/>
          <p:cNvSpPr txBox="1"/>
          <p:nvPr/>
        </p:nvSpPr>
        <p:spPr>
          <a:xfrm>
            <a:off x="1234440" y="4123944"/>
            <a:ext cx="5760720" cy="347472"/>
          </a:xfrm>
          <a:prstGeom prst="rect">
            <a:avLst/>
          </a:prstGeom>
          <a:noFill/>
          <a:ln/>
        </p:spPr>
        <p:txBody>
          <a:bodyPr wrap="square" lIns="0" tIns="0" rIns="0" bIns="0" rtlCol="0" anchor="t"/>
          <a:lstStyle/>
          <a:p>
            <a:pPr algn="l" indent="0" marL="0">
              <a:buNone/>
            </a:pPr>
            <a:r>
              <a:rPr lang="en-US" sz="1600" b="1" dirty="0">
                <a:solidFill>
                  <a:schemeClr val="tx1"/>
                </a:solidFill>
              </a:rPr>
              <a:t>Robot motion</a:t>
            </a:r>
            <a:endParaRPr lang="en-US" sz="1600" dirty="0"/>
          </a:p>
        </p:txBody>
      </p:sp>
      <p:sp>
        <p:nvSpPr>
          <p:cNvPr id="15" name="Odometry step formula 4"/>
          <p:cNvSpPr txBox="1"/>
          <p:nvPr/>
        </p:nvSpPr>
        <p:spPr>
          <a:xfrm>
            <a:off x="1234440" y="4471416"/>
            <a:ext cx="5760720" cy="411480"/>
          </a:xfrm>
          <a:prstGeom prst="rect">
            <a:avLst/>
          </a:prstGeom>
          <a:noFill/>
          <a:ln/>
        </p:spPr>
        <p:txBody>
          <a:bodyPr wrap="square" lIns="0" tIns="0" rIns="0" bIns="0" rtlCol="0" anchor="t"/>
          <a:lstStyle/>
          <a:p>
            <a:pPr algn="l" indent="0" marL="0">
              <a:buNone/>
            </a:pPr>
            <a:r>
              <a:rPr lang="en-US" sz="1600" i="1" dirty="0">
                <a:solidFill>
                  <a:schemeClr val="tx2"/>
                </a:solidFill>
                <a:latin typeface="Cambria" pitchFamily="34" charset="0"/>
                <a:ea typeface="Cambria" pitchFamily="34" charset="-122"/>
                <a:cs typeface="Cambria" pitchFamily="34" charset="-120"/>
              </a:rPr>
              <a:t>d = (d_R + d_L)/2      Δθ = (d_R − d_L)/W</a:t>
            </a:r>
            <a:endParaRPr lang="en-US" sz="1600" dirty="0"/>
          </a:p>
        </p:txBody>
      </p:sp>
      <p:sp>
        <p:nvSpPr>
          <p:cNvPr id="16" name="Odometry step 5"/>
          <p:cNvSpPr/>
          <p:nvPr/>
        </p:nvSpPr>
        <p:spPr>
          <a:xfrm>
            <a:off x="548640" y="5120640"/>
            <a:ext cx="502920" cy="5029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Odometry step title 5"/>
          <p:cNvSpPr txBox="1"/>
          <p:nvPr/>
        </p:nvSpPr>
        <p:spPr>
          <a:xfrm>
            <a:off x="1234440" y="5010912"/>
            <a:ext cx="5760720" cy="347472"/>
          </a:xfrm>
          <a:prstGeom prst="rect">
            <a:avLst/>
          </a:prstGeom>
          <a:noFill/>
          <a:ln/>
        </p:spPr>
        <p:txBody>
          <a:bodyPr wrap="square" lIns="0" tIns="0" rIns="0" bIns="0" rtlCol="0" anchor="t"/>
          <a:lstStyle/>
          <a:p>
            <a:pPr algn="l" indent="0" marL="0">
              <a:buNone/>
            </a:pPr>
            <a:r>
              <a:rPr lang="en-US" sz="1600" b="1" dirty="0">
                <a:solidFill>
                  <a:schemeClr val="tx1"/>
                </a:solidFill>
              </a:rPr>
              <a:t>New pose</a:t>
            </a:r>
            <a:endParaRPr lang="en-US" sz="1600" dirty="0"/>
          </a:p>
        </p:txBody>
      </p:sp>
      <p:sp>
        <p:nvSpPr>
          <p:cNvPr id="18" name="Odometry step formula 5"/>
          <p:cNvSpPr txBox="1"/>
          <p:nvPr/>
        </p:nvSpPr>
        <p:spPr>
          <a:xfrm>
            <a:off x="1234440" y="5358384"/>
            <a:ext cx="5760720" cy="411480"/>
          </a:xfrm>
          <a:prstGeom prst="rect">
            <a:avLst/>
          </a:prstGeom>
          <a:noFill/>
          <a:ln/>
        </p:spPr>
        <p:txBody>
          <a:bodyPr wrap="square" lIns="0" tIns="0" rIns="0" bIns="0" rtlCol="0" anchor="t"/>
          <a:lstStyle/>
          <a:p>
            <a:pPr algn="l" indent="0" marL="0">
              <a:buNone/>
            </a:pPr>
            <a:r>
              <a:rPr lang="en-US" sz="1600" i="1" dirty="0">
                <a:solidFill>
                  <a:schemeClr val="tx2"/>
                </a:solidFill>
                <a:latin typeface="Cambria" pitchFamily="34" charset="0"/>
                <a:ea typeface="Cambria" pitchFamily="34" charset="-122"/>
                <a:cs typeface="Cambria" pitchFamily="34" charset="-120"/>
              </a:rPr>
              <a:t>x += d·cos(θ + Δθ/2)   y += d·sin(θ + Δθ/2)   θ += Δθ</a:t>
            </a:r>
            <a:endParaRPr lang="en-US" sz="1600" dirty="0"/>
          </a:p>
        </p:txBody>
      </p:sp>
      <p:sp>
        <p:nvSpPr>
          <p:cNvPr id="19" name="Drift card"/>
          <p:cNvSpPr/>
          <p:nvPr/>
        </p:nvSpPr>
        <p:spPr>
          <a:xfrm>
            <a:off x="7315200" y="1463040"/>
            <a:ext cx="4325112" cy="4617720"/>
          </a:xfrm>
          <a:prstGeom prst="roundRect">
            <a:avLst>
              <a:gd name="adj" fmla="val 2114"/>
            </a:avLst>
          </a:prstGeom>
          <a:solidFill>
            <a:schemeClr val="accent5">
              <a:alpha val="10000"/>
            </a:schemeClr>
          </a:solidFill>
          <a:ln w="6350">
            <a:solidFill>
              <a:schemeClr val="accent5">
                <a:alpha val="10000"/>
              </a:schemeClr>
            </a:solidFill>
            <a:prstDash val="solid"/>
          </a:ln>
        </p:spPr>
      </p:sp>
      <p:sp>
        <p:nvSpPr>
          <p:cNvPr id="20" name="Drift tile"/>
          <p:cNvSpPr/>
          <p:nvPr/>
        </p:nvSpPr>
        <p:spPr>
          <a:xfrm>
            <a:off x="7543800" y="1691640"/>
            <a:ext cx="548640" cy="548640"/>
          </a:xfrm>
          <a:prstGeom prst="roundRect">
            <a:avLst>
              <a:gd name="adj" fmla="val 20000"/>
            </a:avLst>
          </a:prstGeom>
          <a:solidFill>
            <a:schemeClr val="accent5"/>
          </a:solidFill>
          <a:ln w="6350">
            <a:solidFill>
              <a:schemeClr val="accent5"/>
            </a:solidFill>
            <a:prstDash val="solid"/>
          </a:ln>
        </p:spPr>
      </p:sp>
      <p:pic>
        <p:nvPicPr>
          <p:cNvPr id="21" name="Drift icon" descr="preencoded.png">    </p:cNvPr>
          <p:cNvPicPr>
            <a:picLocks noChangeAspect="1"/>
          </p:cNvPicPr>
          <p:nvPr/>
        </p:nvPicPr>
        <p:blipFill>
          <a:blip r:embed="rId1"/>
          <a:stretch>
            <a:fillRect/>
          </a:stretch>
        </p:blipFill>
        <p:spPr>
          <a:xfrm>
            <a:off x="7664501" y="1812341"/>
            <a:ext cx="307238" cy="307238"/>
          </a:xfrm>
          <a:prstGeom prst="rect">
            <a:avLst/>
          </a:prstGeom>
        </p:spPr>
      </p:pic>
      <p:sp>
        <p:nvSpPr>
          <p:cNvPr id="22" name="Drift title"/>
          <p:cNvSpPr txBox="1"/>
          <p:nvPr/>
        </p:nvSpPr>
        <p:spPr>
          <a:xfrm>
            <a:off x="8229600" y="1691640"/>
            <a:ext cx="3291840" cy="548640"/>
          </a:xfrm>
          <a:prstGeom prst="rect">
            <a:avLst/>
          </a:prstGeom>
          <a:noFill/>
          <a:ln/>
        </p:spPr>
        <p:txBody>
          <a:bodyPr wrap="square" lIns="0" tIns="0" rIns="0" bIns="0" rtlCol="0" anchor="ctr"/>
          <a:lstStyle/>
          <a:p>
            <a:pPr algn="l" indent="0" marL="0">
              <a:buNone/>
            </a:pPr>
            <a:r>
              <a:rPr lang="en-US" sz="1800" b="1" dirty="0">
                <a:solidFill>
                  <a:schemeClr val="tx1"/>
                </a:solidFill>
              </a:rPr>
              <a:t>Why odometry drifts</a:t>
            </a:r>
            <a:endParaRPr lang="en-US" sz="1800" dirty="0"/>
          </a:p>
        </p:txBody>
      </p:sp>
      <p:sp>
        <p:nvSpPr>
          <p:cNvPr id="23" name="Drift list"/>
          <p:cNvSpPr txBox="1"/>
          <p:nvPr/>
        </p:nvSpPr>
        <p:spPr>
          <a:xfrm>
            <a:off x="7543800" y="2423160"/>
            <a:ext cx="3886200" cy="274320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chemeClr val="tx1"/>
                </a:solidFill>
              </a:rPr>
              <a:t>2 % wheel-size error → 2 cm wrong every metre</a:t>
            </a:r>
            <a:endParaRPr lang="en-US" sz="1500" dirty="0"/>
          </a:p>
          <a:p>
            <a:pPr algn="l" marL="342900" indent="-342900">
              <a:spcAft>
                <a:spcPts val="1000"/>
              </a:spcAft>
              <a:buSzPct val="100000"/>
              <a:buChar char="•"/>
            </a:pPr>
            <a:r>
              <a:rPr lang="en-US" sz="1500" dirty="0">
                <a:solidFill>
                  <a:schemeClr val="tx1"/>
                </a:solidFill>
              </a:rPr>
              <a:t>3 % track-width error → ≈11° heading error per full turn</a:t>
            </a:r>
            <a:endParaRPr lang="en-US" sz="1500" dirty="0"/>
          </a:p>
          <a:p>
            <a:pPr algn="l" marL="342900" indent="-342900">
              <a:spcAft>
                <a:spcPts val="1000"/>
              </a:spcAft>
              <a:buSzPct val="100000"/>
              <a:buChar char="•"/>
            </a:pPr>
            <a:r>
              <a:rPr lang="en-US" sz="1500" dirty="0">
                <a:solidFill>
                  <a:schemeClr val="tx1"/>
                </a:solidFill>
              </a:rPr>
              <a:t>Wheel slip, soft tyres and gearbox backlash</a:t>
            </a:r>
            <a:endParaRPr lang="en-US" sz="1500" dirty="0"/>
          </a:p>
          <a:p>
            <a:pPr algn="l" marL="342900" indent="-342900">
              <a:spcAft>
                <a:spcPts val="1000"/>
              </a:spcAft>
              <a:buSzPct val="100000"/>
              <a:buChar char="•"/>
            </a:pPr>
            <a:r>
              <a:rPr lang="en-US" sz="1500" dirty="0">
                <a:solidFill>
                  <a:schemeClr val="tx1"/>
                </a:solidFill>
              </a:rPr>
              <a:t>Errors never reset — AMCL corrects them using the map</a:t>
            </a:r>
            <a:endParaRPr lang="en-US" sz="1500" dirty="0"/>
          </a:p>
        </p:txBody>
      </p:sp>
      <p:sp>
        <p:nvSpPr>
          <p:cNvPr id="24" name="Odometry output"/>
          <p:cNvSpPr txBox="1"/>
          <p:nvPr/>
        </p:nvSpPr>
        <p:spPr>
          <a:xfrm>
            <a:off x="7543800" y="5303520"/>
            <a:ext cx="3931920" cy="594360"/>
          </a:xfrm>
          <a:prstGeom prst="rect">
            <a:avLst/>
          </a:prstGeom>
          <a:noFill/>
          <a:ln/>
        </p:spPr>
        <p:txBody>
          <a:bodyPr wrap="square" lIns="0" tIns="0" rIns="0" bIns="0" rtlCol="0" anchor="t"/>
          <a:lstStyle/>
          <a:p>
            <a:pPr algn="l" indent="0" marL="0">
              <a:buNone/>
            </a:pPr>
            <a:r>
              <a:rPr lang="en-US" sz="1400" dirty="0">
                <a:solidFill>
                  <a:schemeClr val="tx1"/>
                </a:solidFill>
              </a:rPr>
              <a:t>Publishes </a:t>
            </a:r>
            <a:pPr algn="l" indent="0" marL="0">
              <a:buNone/>
            </a:pPr>
            <a:r>
              <a:rPr lang="en-US" sz="1400" b="1" dirty="0">
                <a:solidFill>
                  <a:schemeClr val="accent2"/>
                </a:solidFill>
                <a:latin typeface="Courier New" pitchFamily="34" charset="0"/>
                <a:ea typeface="Courier New" pitchFamily="34" charset="-122"/>
                <a:cs typeface="Courier New" pitchFamily="34" charset="-120"/>
              </a:rPr>
              <a:t>/odom</a:t>
            </a:r>
            <a:pPr algn="l" indent="0" marL="0">
              <a:buNone/>
            </a:pPr>
            <a:r>
              <a:rPr lang="en-US" sz="1400" dirty="0">
                <a:solidFill>
                  <a:schemeClr val="tx1"/>
                </a:solidFill>
              </a:rPr>
              <a:t> and TF </a:t>
            </a:r>
            <a:pPr algn="l" indent="0" marL="0">
              <a:buNone/>
            </a:pPr>
            <a:r>
              <a:rPr lang="en-US" sz="1400" b="1" dirty="0">
                <a:solidFill>
                  <a:schemeClr val="accent2"/>
                </a:solidFill>
                <a:latin typeface="Courier New" pitchFamily="34" charset="0"/>
                <a:ea typeface="Courier New" pitchFamily="34" charset="-122"/>
                <a:cs typeface="Courier New" pitchFamily="34" charset="-120"/>
              </a:rPr>
              <a:t>odom → base_link</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LiDAR measures distances all around; rf2o turns scan changes into motion</a:t>
            </a:r>
            <a:endParaRPr lang="en-US" sz="2800" dirty="0"/>
          </a:p>
        </p:txBody>
      </p:sp>
      <p:sp>
        <p:nvSpPr>
          <p:cNvPr id="4" name="Room walls"/>
          <p:cNvSpPr/>
          <p:nvPr/>
        </p:nvSpPr>
        <p:spPr>
          <a:xfrm>
            <a:off x="822960" y="1554480"/>
            <a:ext cx="4389120" cy="4434840"/>
          </a:xfrm>
          <a:prstGeom prst="rect">
            <a:avLst/>
          </a:prstGeom>
          <a:solidFill>
            <a:schemeClr val="bg1"/>
          </a:solidFill>
          <a:ln w="50800">
            <a:solidFill>
              <a:schemeClr val="tx1"/>
            </a:solidFill>
            <a:prstDash val="solid"/>
          </a:ln>
        </p:spPr>
      </p:sp>
      <p:sp>
        <p:nvSpPr>
          <p:cNvPr id="5" name="Table"/>
          <p:cNvSpPr/>
          <p:nvPr/>
        </p:nvSpPr>
        <p:spPr>
          <a:xfrm>
            <a:off x="3886200" y="2240280"/>
            <a:ext cx="731520" cy="640080"/>
          </a:xfrm>
          <a:prstGeom prst="rect">
            <a:avLst/>
          </a:prstGeom>
          <a:solidFill>
            <a:schemeClr val="tx2"/>
          </a:solidFill>
          <a:ln w="12700">
            <a:solidFill>
              <a:schemeClr val="tx2"/>
            </a:solidFill>
            <a:prstDash val="solid"/>
          </a:ln>
        </p:spPr>
      </p:sp>
      <p:sp>
        <p:nvSpPr>
          <p:cNvPr id="6" name="Table label"/>
          <p:cNvSpPr txBox="1"/>
          <p:nvPr/>
        </p:nvSpPr>
        <p:spPr>
          <a:xfrm>
            <a:off x="3886200" y="2907792"/>
            <a:ext cx="731520" cy="274320"/>
          </a:xfrm>
          <a:prstGeom prst="rect">
            <a:avLst/>
          </a:prstGeom>
          <a:noFill/>
          <a:ln/>
        </p:spPr>
        <p:txBody>
          <a:bodyPr wrap="square" lIns="0" tIns="0" rIns="0" bIns="0" rtlCol="0" anchor="t"/>
          <a:lstStyle/>
          <a:p>
            <a:pPr algn="ctr" indent="0" marL="0">
              <a:buNone/>
            </a:pPr>
            <a:r>
              <a:rPr lang="en-US" sz="1200" dirty="0">
                <a:solidFill>
                  <a:schemeClr val="tx2"/>
                </a:solidFill>
              </a:rPr>
              <a:t>table</a:t>
            </a:r>
            <a:endParaRPr lang="en-US" sz="1200" dirty="0"/>
          </a:p>
        </p:txBody>
      </p:sp>
      <p:sp>
        <p:nvSpPr>
          <p:cNvPr id="7" name="Ray 0"/>
          <p:cNvSpPr/>
          <p:nvPr/>
        </p:nvSpPr>
        <p:spPr>
          <a:xfrm>
            <a:off x="2651760" y="4023360"/>
            <a:ext cx="2560320" cy="0"/>
          </a:xfrm>
          <a:prstGeom prst="line">
            <a:avLst/>
          </a:prstGeom>
          <a:noFill/>
          <a:ln w="9525">
            <a:solidFill>
              <a:schemeClr val="accent2">
                <a:alpha val="65000"/>
              </a:schemeClr>
            </a:solidFill>
            <a:prstDash val="solid"/>
          </a:ln>
        </p:spPr>
      </p:sp>
      <p:sp>
        <p:nvSpPr>
          <p:cNvPr id="8" name="Hit 0"/>
          <p:cNvSpPr/>
          <p:nvPr/>
        </p:nvSpPr>
        <p:spPr>
          <a:xfrm>
            <a:off x="5170932" y="3982212"/>
            <a:ext cx="82296" cy="82296"/>
          </a:xfrm>
          <a:prstGeom prst="ellipse">
            <a:avLst/>
          </a:prstGeom>
          <a:solidFill>
            <a:schemeClr val="accent1"/>
          </a:solidFill>
          <a:ln w="12700">
            <a:solidFill>
              <a:schemeClr val="accent1"/>
            </a:solidFill>
            <a:prstDash val="solid"/>
          </a:ln>
        </p:spPr>
      </p:sp>
      <p:sp>
        <p:nvSpPr>
          <p:cNvPr id="9" name="Ray 7.5"/>
          <p:cNvSpPr/>
          <p:nvPr/>
        </p:nvSpPr>
        <p:spPr>
          <a:xfrm>
            <a:off x="2651760" y="4023360"/>
            <a:ext cx="2560320" cy="337073"/>
          </a:xfrm>
          <a:prstGeom prst="line">
            <a:avLst/>
          </a:prstGeom>
          <a:noFill/>
          <a:ln w="9525">
            <a:solidFill>
              <a:schemeClr val="accent2">
                <a:alpha val="65000"/>
              </a:schemeClr>
            </a:solidFill>
            <a:prstDash val="solid"/>
          </a:ln>
        </p:spPr>
      </p:sp>
      <p:sp>
        <p:nvSpPr>
          <p:cNvPr id="10" name="Hit 7.5"/>
          <p:cNvSpPr/>
          <p:nvPr/>
        </p:nvSpPr>
        <p:spPr>
          <a:xfrm>
            <a:off x="5170932" y="4319285"/>
            <a:ext cx="82296" cy="82296"/>
          </a:xfrm>
          <a:prstGeom prst="ellipse">
            <a:avLst/>
          </a:prstGeom>
          <a:solidFill>
            <a:schemeClr val="accent1"/>
          </a:solidFill>
          <a:ln w="12700">
            <a:solidFill>
              <a:schemeClr val="accent1"/>
            </a:solidFill>
            <a:prstDash val="solid"/>
          </a:ln>
        </p:spPr>
      </p:sp>
      <p:sp>
        <p:nvSpPr>
          <p:cNvPr id="11" name="Ray 15"/>
          <p:cNvSpPr/>
          <p:nvPr/>
        </p:nvSpPr>
        <p:spPr>
          <a:xfrm>
            <a:off x="2651760" y="4023360"/>
            <a:ext cx="2560320" cy="686036"/>
          </a:xfrm>
          <a:prstGeom prst="line">
            <a:avLst/>
          </a:prstGeom>
          <a:noFill/>
          <a:ln w="9525">
            <a:solidFill>
              <a:schemeClr val="accent2">
                <a:alpha val="65000"/>
              </a:schemeClr>
            </a:solidFill>
            <a:prstDash val="solid"/>
          </a:ln>
        </p:spPr>
      </p:sp>
      <p:sp>
        <p:nvSpPr>
          <p:cNvPr id="12" name="Hit 15"/>
          <p:cNvSpPr/>
          <p:nvPr/>
        </p:nvSpPr>
        <p:spPr>
          <a:xfrm>
            <a:off x="5170932" y="4668248"/>
            <a:ext cx="82296" cy="82296"/>
          </a:xfrm>
          <a:prstGeom prst="ellipse">
            <a:avLst/>
          </a:prstGeom>
          <a:solidFill>
            <a:schemeClr val="accent1"/>
          </a:solidFill>
          <a:ln w="12700">
            <a:solidFill>
              <a:schemeClr val="accent1"/>
            </a:solidFill>
            <a:prstDash val="solid"/>
          </a:ln>
        </p:spPr>
      </p:sp>
      <p:sp>
        <p:nvSpPr>
          <p:cNvPr id="13" name="Ray 22.5"/>
          <p:cNvSpPr/>
          <p:nvPr/>
        </p:nvSpPr>
        <p:spPr>
          <a:xfrm>
            <a:off x="2651760" y="4023360"/>
            <a:ext cx="2560320" cy="1060519"/>
          </a:xfrm>
          <a:prstGeom prst="line">
            <a:avLst/>
          </a:prstGeom>
          <a:noFill/>
          <a:ln w="9525">
            <a:solidFill>
              <a:schemeClr val="accent2">
                <a:alpha val="65000"/>
              </a:schemeClr>
            </a:solidFill>
            <a:prstDash val="solid"/>
          </a:ln>
        </p:spPr>
      </p:sp>
      <p:sp>
        <p:nvSpPr>
          <p:cNvPr id="14" name="Hit 22.5"/>
          <p:cNvSpPr/>
          <p:nvPr/>
        </p:nvSpPr>
        <p:spPr>
          <a:xfrm>
            <a:off x="5170932" y="5042731"/>
            <a:ext cx="82296" cy="82296"/>
          </a:xfrm>
          <a:prstGeom prst="ellipse">
            <a:avLst/>
          </a:prstGeom>
          <a:solidFill>
            <a:schemeClr val="accent1"/>
          </a:solidFill>
          <a:ln w="12700">
            <a:solidFill>
              <a:schemeClr val="accent1"/>
            </a:solidFill>
            <a:prstDash val="solid"/>
          </a:ln>
        </p:spPr>
      </p:sp>
      <p:sp>
        <p:nvSpPr>
          <p:cNvPr id="15" name="Ray 30"/>
          <p:cNvSpPr/>
          <p:nvPr/>
        </p:nvSpPr>
        <p:spPr>
          <a:xfrm>
            <a:off x="2651760" y="4023360"/>
            <a:ext cx="2560320" cy="1478201"/>
          </a:xfrm>
          <a:prstGeom prst="line">
            <a:avLst/>
          </a:prstGeom>
          <a:noFill/>
          <a:ln w="9525">
            <a:solidFill>
              <a:schemeClr val="accent2">
                <a:alpha val="65000"/>
              </a:schemeClr>
            </a:solidFill>
            <a:prstDash val="solid"/>
          </a:ln>
        </p:spPr>
      </p:sp>
      <p:sp>
        <p:nvSpPr>
          <p:cNvPr id="16" name="Hit 30"/>
          <p:cNvSpPr/>
          <p:nvPr/>
        </p:nvSpPr>
        <p:spPr>
          <a:xfrm>
            <a:off x="5170932" y="5460413"/>
            <a:ext cx="82296" cy="82296"/>
          </a:xfrm>
          <a:prstGeom prst="ellipse">
            <a:avLst/>
          </a:prstGeom>
          <a:solidFill>
            <a:schemeClr val="accent1"/>
          </a:solidFill>
          <a:ln w="12700">
            <a:solidFill>
              <a:schemeClr val="accent1"/>
            </a:solidFill>
            <a:prstDash val="solid"/>
          </a:ln>
        </p:spPr>
      </p:sp>
      <p:sp>
        <p:nvSpPr>
          <p:cNvPr id="17" name="Ray 37.5"/>
          <p:cNvSpPr/>
          <p:nvPr/>
        </p:nvSpPr>
        <p:spPr>
          <a:xfrm>
            <a:off x="2651760" y="4023360"/>
            <a:ext cx="2560320" cy="1964603"/>
          </a:xfrm>
          <a:prstGeom prst="line">
            <a:avLst/>
          </a:prstGeom>
          <a:noFill/>
          <a:ln w="9525">
            <a:solidFill>
              <a:schemeClr val="accent2">
                <a:alpha val="65000"/>
              </a:schemeClr>
            </a:solidFill>
            <a:prstDash val="solid"/>
          </a:ln>
        </p:spPr>
      </p:sp>
      <p:sp>
        <p:nvSpPr>
          <p:cNvPr id="18" name="Hit 37.5"/>
          <p:cNvSpPr/>
          <p:nvPr/>
        </p:nvSpPr>
        <p:spPr>
          <a:xfrm>
            <a:off x="5170932" y="5946815"/>
            <a:ext cx="82296" cy="82296"/>
          </a:xfrm>
          <a:prstGeom prst="ellipse">
            <a:avLst/>
          </a:prstGeom>
          <a:solidFill>
            <a:schemeClr val="accent1"/>
          </a:solidFill>
          <a:ln w="12700">
            <a:solidFill>
              <a:schemeClr val="accent1"/>
            </a:solidFill>
            <a:prstDash val="solid"/>
          </a:ln>
        </p:spPr>
      </p:sp>
      <p:sp>
        <p:nvSpPr>
          <p:cNvPr id="19" name="Ray 45"/>
          <p:cNvSpPr/>
          <p:nvPr/>
        </p:nvSpPr>
        <p:spPr>
          <a:xfrm>
            <a:off x="2651760" y="4023360"/>
            <a:ext cx="1965960" cy="1965960"/>
          </a:xfrm>
          <a:prstGeom prst="line">
            <a:avLst/>
          </a:prstGeom>
          <a:noFill/>
          <a:ln w="9525">
            <a:solidFill>
              <a:schemeClr val="accent2">
                <a:alpha val="65000"/>
              </a:schemeClr>
            </a:solidFill>
            <a:prstDash val="solid"/>
          </a:ln>
        </p:spPr>
      </p:sp>
      <p:sp>
        <p:nvSpPr>
          <p:cNvPr id="20" name="Hit 45"/>
          <p:cNvSpPr/>
          <p:nvPr/>
        </p:nvSpPr>
        <p:spPr>
          <a:xfrm>
            <a:off x="4576572" y="5948172"/>
            <a:ext cx="82296" cy="82296"/>
          </a:xfrm>
          <a:prstGeom prst="ellipse">
            <a:avLst/>
          </a:prstGeom>
          <a:solidFill>
            <a:schemeClr val="accent1"/>
          </a:solidFill>
          <a:ln w="12700">
            <a:solidFill>
              <a:schemeClr val="accent1"/>
            </a:solidFill>
            <a:prstDash val="solid"/>
          </a:ln>
        </p:spPr>
      </p:sp>
      <p:sp>
        <p:nvSpPr>
          <p:cNvPr id="21" name="Ray 52.5"/>
          <p:cNvSpPr/>
          <p:nvPr/>
        </p:nvSpPr>
        <p:spPr>
          <a:xfrm>
            <a:off x="2651760" y="4023360"/>
            <a:ext cx="1508534" cy="1965960"/>
          </a:xfrm>
          <a:prstGeom prst="line">
            <a:avLst/>
          </a:prstGeom>
          <a:noFill/>
          <a:ln w="9525">
            <a:solidFill>
              <a:schemeClr val="accent2">
                <a:alpha val="65000"/>
              </a:schemeClr>
            </a:solidFill>
            <a:prstDash val="solid"/>
          </a:ln>
        </p:spPr>
      </p:sp>
      <p:sp>
        <p:nvSpPr>
          <p:cNvPr id="22" name="Hit 52.5"/>
          <p:cNvSpPr/>
          <p:nvPr/>
        </p:nvSpPr>
        <p:spPr>
          <a:xfrm>
            <a:off x="4119146" y="5948172"/>
            <a:ext cx="82296" cy="82296"/>
          </a:xfrm>
          <a:prstGeom prst="ellipse">
            <a:avLst/>
          </a:prstGeom>
          <a:solidFill>
            <a:schemeClr val="accent1"/>
          </a:solidFill>
          <a:ln w="12700">
            <a:solidFill>
              <a:schemeClr val="accent1"/>
            </a:solidFill>
            <a:prstDash val="solid"/>
          </a:ln>
        </p:spPr>
      </p:sp>
      <p:sp>
        <p:nvSpPr>
          <p:cNvPr id="23" name="Ray 60"/>
          <p:cNvSpPr/>
          <p:nvPr/>
        </p:nvSpPr>
        <p:spPr>
          <a:xfrm>
            <a:off x="2651760" y="4023360"/>
            <a:ext cx="1135048" cy="1965960"/>
          </a:xfrm>
          <a:prstGeom prst="line">
            <a:avLst/>
          </a:prstGeom>
          <a:noFill/>
          <a:ln w="9525">
            <a:solidFill>
              <a:schemeClr val="accent2">
                <a:alpha val="65000"/>
              </a:schemeClr>
            </a:solidFill>
            <a:prstDash val="solid"/>
          </a:ln>
        </p:spPr>
      </p:sp>
      <p:sp>
        <p:nvSpPr>
          <p:cNvPr id="24" name="Hit 60"/>
          <p:cNvSpPr/>
          <p:nvPr/>
        </p:nvSpPr>
        <p:spPr>
          <a:xfrm>
            <a:off x="3745660" y="5948172"/>
            <a:ext cx="82296" cy="82296"/>
          </a:xfrm>
          <a:prstGeom prst="ellipse">
            <a:avLst/>
          </a:prstGeom>
          <a:solidFill>
            <a:schemeClr val="accent1"/>
          </a:solidFill>
          <a:ln w="12700">
            <a:solidFill>
              <a:schemeClr val="accent1"/>
            </a:solidFill>
            <a:prstDash val="solid"/>
          </a:ln>
        </p:spPr>
      </p:sp>
      <p:sp>
        <p:nvSpPr>
          <p:cNvPr id="25" name="Ray 67.5"/>
          <p:cNvSpPr/>
          <p:nvPr/>
        </p:nvSpPr>
        <p:spPr>
          <a:xfrm>
            <a:off x="2651760" y="4023360"/>
            <a:ext cx="814327" cy="1965960"/>
          </a:xfrm>
          <a:prstGeom prst="line">
            <a:avLst/>
          </a:prstGeom>
          <a:noFill/>
          <a:ln w="9525">
            <a:solidFill>
              <a:schemeClr val="accent2">
                <a:alpha val="65000"/>
              </a:schemeClr>
            </a:solidFill>
            <a:prstDash val="solid"/>
          </a:ln>
        </p:spPr>
      </p:sp>
      <p:sp>
        <p:nvSpPr>
          <p:cNvPr id="26" name="Hit 67.5"/>
          <p:cNvSpPr/>
          <p:nvPr/>
        </p:nvSpPr>
        <p:spPr>
          <a:xfrm>
            <a:off x="3424939" y="5948172"/>
            <a:ext cx="82296" cy="82296"/>
          </a:xfrm>
          <a:prstGeom prst="ellipse">
            <a:avLst/>
          </a:prstGeom>
          <a:solidFill>
            <a:schemeClr val="accent1"/>
          </a:solidFill>
          <a:ln w="12700">
            <a:solidFill>
              <a:schemeClr val="accent1"/>
            </a:solidFill>
            <a:prstDash val="solid"/>
          </a:ln>
        </p:spPr>
      </p:sp>
      <p:sp>
        <p:nvSpPr>
          <p:cNvPr id="27" name="Ray 75"/>
          <p:cNvSpPr/>
          <p:nvPr/>
        </p:nvSpPr>
        <p:spPr>
          <a:xfrm>
            <a:off x="2651760" y="4023360"/>
            <a:ext cx="526777" cy="1965960"/>
          </a:xfrm>
          <a:prstGeom prst="line">
            <a:avLst/>
          </a:prstGeom>
          <a:noFill/>
          <a:ln w="9525">
            <a:solidFill>
              <a:schemeClr val="accent2">
                <a:alpha val="65000"/>
              </a:schemeClr>
            </a:solidFill>
            <a:prstDash val="solid"/>
          </a:ln>
        </p:spPr>
      </p:sp>
      <p:sp>
        <p:nvSpPr>
          <p:cNvPr id="28" name="Hit 75"/>
          <p:cNvSpPr/>
          <p:nvPr/>
        </p:nvSpPr>
        <p:spPr>
          <a:xfrm>
            <a:off x="3137389" y="5948172"/>
            <a:ext cx="82296" cy="82296"/>
          </a:xfrm>
          <a:prstGeom prst="ellipse">
            <a:avLst/>
          </a:prstGeom>
          <a:solidFill>
            <a:schemeClr val="accent1"/>
          </a:solidFill>
          <a:ln w="12700">
            <a:solidFill>
              <a:schemeClr val="accent1"/>
            </a:solidFill>
            <a:prstDash val="solid"/>
          </a:ln>
        </p:spPr>
      </p:sp>
      <p:sp>
        <p:nvSpPr>
          <p:cNvPr id="29" name="Ray 82.5"/>
          <p:cNvSpPr/>
          <p:nvPr/>
        </p:nvSpPr>
        <p:spPr>
          <a:xfrm>
            <a:off x="2651760" y="4023360"/>
            <a:ext cx="258824" cy="1965960"/>
          </a:xfrm>
          <a:prstGeom prst="line">
            <a:avLst/>
          </a:prstGeom>
          <a:noFill/>
          <a:ln w="9525">
            <a:solidFill>
              <a:schemeClr val="accent2">
                <a:alpha val="65000"/>
              </a:schemeClr>
            </a:solidFill>
            <a:prstDash val="solid"/>
          </a:ln>
        </p:spPr>
      </p:sp>
      <p:sp>
        <p:nvSpPr>
          <p:cNvPr id="30" name="Hit 82.5"/>
          <p:cNvSpPr/>
          <p:nvPr/>
        </p:nvSpPr>
        <p:spPr>
          <a:xfrm>
            <a:off x="2869436" y="5948172"/>
            <a:ext cx="82296" cy="82296"/>
          </a:xfrm>
          <a:prstGeom prst="ellipse">
            <a:avLst/>
          </a:prstGeom>
          <a:solidFill>
            <a:schemeClr val="accent1"/>
          </a:solidFill>
          <a:ln w="12700">
            <a:solidFill>
              <a:schemeClr val="accent1"/>
            </a:solidFill>
            <a:prstDash val="solid"/>
          </a:ln>
        </p:spPr>
      </p:sp>
      <p:sp>
        <p:nvSpPr>
          <p:cNvPr id="31" name="Ray 90"/>
          <p:cNvSpPr/>
          <p:nvPr/>
        </p:nvSpPr>
        <p:spPr>
          <a:xfrm>
            <a:off x="2651760" y="4023360"/>
            <a:ext cx="0" cy="1965960"/>
          </a:xfrm>
          <a:prstGeom prst="line">
            <a:avLst/>
          </a:prstGeom>
          <a:noFill/>
          <a:ln w="9525">
            <a:solidFill>
              <a:schemeClr val="accent2">
                <a:alpha val="65000"/>
              </a:schemeClr>
            </a:solidFill>
            <a:prstDash val="solid"/>
          </a:ln>
        </p:spPr>
      </p:sp>
      <p:sp>
        <p:nvSpPr>
          <p:cNvPr id="32" name="Hit 90"/>
          <p:cNvSpPr/>
          <p:nvPr/>
        </p:nvSpPr>
        <p:spPr>
          <a:xfrm>
            <a:off x="2610612" y="5948172"/>
            <a:ext cx="82296" cy="82296"/>
          </a:xfrm>
          <a:prstGeom prst="ellipse">
            <a:avLst/>
          </a:prstGeom>
          <a:solidFill>
            <a:schemeClr val="accent1"/>
          </a:solidFill>
          <a:ln w="12700">
            <a:solidFill>
              <a:schemeClr val="accent1"/>
            </a:solidFill>
            <a:prstDash val="solid"/>
          </a:ln>
        </p:spPr>
      </p:sp>
      <p:sp>
        <p:nvSpPr>
          <p:cNvPr id="33" name="Ray 97.5"/>
          <p:cNvSpPr/>
          <p:nvPr/>
        </p:nvSpPr>
        <p:spPr>
          <a:xfrm flipH="1">
            <a:off x="2392936" y="4023360"/>
            <a:ext cx="258824" cy="1965960"/>
          </a:xfrm>
          <a:prstGeom prst="line">
            <a:avLst/>
          </a:prstGeom>
          <a:noFill/>
          <a:ln w="9525">
            <a:solidFill>
              <a:schemeClr val="accent2">
                <a:alpha val="65000"/>
              </a:schemeClr>
            </a:solidFill>
            <a:prstDash val="solid"/>
          </a:ln>
        </p:spPr>
      </p:sp>
      <p:sp>
        <p:nvSpPr>
          <p:cNvPr id="34" name="Hit 97.5"/>
          <p:cNvSpPr/>
          <p:nvPr/>
        </p:nvSpPr>
        <p:spPr>
          <a:xfrm>
            <a:off x="2351788" y="5948172"/>
            <a:ext cx="82296" cy="82296"/>
          </a:xfrm>
          <a:prstGeom prst="ellipse">
            <a:avLst/>
          </a:prstGeom>
          <a:solidFill>
            <a:schemeClr val="accent1"/>
          </a:solidFill>
          <a:ln w="12700">
            <a:solidFill>
              <a:schemeClr val="accent1"/>
            </a:solidFill>
            <a:prstDash val="solid"/>
          </a:ln>
        </p:spPr>
      </p:sp>
      <p:sp>
        <p:nvSpPr>
          <p:cNvPr id="35" name="Ray 105"/>
          <p:cNvSpPr/>
          <p:nvPr/>
        </p:nvSpPr>
        <p:spPr>
          <a:xfrm flipH="1">
            <a:off x="2124983" y="4023360"/>
            <a:ext cx="526777" cy="1965960"/>
          </a:xfrm>
          <a:prstGeom prst="line">
            <a:avLst/>
          </a:prstGeom>
          <a:noFill/>
          <a:ln w="9525">
            <a:solidFill>
              <a:schemeClr val="accent2">
                <a:alpha val="65000"/>
              </a:schemeClr>
            </a:solidFill>
            <a:prstDash val="solid"/>
          </a:ln>
        </p:spPr>
      </p:sp>
      <p:sp>
        <p:nvSpPr>
          <p:cNvPr id="36" name="Hit 105"/>
          <p:cNvSpPr/>
          <p:nvPr/>
        </p:nvSpPr>
        <p:spPr>
          <a:xfrm>
            <a:off x="2083835" y="5948172"/>
            <a:ext cx="82296" cy="82296"/>
          </a:xfrm>
          <a:prstGeom prst="ellipse">
            <a:avLst/>
          </a:prstGeom>
          <a:solidFill>
            <a:schemeClr val="accent1"/>
          </a:solidFill>
          <a:ln w="12700">
            <a:solidFill>
              <a:schemeClr val="accent1"/>
            </a:solidFill>
            <a:prstDash val="solid"/>
          </a:ln>
        </p:spPr>
      </p:sp>
      <p:sp>
        <p:nvSpPr>
          <p:cNvPr id="37" name="Ray 112.5"/>
          <p:cNvSpPr/>
          <p:nvPr/>
        </p:nvSpPr>
        <p:spPr>
          <a:xfrm flipH="1">
            <a:off x="1837433" y="4023360"/>
            <a:ext cx="814327" cy="1965960"/>
          </a:xfrm>
          <a:prstGeom prst="line">
            <a:avLst/>
          </a:prstGeom>
          <a:noFill/>
          <a:ln w="9525">
            <a:solidFill>
              <a:schemeClr val="accent2">
                <a:alpha val="65000"/>
              </a:schemeClr>
            </a:solidFill>
            <a:prstDash val="solid"/>
          </a:ln>
        </p:spPr>
      </p:sp>
      <p:sp>
        <p:nvSpPr>
          <p:cNvPr id="38" name="Hit 112.5"/>
          <p:cNvSpPr/>
          <p:nvPr/>
        </p:nvSpPr>
        <p:spPr>
          <a:xfrm>
            <a:off x="1796285" y="5948172"/>
            <a:ext cx="82296" cy="82296"/>
          </a:xfrm>
          <a:prstGeom prst="ellipse">
            <a:avLst/>
          </a:prstGeom>
          <a:solidFill>
            <a:schemeClr val="accent1"/>
          </a:solidFill>
          <a:ln w="12700">
            <a:solidFill>
              <a:schemeClr val="accent1"/>
            </a:solidFill>
            <a:prstDash val="solid"/>
          </a:ln>
        </p:spPr>
      </p:sp>
      <p:sp>
        <p:nvSpPr>
          <p:cNvPr id="39" name="Ray 120"/>
          <p:cNvSpPr/>
          <p:nvPr/>
        </p:nvSpPr>
        <p:spPr>
          <a:xfrm flipH="1">
            <a:off x="1516712" y="4023360"/>
            <a:ext cx="1135048" cy="1965960"/>
          </a:xfrm>
          <a:prstGeom prst="line">
            <a:avLst/>
          </a:prstGeom>
          <a:noFill/>
          <a:ln w="9525">
            <a:solidFill>
              <a:schemeClr val="accent2">
                <a:alpha val="65000"/>
              </a:schemeClr>
            </a:solidFill>
            <a:prstDash val="solid"/>
          </a:ln>
        </p:spPr>
      </p:sp>
      <p:sp>
        <p:nvSpPr>
          <p:cNvPr id="40" name="Hit 120"/>
          <p:cNvSpPr/>
          <p:nvPr/>
        </p:nvSpPr>
        <p:spPr>
          <a:xfrm>
            <a:off x="1475564" y="5948172"/>
            <a:ext cx="82296" cy="82296"/>
          </a:xfrm>
          <a:prstGeom prst="ellipse">
            <a:avLst/>
          </a:prstGeom>
          <a:solidFill>
            <a:schemeClr val="accent1"/>
          </a:solidFill>
          <a:ln w="12700">
            <a:solidFill>
              <a:schemeClr val="accent1"/>
            </a:solidFill>
            <a:prstDash val="solid"/>
          </a:ln>
        </p:spPr>
      </p:sp>
      <p:sp>
        <p:nvSpPr>
          <p:cNvPr id="41" name="Ray 127.5"/>
          <p:cNvSpPr/>
          <p:nvPr/>
        </p:nvSpPr>
        <p:spPr>
          <a:xfrm flipH="1">
            <a:off x="1143226" y="4023360"/>
            <a:ext cx="1508534" cy="1965960"/>
          </a:xfrm>
          <a:prstGeom prst="line">
            <a:avLst/>
          </a:prstGeom>
          <a:noFill/>
          <a:ln w="9525">
            <a:solidFill>
              <a:schemeClr val="accent2">
                <a:alpha val="65000"/>
              </a:schemeClr>
            </a:solidFill>
            <a:prstDash val="solid"/>
          </a:ln>
        </p:spPr>
      </p:sp>
      <p:sp>
        <p:nvSpPr>
          <p:cNvPr id="42" name="Hit 127.5"/>
          <p:cNvSpPr/>
          <p:nvPr/>
        </p:nvSpPr>
        <p:spPr>
          <a:xfrm>
            <a:off x="1102078" y="5948172"/>
            <a:ext cx="82296" cy="82296"/>
          </a:xfrm>
          <a:prstGeom prst="ellipse">
            <a:avLst/>
          </a:prstGeom>
          <a:solidFill>
            <a:schemeClr val="accent1"/>
          </a:solidFill>
          <a:ln w="12700">
            <a:solidFill>
              <a:schemeClr val="accent1"/>
            </a:solidFill>
            <a:prstDash val="solid"/>
          </a:ln>
        </p:spPr>
      </p:sp>
      <p:sp>
        <p:nvSpPr>
          <p:cNvPr id="43" name="Ray 135"/>
          <p:cNvSpPr/>
          <p:nvPr/>
        </p:nvSpPr>
        <p:spPr>
          <a:xfrm flipH="1">
            <a:off x="822960" y="4023360"/>
            <a:ext cx="1828800" cy="1828800"/>
          </a:xfrm>
          <a:prstGeom prst="line">
            <a:avLst/>
          </a:prstGeom>
          <a:noFill/>
          <a:ln w="9525">
            <a:solidFill>
              <a:schemeClr val="accent2">
                <a:alpha val="65000"/>
              </a:schemeClr>
            </a:solidFill>
            <a:prstDash val="solid"/>
          </a:ln>
        </p:spPr>
      </p:sp>
      <p:sp>
        <p:nvSpPr>
          <p:cNvPr id="44" name="Hit 135"/>
          <p:cNvSpPr/>
          <p:nvPr/>
        </p:nvSpPr>
        <p:spPr>
          <a:xfrm>
            <a:off x="781812" y="5811012"/>
            <a:ext cx="82296" cy="82296"/>
          </a:xfrm>
          <a:prstGeom prst="ellipse">
            <a:avLst/>
          </a:prstGeom>
          <a:solidFill>
            <a:schemeClr val="accent1"/>
          </a:solidFill>
          <a:ln w="12700">
            <a:solidFill>
              <a:schemeClr val="accent1"/>
            </a:solidFill>
            <a:prstDash val="solid"/>
          </a:ln>
        </p:spPr>
      </p:sp>
      <p:sp>
        <p:nvSpPr>
          <p:cNvPr id="45" name="Ray 142.5"/>
          <p:cNvSpPr/>
          <p:nvPr/>
        </p:nvSpPr>
        <p:spPr>
          <a:xfrm flipH="1">
            <a:off x="822960" y="4023360"/>
            <a:ext cx="1828800" cy="1403288"/>
          </a:xfrm>
          <a:prstGeom prst="line">
            <a:avLst/>
          </a:prstGeom>
          <a:noFill/>
          <a:ln w="9525">
            <a:solidFill>
              <a:schemeClr val="accent2">
                <a:alpha val="65000"/>
              </a:schemeClr>
            </a:solidFill>
            <a:prstDash val="solid"/>
          </a:ln>
        </p:spPr>
      </p:sp>
      <p:sp>
        <p:nvSpPr>
          <p:cNvPr id="46" name="Hit 142.5"/>
          <p:cNvSpPr/>
          <p:nvPr/>
        </p:nvSpPr>
        <p:spPr>
          <a:xfrm>
            <a:off x="781812" y="5385500"/>
            <a:ext cx="82296" cy="82296"/>
          </a:xfrm>
          <a:prstGeom prst="ellipse">
            <a:avLst/>
          </a:prstGeom>
          <a:solidFill>
            <a:schemeClr val="accent1"/>
          </a:solidFill>
          <a:ln w="12700">
            <a:solidFill>
              <a:schemeClr val="accent1"/>
            </a:solidFill>
            <a:prstDash val="solid"/>
          </a:ln>
        </p:spPr>
      </p:sp>
      <p:sp>
        <p:nvSpPr>
          <p:cNvPr id="47" name="Ray 150"/>
          <p:cNvSpPr/>
          <p:nvPr/>
        </p:nvSpPr>
        <p:spPr>
          <a:xfrm flipH="1">
            <a:off x="822960" y="4023360"/>
            <a:ext cx="1828800" cy="1055858"/>
          </a:xfrm>
          <a:prstGeom prst="line">
            <a:avLst/>
          </a:prstGeom>
          <a:noFill/>
          <a:ln w="9525">
            <a:solidFill>
              <a:schemeClr val="accent2">
                <a:alpha val="65000"/>
              </a:schemeClr>
            </a:solidFill>
            <a:prstDash val="solid"/>
          </a:ln>
        </p:spPr>
      </p:sp>
      <p:sp>
        <p:nvSpPr>
          <p:cNvPr id="48" name="Hit 150"/>
          <p:cNvSpPr/>
          <p:nvPr/>
        </p:nvSpPr>
        <p:spPr>
          <a:xfrm>
            <a:off x="781812" y="5038070"/>
            <a:ext cx="82296" cy="82296"/>
          </a:xfrm>
          <a:prstGeom prst="ellipse">
            <a:avLst/>
          </a:prstGeom>
          <a:solidFill>
            <a:schemeClr val="accent1"/>
          </a:solidFill>
          <a:ln w="12700">
            <a:solidFill>
              <a:schemeClr val="accent1"/>
            </a:solidFill>
            <a:prstDash val="solid"/>
          </a:ln>
        </p:spPr>
      </p:sp>
      <p:sp>
        <p:nvSpPr>
          <p:cNvPr id="49" name="Ray 157.5"/>
          <p:cNvSpPr/>
          <p:nvPr/>
        </p:nvSpPr>
        <p:spPr>
          <a:xfrm flipH="1">
            <a:off x="822960" y="4023360"/>
            <a:ext cx="1828800" cy="757514"/>
          </a:xfrm>
          <a:prstGeom prst="line">
            <a:avLst/>
          </a:prstGeom>
          <a:noFill/>
          <a:ln w="9525">
            <a:solidFill>
              <a:schemeClr val="accent2">
                <a:alpha val="65000"/>
              </a:schemeClr>
            </a:solidFill>
            <a:prstDash val="solid"/>
          </a:ln>
        </p:spPr>
      </p:sp>
      <p:sp>
        <p:nvSpPr>
          <p:cNvPr id="50" name="Hit 157.5"/>
          <p:cNvSpPr/>
          <p:nvPr/>
        </p:nvSpPr>
        <p:spPr>
          <a:xfrm>
            <a:off x="781812" y="4739726"/>
            <a:ext cx="82296" cy="82296"/>
          </a:xfrm>
          <a:prstGeom prst="ellipse">
            <a:avLst/>
          </a:prstGeom>
          <a:solidFill>
            <a:schemeClr val="accent1"/>
          </a:solidFill>
          <a:ln w="12700">
            <a:solidFill>
              <a:schemeClr val="accent1"/>
            </a:solidFill>
            <a:prstDash val="solid"/>
          </a:ln>
        </p:spPr>
      </p:sp>
      <p:sp>
        <p:nvSpPr>
          <p:cNvPr id="51" name="Ray 165"/>
          <p:cNvSpPr/>
          <p:nvPr/>
        </p:nvSpPr>
        <p:spPr>
          <a:xfrm flipH="1">
            <a:off x="822960" y="4023360"/>
            <a:ext cx="1828800" cy="490025"/>
          </a:xfrm>
          <a:prstGeom prst="line">
            <a:avLst/>
          </a:prstGeom>
          <a:noFill/>
          <a:ln w="9525">
            <a:solidFill>
              <a:schemeClr val="accent2">
                <a:alpha val="65000"/>
              </a:schemeClr>
            </a:solidFill>
            <a:prstDash val="solid"/>
          </a:ln>
        </p:spPr>
      </p:sp>
      <p:sp>
        <p:nvSpPr>
          <p:cNvPr id="52" name="Hit 165"/>
          <p:cNvSpPr/>
          <p:nvPr/>
        </p:nvSpPr>
        <p:spPr>
          <a:xfrm>
            <a:off x="781812" y="4472237"/>
            <a:ext cx="82296" cy="82296"/>
          </a:xfrm>
          <a:prstGeom prst="ellipse">
            <a:avLst/>
          </a:prstGeom>
          <a:solidFill>
            <a:schemeClr val="accent1"/>
          </a:solidFill>
          <a:ln w="12700">
            <a:solidFill>
              <a:schemeClr val="accent1"/>
            </a:solidFill>
            <a:prstDash val="solid"/>
          </a:ln>
        </p:spPr>
      </p:sp>
      <p:sp>
        <p:nvSpPr>
          <p:cNvPr id="53" name="Ray 172.5"/>
          <p:cNvSpPr/>
          <p:nvPr/>
        </p:nvSpPr>
        <p:spPr>
          <a:xfrm flipH="1">
            <a:off x="822960" y="4023360"/>
            <a:ext cx="1828800" cy="240766"/>
          </a:xfrm>
          <a:prstGeom prst="line">
            <a:avLst/>
          </a:prstGeom>
          <a:noFill/>
          <a:ln w="9525">
            <a:solidFill>
              <a:schemeClr val="accent2">
                <a:alpha val="65000"/>
              </a:schemeClr>
            </a:solidFill>
            <a:prstDash val="solid"/>
          </a:ln>
        </p:spPr>
      </p:sp>
      <p:sp>
        <p:nvSpPr>
          <p:cNvPr id="54" name="Hit 172.5"/>
          <p:cNvSpPr/>
          <p:nvPr/>
        </p:nvSpPr>
        <p:spPr>
          <a:xfrm>
            <a:off x="781812" y="4222978"/>
            <a:ext cx="82296" cy="82296"/>
          </a:xfrm>
          <a:prstGeom prst="ellipse">
            <a:avLst/>
          </a:prstGeom>
          <a:solidFill>
            <a:schemeClr val="accent1"/>
          </a:solidFill>
          <a:ln w="12700">
            <a:solidFill>
              <a:schemeClr val="accent1"/>
            </a:solidFill>
            <a:prstDash val="solid"/>
          </a:ln>
        </p:spPr>
      </p:sp>
      <p:sp>
        <p:nvSpPr>
          <p:cNvPr id="55" name="Ray 180"/>
          <p:cNvSpPr/>
          <p:nvPr/>
        </p:nvSpPr>
        <p:spPr>
          <a:xfrm flipH="1">
            <a:off x="822960" y="4023360"/>
            <a:ext cx="1828800" cy="0"/>
          </a:xfrm>
          <a:prstGeom prst="line">
            <a:avLst/>
          </a:prstGeom>
          <a:noFill/>
          <a:ln w="9525">
            <a:solidFill>
              <a:schemeClr val="accent2">
                <a:alpha val="65000"/>
              </a:schemeClr>
            </a:solidFill>
            <a:prstDash val="solid"/>
          </a:ln>
        </p:spPr>
      </p:sp>
      <p:sp>
        <p:nvSpPr>
          <p:cNvPr id="56" name="Hit 180"/>
          <p:cNvSpPr/>
          <p:nvPr/>
        </p:nvSpPr>
        <p:spPr>
          <a:xfrm>
            <a:off x="781812" y="3982212"/>
            <a:ext cx="82296" cy="82296"/>
          </a:xfrm>
          <a:prstGeom prst="ellipse">
            <a:avLst/>
          </a:prstGeom>
          <a:solidFill>
            <a:schemeClr val="accent1"/>
          </a:solidFill>
          <a:ln w="12700">
            <a:solidFill>
              <a:schemeClr val="accent1"/>
            </a:solidFill>
            <a:prstDash val="solid"/>
          </a:ln>
        </p:spPr>
      </p:sp>
      <p:sp>
        <p:nvSpPr>
          <p:cNvPr id="57" name="Ray 187.5"/>
          <p:cNvSpPr/>
          <p:nvPr/>
        </p:nvSpPr>
        <p:spPr>
          <a:xfrm flipH="1" flipV="1">
            <a:off x="822960" y="3782594"/>
            <a:ext cx="1828800" cy="240766"/>
          </a:xfrm>
          <a:prstGeom prst="line">
            <a:avLst/>
          </a:prstGeom>
          <a:noFill/>
          <a:ln w="9525">
            <a:solidFill>
              <a:schemeClr val="accent2">
                <a:alpha val="65000"/>
              </a:schemeClr>
            </a:solidFill>
            <a:prstDash val="solid"/>
          </a:ln>
        </p:spPr>
      </p:sp>
      <p:sp>
        <p:nvSpPr>
          <p:cNvPr id="58" name="Hit 187.5"/>
          <p:cNvSpPr/>
          <p:nvPr/>
        </p:nvSpPr>
        <p:spPr>
          <a:xfrm>
            <a:off x="781812" y="3741446"/>
            <a:ext cx="82296" cy="82296"/>
          </a:xfrm>
          <a:prstGeom prst="ellipse">
            <a:avLst/>
          </a:prstGeom>
          <a:solidFill>
            <a:schemeClr val="accent1"/>
          </a:solidFill>
          <a:ln w="12700">
            <a:solidFill>
              <a:schemeClr val="accent1"/>
            </a:solidFill>
            <a:prstDash val="solid"/>
          </a:ln>
        </p:spPr>
      </p:sp>
      <p:sp>
        <p:nvSpPr>
          <p:cNvPr id="59" name="Ray 195"/>
          <p:cNvSpPr/>
          <p:nvPr/>
        </p:nvSpPr>
        <p:spPr>
          <a:xfrm flipH="1" flipV="1">
            <a:off x="822960" y="3533335"/>
            <a:ext cx="1828800" cy="490025"/>
          </a:xfrm>
          <a:prstGeom prst="line">
            <a:avLst/>
          </a:prstGeom>
          <a:noFill/>
          <a:ln w="9525">
            <a:solidFill>
              <a:schemeClr val="accent2">
                <a:alpha val="65000"/>
              </a:schemeClr>
            </a:solidFill>
            <a:prstDash val="solid"/>
          </a:ln>
        </p:spPr>
      </p:sp>
      <p:sp>
        <p:nvSpPr>
          <p:cNvPr id="60" name="Hit 195"/>
          <p:cNvSpPr/>
          <p:nvPr/>
        </p:nvSpPr>
        <p:spPr>
          <a:xfrm>
            <a:off x="781812" y="3492187"/>
            <a:ext cx="82296" cy="82296"/>
          </a:xfrm>
          <a:prstGeom prst="ellipse">
            <a:avLst/>
          </a:prstGeom>
          <a:solidFill>
            <a:schemeClr val="accent1"/>
          </a:solidFill>
          <a:ln w="12700">
            <a:solidFill>
              <a:schemeClr val="accent1"/>
            </a:solidFill>
            <a:prstDash val="solid"/>
          </a:ln>
        </p:spPr>
      </p:sp>
      <p:sp>
        <p:nvSpPr>
          <p:cNvPr id="61" name="Ray 202.5"/>
          <p:cNvSpPr/>
          <p:nvPr/>
        </p:nvSpPr>
        <p:spPr>
          <a:xfrm flipH="1" flipV="1">
            <a:off x="822960" y="3265846"/>
            <a:ext cx="1828800" cy="757514"/>
          </a:xfrm>
          <a:prstGeom prst="line">
            <a:avLst/>
          </a:prstGeom>
          <a:noFill/>
          <a:ln w="9525">
            <a:solidFill>
              <a:schemeClr val="accent2">
                <a:alpha val="65000"/>
              </a:schemeClr>
            </a:solidFill>
            <a:prstDash val="solid"/>
          </a:ln>
        </p:spPr>
      </p:sp>
      <p:sp>
        <p:nvSpPr>
          <p:cNvPr id="62" name="Hit 202.5"/>
          <p:cNvSpPr/>
          <p:nvPr/>
        </p:nvSpPr>
        <p:spPr>
          <a:xfrm>
            <a:off x="781812" y="3224698"/>
            <a:ext cx="82296" cy="82296"/>
          </a:xfrm>
          <a:prstGeom prst="ellipse">
            <a:avLst/>
          </a:prstGeom>
          <a:solidFill>
            <a:schemeClr val="accent1"/>
          </a:solidFill>
          <a:ln w="12700">
            <a:solidFill>
              <a:schemeClr val="accent1"/>
            </a:solidFill>
            <a:prstDash val="solid"/>
          </a:ln>
        </p:spPr>
      </p:sp>
      <p:sp>
        <p:nvSpPr>
          <p:cNvPr id="63" name="Ray 210"/>
          <p:cNvSpPr/>
          <p:nvPr/>
        </p:nvSpPr>
        <p:spPr>
          <a:xfrm flipH="1" flipV="1">
            <a:off x="822960" y="2967502"/>
            <a:ext cx="1828800" cy="1055858"/>
          </a:xfrm>
          <a:prstGeom prst="line">
            <a:avLst/>
          </a:prstGeom>
          <a:noFill/>
          <a:ln w="9525">
            <a:solidFill>
              <a:schemeClr val="accent2">
                <a:alpha val="65000"/>
              </a:schemeClr>
            </a:solidFill>
            <a:prstDash val="solid"/>
          </a:ln>
        </p:spPr>
      </p:sp>
      <p:sp>
        <p:nvSpPr>
          <p:cNvPr id="64" name="Hit 210"/>
          <p:cNvSpPr/>
          <p:nvPr/>
        </p:nvSpPr>
        <p:spPr>
          <a:xfrm>
            <a:off x="781812" y="2926354"/>
            <a:ext cx="82296" cy="82296"/>
          </a:xfrm>
          <a:prstGeom prst="ellipse">
            <a:avLst/>
          </a:prstGeom>
          <a:solidFill>
            <a:schemeClr val="accent1"/>
          </a:solidFill>
          <a:ln w="12700">
            <a:solidFill>
              <a:schemeClr val="accent1"/>
            </a:solidFill>
            <a:prstDash val="solid"/>
          </a:ln>
        </p:spPr>
      </p:sp>
      <p:sp>
        <p:nvSpPr>
          <p:cNvPr id="65" name="Ray 217.5"/>
          <p:cNvSpPr/>
          <p:nvPr/>
        </p:nvSpPr>
        <p:spPr>
          <a:xfrm flipH="1" flipV="1">
            <a:off x="822960" y="2620072"/>
            <a:ext cx="1828800" cy="1403288"/>
          </a:xfrm>
          <a:prstGeom prst="line">
            <a:avLst/>
          </a:prstGeom>
          <a:noFill/>
          <a:ln w="9525">
            <a:solidFill>
              <a:schemeClr val="accent2">
                <a:alpha val="65000"/>
              </a:schemeClr>
            </a:solidFill>
            <a:prstDash val="solid"/>
          </a:ln>
        </p:spPr>
      </p:sp>
      <p:sp>
        <p:nvSpPr>
          <p:cNvPr id="66" name="Hit 217.5"/>
          <p:cNvSpPr/>
          <p:nvPr/>
        </p:nvSpPr>
        <p:spPr>
          <a:xfrm>
            <a:off x="781812" y="2578924"/>
            <a:ext cx="82296" cy="82296"/>
          </a:xfrm>
          <a:prstGeom prst="ellipse">
            <a:avLst/>
          </a:prstGeom>
          <a:solidFill>
            <a:schemeClr val="accent1"/>
          </a:solidFill>
          <a:ln w="12700">
            <a:solidFill>
              <a:schemeClr val="accent1"/>
            </a:solidFill>
            <a:prstDash val="solid"/>
          </a:ln>
        </p:spPr>
      </p:sp>
      <p:sp>
        <p:nvSpPr>
          <p:cNvPr id="67" name="Ray 225"/>
          <p:cNvSpPr/>
          <p:nvPr/>
        </p:nvSpPr>
        <p:spPr>
          <a:xfrm flipH="1" flipV="1">
            <a:off x="822960" y="2194560"/>
            <a:ext cx="1828800" cy="1828800"/>
          </a:xfrm>
          <a:prstGeom prst="line">
            <a:avLst/>
          </a:prstGeom>
          <a:noFill/>
          <a:ln w="9525">
            <a:solidFill>
              <a:schemeClr val="accent2">
                <a:alpha val="65000"/>
              </a:schemeClr>
            </a:solidFill>
            <a:prstDash val="solid"/>
          </a:ln>
        </p:spPr>
      </p:sp>
      <p:sp>
        <p:nvSpPr>
          <p:cNvPr id="68" name="Hit 225"/>
          <p:cNvSpPr/>
          <p:nvPr/>
        </p:nvSpPr>
        <p:spPr>
          <a:xfrm>
            <a:off x="781812" y="2153412"/>
            <a:ext cx="82296" cy="82296"/>
          </a:xfrm>
          <a:prstGeom prst="ellipse">
            <a:avLst/>
          </a:prstGeom>
          <a:solidFill>
            <a:schemeClr val="accent1"/>
          </a:solidFill>
          <a:ln w="12700">
            <a:solidFill>
              <a:schemeClr val="accent1"/>
            </a:solidFill>
            <a:prstDash val="solid"/>
          </a:ln>
        </p:spPr>
      </p:sp>
      <p:sp>
        <p:nvSpPr>
          <p:cNvPr id="69" name="Ray 232.5"/>
          <p:cNvSpPr/>
          <p:nvPr/>
        </p:nvSpPr>
        <p:spPr>
          <a:xfrm flipH="1" flipV="1">
            <a:off x="822960" y="1640021"/>
            <a:ext cx="1828800" cy="2383339"/>
          </a:xfrm>
          <a:prstGeom prst="line">
            <a:avLst/>
          </a:prstGeom>
          <a:noFill/>
          <a:ln w="9525">
            <a:solidFill>
              <a:schemeClr val="accent2">
                <a:alpha val="65000"/>
              </a:schemeClr>
            </a:solidFill>
            <a:prstDash val="solid"/>
          </a:ln>
        </p:spPr>
      </p:sp>
      <p:sp>
        <p:nvSpPr>
          <p:cNvPr id="70" name="Hit 232.5"/>
          <p:cNvSpPr/>
          <p:nvPr/>
        </p:nvSpPr>
        <p:spPr>
          <a:xfrm>
            <a:off x="781812" y="1598873"/>
            <a:ext cx="82296" cy="82296"/>
          </a:xfrm>
          <a:prstGeom prst="ellipse">
            <a:avLst/>
          </a:prstGeom>
          <a:solidFill>
            <a:schemeClr val="accent1"/>
          </a:solidFill>
          <a:ln w="12700">
            <a:solidFill>
              <a:schemeClr val="accent1"/>
            </a:solidFill>
            <a:prstDash val="solid"/>
          </a:ln>
        </p:spPr>
      </p:sp>
      <p:sp>
        <p:nvSpPr>
          <p:cNvPr id="71" name="Ray 240"/>
          <p:cNvSpPr/>
          <p:nvPr/>
        </p:nvSpPr>
        <p:spPr>
          <a:xfrm flipH="1" flipV="1">
            <a:off x="1226351" y="1554480"/>
            <a:ext cx="1425409" cy="2468880"/>
          </a:xfrm>
          <a:prstGeom prst="line">
            <a:avLst/>
          </a:prstGeom>
          <a:noFill/>
          <a:ln w="9525">
            <a:solidFill>
              <a:schemeClr val="accent2">
                <a:alpha val="65000"/>
              </a:schemeClr>
            </a:solidFill>
            <a:prstDash val="solid"/>
          </a:ln>
        </p:spPr>
      </p:sp>
      <p:sp>
        <p:nvSpPr>
          <p:cNvPr id="72" name="Hit 240"/>
          <p:cNvSpPr/>
          <p:nvPr/>
        </p:nvSpPr>
        <p:spPr>
          <a:xfrm>
            <a:off x="1185203" y="1513332"/>
            <a:ext cx="82296" cy="82296"/>
          </a:xfrm>
          <a:prstGeom prst="ellipse">
            <a:avLst/>
          </a:prstGeom>
          <a:solidFill>
            <a:schemeClr val="accent1"/>
          </a:solidFill>
          <a:ln w="12700">
            <a:solidFill>
              <a:schemeClr val="accent1"/>
            </a:solidFill>
            <a:prstDash val="solid"/>
          </a:ln>
        </p:spPr>
      </p:sp>
      <p:sp>
        <p:nvSpPr>
          <p:cNvPr id="73" name="Ray 247.5"/>
          <p:cNvSpPr/>
          <p:nvPr/>
        </p:nvSpPr>
        <p:spPr>
          <a:xfrm flipH="1" flipV="1">
            <a:off x="1629116" y="1554480"/>
            <a:ext cx="1022644" cy="2468880"/>
          </a:xfrm>
          <a:prstGeom prst="line">
            <a:avLst/>
          </a:prstGeom>
          <a:noFill/>
          <a:ln w="9525">
            <a:solidFill>
              <a:schemeClr val="accent2">
                <a:alpha val="65000"/>
              </a:schemeClr>
            </a:solidFill>
            <a:prstDash val="solid"/>
          </a:ln>
        </p:spPr>
      </p:sp>
      <p:sp>
        <p:nvSpPr>
          <p:cNvPr id="74" name="Hit 247.5"/>
          <p:cNvSpPr/>
          <p:nvPr/>
        </p:nvSpPr>
        <p:spPr>
          <a:xfrm>
            <a:off x="1587968" y="1513332"/>
            <a:ext cx="82296" cy="82296"/>
          </a:xfrm>
          <a:prstGeom prst="ellipse">
            <a:avLst/>
          </a:prstGeom>
          <a:solidFill>
            <a:schemeClr val="accent1"/>
          </a:solidFill>
          <a:ln w="12700">
            <a:solidFill>
              <a:schemeClr val="accent1"/>
            </a:solidFill>
            <a:prstDash val="solid"/>
          </a:ln>
        </p:spPr>
      </p:sp>
      <p:sp>
        <p:nvSpPr>
          <p:cNvPr id="75" name="Ray 255"/>
          <p:cNvSpPr/>
          <p:nvPr/>
        </p:nvSpPr>
        <p:spPr>
          <a:xfrm flipH="1" flipV="1">
            <a:off x="1990226" y="1554480"/>
            <a:ext cx="661534" cy="2468880"/>
          </a:xfrm>
          <a:prstGeom prst="line">
            <a:avLst/>
          </a:prstGeom>
          <a:noFill/>
          <a:ln w="9525">
            <a:solidFill>
              <a:schemeClr val="accent2">
                <a:alpha val="65000"/>
              </a:schemeClr>
            </a:solidFill>
            <a:prstDash val="solid"/>
          </a:ln>
        </p:spPr>
      </p:sp>
      <p:sp>
        <p:nvSpPr>
          <p:cNvPr id="76" name="Hit 255"/>
          <p:cNvSpPr/>
          <p:nvPr/>
        </p:nvSpPr>
        <p:spPr>
          <a:xfrm>
            <a:off x="1949078" y="1513332"/>
            <a:ext cx="82296" cy="82296"/>
          </a:xfrm>
          <a:prstGeom prst="ellipse">
            <a:avLst/>
          </a:prstGeom>
          <a:solidFill>
            <a:schemeClr val="accent1"/>
          </a:solidFill>
          <a:ln w="12700">
            <a:solidFill>
              <a:schemeClr val="accent1"/>
            </a:solidFill>
            <a:prstDash val="solid"/>
          </a:ln>
        </p:spPr>
      </p:sp>
      <p:sp>
        <p:nvSpPr>
          <p:cNvPr id="77" name="Ray 262.5"/>
          <p:cNvSpPr/>
          <p:nvPr/>
        </p:nvSpPr>
        <p:spPr>
          <a:xfrm flipH="1" flipV="1">
            <a:off x="2326726" y="1554480"/>
            <a:ext cx="325034" cy="2468880"/>
          </a:xfrm>
          <a:prstGeom prst="line">
            <a:avLst/>
          </a:prstGeom>
          <a:noFill/>
          <a:ln w="9525">
            <a:solidFill>
              <a:schemeClr val="accent2">
                <a:alpha val="65000"/>
              </a:schemeClr>
            </a:solidFill>
            <a:prstDash val="solid"/>
          </a:ln>
        </p:spPr>
      </p:sp>
      <p:sp>
        <p:nvSpPr>
          <p:cNvPr id="78" name="Hit 262.5"/>
          <p:cNvSpPr/>
          <p:nvPr/>
        </p:nvSpPr>
        <p:spPr>
          <a:xfrm>
            <a:off x="2285578" y="1513332"/>
            <a:ext cx="82296" cy="82296"/>
          </a:xfrm>
          <a:prstGeom prst="ellipse">
            <a:avLst/>
          </a:prstGeom>
          <a:solidFill>
            <a:schemeClr val="accent1"/>
          </a:solidFill>
          <a:ln w="12700">
            <a:solidFill>
              <a:schemeClr val="accent1"/>
            </a:solidFill>
            <a:prstDash val="solid"/>
          </a:ln>
        </p:spPr>
      </p:sp>
      <p:sp>
        <p:nvSpPr>
          <p:cNvPr id="79" name="Ray 270"/>
          <p:cNvSpPr/>
          <p:nvPr/>
        </p:nvSpPr>
        <p:spPr>
          <a:xfrm flipH="1" flipV="1">
            <a:off x="2651760" y="1554480"/>
            <a:ext cx="0" cy="2468880"/>
          </a:xfrm>
          <a:prstGeom prst="line">
            <a:avLst/>
          </a:prstGeom>
          <a:noFill/>
          <a:ln w="9525">
            <a:solidFill>
              <a:schemeClr val="accent2">
                <a:alpha val="65000"/>
              </a:schemeClr>
            </a:solidFill>
            <a:prstDash val="solid"/>
          </a:ln>
        </p:spPr>
      </p:sp>
      <p:sp>
        <p:nvSpPr>
          <p:cNvPr id="80" name="Hit 270"/>
          <p:cNvSpPr/>
          <p:nvPr/>
        </p:nvSpPr>
        <p:spPr>
          <a:xfrm>
            <a:off x="2610612" y="1513332"/>
            <a:ext cx="82296" cy="82296"/>
          </a:xfrm>
          <a:prstGeom prst="ellipse">
            <a:avLst/>
          </a:prstGeom>
          <a:solidFill>
            <a:schemeClr val="accent1"/>
          </a:solidFill>
          <a:ln w="12700">
            <a:solidFill>
              <a:schemeClr val="accent1"/>
            </a:solidFill>
            <a:prstDash val="solid"/>
          </a:ln>
        </p:spPr>
      </p:sp>
      <p:sp>
        <p:nvSpPr>
          <p:cNvPr id="81" name="Ray 277.5"/>
          <p:cNvSpPr/>
          <p:nvPr/>
        </p:nvSpPr>
        <p:spPr>
          <a:xfrm flipV="1">
            <a:off x="2651760" y="1554480"/>
            <a:ext cx="325034" cy="2468880"/>
          </a:xfrm>
          <a:prstGeom prst="line">
            <a:avLst/>
          </a:prstGeom>
          <a:noFill/>
          <a:ln w="9525">
            <a:solidFill>
              <a:schemeClr val="accent2">
                <a:alpha val="65000"/>
              </a:schemeClr>
            </a:solidFill>
            <a:prstDash val="solid"/>
          </a:ln>
        </p:spPr>
      </p:sp>
      <p:sp>
        <p:nvSpPr>
          <p:cNvPr id="82" name="Hit 277.5"/>
          <p:cNvSpPr/>
          <p:nvPr/>
        </p:nvSpPr>
        <p:spPr>
          <a:xfrm>
            <a:off x="2935646" y="1513332"/>
            <a:ext cx="82296" cy="82296"/>
          </a:xfrm>
          <a:prstGeom prst="ellipse">
            <a:avLst/>
          </a:prstGeom>
          <a:solidFill>
            <a:schemeClr val="accent1"/>
          </a:solidFill>
          <a:ln w="12700">
            <a:solidFill>
              <a:schemeClr val="accent1"/>
            </a:solidFill>
            <a:prstDash val="solid"/>
          </a:ln>
        </p:spPr>
      </p:sp>
      <p:sp>
        <p:nvSpPr>
          <p:cNvPr id="83" name="Ray 285"/>
          <p:cNvSpPr/>
          <p:nvPr/>
        </p:nvSpPr>
        <p:spPr>
          <a:xfrm flipV="1">
            <a:off x="2651760" y="1554480"/>
            <a:ext cx="661534" cy="2468880"/>
          </a:xfrm>
          <a:prstGeom prst="line">
            <a:avLst/>
          </a:prstGeom>
          <a:noFill/>
          <a:ln w="9525">
            <a:solidFill>
              <a:schemeClr val="accent2">
                <a:alpha val="65000"/>
              </a:schemeClr>
            </a:solidFill>
            <a:prstDash val="solid"/>
          </a:ln>
        </p:spPr>
      </p:sp>
      <p:sp>
        <p:nvSpPr>
          <p:cNvPr id="84" name="Hit 285"/>
          <p:cNvSpPr/>
          <p:nvPr/>
        </p:nvSpPr>
        <p:spPr>
          <a:xfrm>
            <a:off x="3272146" y="1513332"/>
            <a:ext cx="82296" cy="82296"/>
          </a:xfrm>
          <a:prstGeom prst="ellipse">
            <a:avLst/>
          </a:prstGeom>
          <a:solidFill>
            <a:schemeClr val="accent1"/>
          </a:solidFill>
          <a:ln w="12700">
            <a:solidFill>
              <a:schemeClr val="accent1"/>
            </a:solidFill>
            <a:prstDash val="solid"/>
          </a:ln>
        </p:spPr>
      </p:sp>
      <p:sp>
        <p:nvSpPr>
          <p:cNvPr id="85" name="Ray 292.5"/>
          <p:cNvSpPr/>
          <p:nvPr/>
        </p:nvSpPr>
        <p:spPr>
          <a:xfrm flipV="1">
            <a:off x="2651760" y="1554480"/>
            <a:ext cx="1022644" cy="2468880"/>
          </a:xfrm>
          <a:prstGeom prst="line">
            <a:avLst/>
          </a:prstGeom>
          <a:noFill/>
          <a:ln w="9525">
            <a:solidFill>
              <a:schemeClr val="accent2">
                <a:alpha val="65000"/>
              </a:schemeClr>
            </a:solidFill>
            <a:prstDash val="solid"/>
          </a:ln>
        </p:spPr>
      </p:sp>
      <p:sp>
        <p:nvSpPr>
          <p:cNvPr id="86" name="Hit 292.5"/>
          <p:cNvSpPr/>
          <p:nvPr/>
        </p:nvSpPr>
        <p:spPr>
          <a:xfrm>
            <a:off x="3633256" y="1513332"/>
            <a:ext cx="82296" cy="82296"/>
          </a:xfrm>
          <a:prstGeom prst="ellipse">
            <a:avLst/>
          </a:prstGeom>
          <a:solidFill>
            <a:schemeClr val="accent1"/>
          </a:solidFill>
          <a:ln w="12700">
            <a:solidFill>
              <a:schemeClr val="accent1"/>
            </a:solidFill>
            <a:prstDash val="solid"/>
          </a:ln>
        </p:spPr>
      </p:sp>
      <p:sp>
        <p:nvSpPr>
          <p:cNvPr id="87" name="Ray 300"/>
          <p:cNvSpPr/>
          <p:nvPr/>
        </p:nvSpPr>
        <p:spPr>
          <a:xfrm flipV="1">
            <a:off x="2651760" y="1554480"/>
            <a:ext cx="1425409" cy="2468880"/>
          </a:xfrm>
          <a:prstGeom prst="line">
            <a:avLst/>
          </a:prstGeom>
          <a:noFill/>
          <a:ln w="9525">
            <a:solidFill>
              <a:schemeClr val="accent2">
                <a:alpha val="65000"/>
              </a:schemeClr>
            </a:solidFill>
            <a:prstDash val="solid"/>
          </a:ln>
        </p:spPr>
      </p:sp>
      <p:sp>
        <p:nvSpPr>
          <p:cNvPr id="88" name="Hit 300"/>
          <p:cNvSpPr/>
          <p:nvPr/>
        </p:nvSpPr>
        <p:spPr>
          <a:xfrm>
            <a:off x="4036021" y="1513332"/>
            <a:ext cx="82296" cy="82296"/>
          </a:xfrm>
          <a:prstGeom prst="ellipse">
            <a:avLst/>
          </a:prstGeom>
          <a:solidFill>
            <a:schemeClr val="accent1"/>
          </a:solidFill>
          <a:ln w="12700">
            <a:solidFill>
              <a:schemeClr val="accent1"/>
            </a:solidFill>
            <a:prstDash val="solid"/>
          </a:ln>
        </p:spPr>
      </p:sp>
      <p:sp>
        <p:nvSpPr>
          <p:cNvPr id="89" name="Ray 307.5"/>
          <p:cNvSpPr/>
          <p:nvPr/>
        </p:nvSpPr>
        <p:spPr>
          <a:xfrm flipV="1">
            <a:off x="2651760" y="2414606"/>
            <a:ext cx="1234440" cy="1608754"/>
          </a:xfrm>
          <a:prstGeom prst="line">
            <a:avLst/>
          </a:prstGeom>
          <a:noFill/>
          <a:ln w="9525">
            <a:solidFill>
              <a:schemeClr val="accent2">
                <a:alpha val="65000"/>
              </a:schemeClr>
            </a:solidFill>
            <a:prstDash val="solid"/>
          </a:ln>
        </p:spPr>
      </p:sp>
      <p:sp>
        <p:nvSpPr>
          <p:cNvPr id="90" name="Hit 307.5"/>
          <p:cNvSpPr/>
          <p:nvPr/>
        </p:nvSpPr>
        <p:spPr>
          <a:xfrm>
            <a:off x="3845052" y="2373458"/>
            <a:ext cx="82296" cy="82296"/>
          </a:xfrm>
          <a:prstGeom prst="ellipse">
            <a:avLst/>
          </a:prstGeom>
          <a:solidFill>
            <a:schemeClr val="accent1"/>
          </a:solidFill>
          <a:ln w="12700">
            <a:solidFill>
              <a:schemeClr val="accent1"/>
            </a:solidFill>
            <a:prstDash val="solid"/>
          </a:ln>
        </p:spPr>
      </p:sp>
      <p:sp>
        <p:nvSpPr>
          <p:cNvPr id="91" name="Ray 315"/>
          <p:cNvSpPr/>
          <p:nvPr/>
        </p:nvSpPr>
        <p:spPr>
          <a:xfrm flipV="1">
            <a:off x="2651760" y="2788920"/>
            <a:ext cx="1234440" cy="1234440"/>
          </a:xfrm>
          <a:prstGeom prst="line">
            <a:avLst/>
          </a:prstGeom>
          <a:noFill/>
          <a:ln w="9525">
            <a:solidFill>
              <a:schemeClr val="accent2">
                <a:alpha val="65000"/>
              </a:schemeClr>
            </a:solidFill>
            <a:prstDash val="solid"/>
          </a:ln>
        </p:spPr>
      </p:sp>
      <p:sp>
        <p:nvSpPr>
          <p:cNvPr id="92" name="Hit 315"/>
          <p:cNvSpPr/>
          <p:nvPr/>
        </p:nvSpPr>
        <p:spPr>
          <a:xfrm>
            <a:off x="3845052" y="2747772"/>
            <a:ext cx="82296" cy="82296"/>
          </a:xfrm>
          <a:prstGeom prst="ellipse">
            <a:avLst/>
          </a:prstGeom>
          <a:solidFill>
            <a:schemeClr val="accent1"/>
          </a:solidFill>
          <a:ln w="12700">
            <a:solidFill>
              <a:schemeClr val="accent1"/>
            </a:solidFill>
            <a:prstDash val="solid"/>
          </a:ln>
        </p:spPr>
      </p:sp>
      <p:sp>
        <p:nvSpPr>
          <p:cNvPr id="93" name="Ray 322.5"/>
          <p:cNvSpPr/>
          <p:nvPr/>
        </p:nvSpPr>
        <p:spPr>
          <a:xfrm flipV="1">
            <a:off x="2651760" y="2880360"/>
            <a:ext cx="1489587" cy="1143000"/>
          </a:xfrm>
          <a:prstGeom prst="line">
            <a:avLst/>
          </a:prstGeom>
          <a:noFill/>
          <a:ln w="9525">
            <a:solidFill>
              <a:schemeClr val="accent2">
                <a:alpha val="65000"/>
              </a:schemeClr>
            </a:solidFill>
            <a:prstDash val="solid"/>
          </a:ln>
        </p:spPr>
      </p:sp>
      <p:sp>
        <p:nvSpPr>
          <p:cNvPr id="94" name="Hit 322.5"/>
          <p:cNvSpPr/>
          <p:nvPr/>
        </p:nvSpPr>
        <p:spPr>
          <a:xfrm>
            <a:off x="4100199" y="2839212"/>
            <a:ext cx="82296" cy="82296"/>
          </a:xfrm>
          <a:prstGeom prst="ellipse">
            <a:avLst/>
          </a:prstGeom>
          <a:solidFill>
            <a:schemeClr val="accent1"/>
          </a:solidFill>
          <a:ln w="12700">
            <a:solidFill>
              <a:schemeClr val="accent1"/>
            </a:solidFill>
            <a:prstDash val="solid"/>
          </a:ln>
        </p:spPr>
      </p:sp>
      <p:sp>
        <p:nvSpPr>
          <p:cNvPr id="95" name="Ray 330"/>
          <p:cNvSpPr/>
          <p:nvPr/>
        </p:nvSpPr>
        <p:spPr>
          <a:xfrm flipV="1">
            <a:off x="2651760" y="2545159"/>
            <a:ext cx="2560320" cy="1478201"/>
          </a:xfrm>
          <a:prstGeom prst="line">
            <a:avLst/>
          </a:prstGeom>
          <a:noFill/>
          <a:ln w="9525">
            <a:solidFill>
              <a:schemeClr val="accent2">
                <a:alpha val="65000"/>
              </a:schemeClr>
            </a:solidFill>
            <a:prstDash val="solid"/>
          </a:ln>
        </p:spPr>
      </p:sp>
      <p:sp>
        <p:nvSpPr>
          <p:cNvPr id="96" name="Hit 330"/>
          <p:cNvSpPr/>
          <p:nvPr/>
        </p:nvSpPr>
        <p:spPr>
          <a:xfrm>
            <a:off x="5170932" y="2504011"/>
            <a:ext cx="82296" cy="82296"/>
          </a:xfrm>
          <a:prstGeom prst="ellipse">
            <a:avLst/>
          </a:prstGeom>
          <a:solidFill>
            <a:schemeClr val="accent1"/>
          </a:solidFill>
          <a:ln w="12700">
            <a:solidFill>
              <a:schemeClr val="accent1"/>
            </a:solidFill>
            <a:prstDash val="solid"/>
          </a:ln>
        </p:spPr>
      </p:sp>
      <p:sp>
        <p:nvSpPr>
          <p:cNvPr id="97" name="Ray 337.5"/>
          <p:cNvSpPr/>
          <p:nvPr/>
        </p:nvSpPr>
        <p:spPr>
          <a:xfrm flipV="1">
            <a:off x="2651760" y="2962841"/>
            <a:ext cx="2560320" cy="1060519"/>
          </a:xfrm>
          <a:prstGeom prst="line">
            <a:avLst/>
          </a:prstGeom>
          <a:noFill/>
          <a:ln w="9525">
            <a:solidFill>
              <a:schemeClr val="accent2">
                <a:alpha val="65000"/>
              </a:schemeClr>
            </a:solidFill>
            <a:prstDash val="solid"/>
          </a:ln>
        </p:spPr>
      </p:sp>
      <p:sp>
        <p:nvSpPr>
          <p:cNvPr id="98" name="Hit 337.5"/>
          <p:cNvSpPr/>
          <p:nvPr/>
        </p:nvSpPr>
        <p:spPr>
          <a:xfrm>
            <a:off x="5170932" y="2921693"/>
            <a:ext cx="82296" cy="82296"/>
          </a:xfrm>
          <a:prstGeom prst="ellipse">
            <a:avLst/>
          </a:prstGeom>
          <a:solidFill>
            <a:schemeClr val="accent1"/>
          </a:solidFill>
          <a:ln w="12700">
            <a:solidFill>
              <a:schemeClr val="accent1"/>
            </a:solidFill>
            <a:prstDash val="solid"/>
          </a:ln>
        </p:spPr>
      </p:sp>
      <p:sp>
        <p:nvSpPr>
          <p:cNvPr id="99" name="Ray 345"/>
          <p:cNvSpPr/>
          <p:nvPr/>
        </p:nvSpPr>
        <p:spPr>
          <a:xfrm flipV="1">
            <a:off x="2651760" y="3337324"/>
            <a:ext cx="2560320" cy="686036"/>
          </a:xfrm>
          <a:prstGeom prst="line">
            <a:avLst/>
          </a:prstGeom>
          <a:noFill/>
          <a:ln w="9525">
            <a:solidFill>
              <a:schemeClr val="accent2">
                <a:alpha val="65000"/>
              </a:schemeClr>
            </a:solidFill>
            <a:prstDash val="solid"/>
          </a:ln>
        </p:spPr>
      </p:sp>
      <p:sp>
        <p:nvSpPr>
          <p:cNvPr id="100" name="Hit 345"/>
          <p:cNvSpPr/>
          <p:nvPr/>
        </p:nvSpPr>
        <p:spPr>
          <a:xfrm>
            <a:off x="5170932" y="3296176"/>
            <a:ext cx="82296" cy="82296"/>
          </a:xfrm>
          <a:prstGeom prst="ellipse">
            <a:avLst/>
          </a:prstGeom>
          <a:solidFill>
            <a:schemeClr val="accent1"/>
          </a:solidFill>
          <a:ln w="12700">
            <a:solidFill>
              <a:schemeClr val="accent1"/>
            </a:solidFill>
            <a:prstDash val="solid"/>
          </a:ln>
        </p:spPr>
      </p:sp>
      <p:sp>
        <p:nvSpPr>
          <p:cNvPr id="101" name="Ray 352.5"/>
          <p:cNvSpPr/>
          <p:nvPr/>
        </p:nvSpPr>
        <p:spPr>
          <a:xfrm flipV="1">
            <a:off x="2651760" y="3686287"/>
            <a:ext cx="2560320" cy="337073"/>
          </a:xfrm>
          <a:prstGeom prst="line">
            <a:avLst/>
          </a:prstGeom>
          <a:noFill/>
          <a:ln w="9525">
            <a:solidFill>
              <a:schemeClr val="accent2">
                <a:alpha val="65000"/>
              </a:schemeClr>
            </a:solidFill>
            <a:prstDash val="solid"/>
          </a:ln>
        </p:spPr>
      </p:sp>
      <p:sp>
        <p:nvSpPr>
          <p:cNvPr id="102" name="Hit 352.5"/>
          <p:cNvSpPr/>
          <p:nvPr/>
        </p:nvSpPr>
        <p:spPr>
          <a:xfrm>
            <a:off x="5170932" y="3645139"/>
            <a:ext cx="82296" cy="82296"/>
          </a:xfrm>
          <a:prstGeom prst="ellipse">
            <a:avLst/>
          </a:prstGeom>
          <a:solidFill>
            <a:schemeClr val="accent1"/>
          </a:solidFill>
          <a:ln w="12700">
            <a:solidFill>
              <a:schemeClr val="accent1"/>
            </a:solidFill>
            <a:prstDash val="solid"/>
          </a:ln>
        </p:spPr>
      </p:sp>
      <p:sp>
        <p:nvSpPr>
          <p:cNvPr id="103" name="LiDAR"/>
          <p:cNvSpPr/>
          <p:nvPr/>
        </p:nvSpPr>
        <p:spPr>
          <a:xfrm>
            <a:off x="2468880" y="3840480"/>
            <a:ext cx="365760" cy="365760"/>
          </a:xfrm>
          <a:prstGeom prst="ellipse">
            <a:avLst/>
          </a:prstGeom>
          <a:solidFill>
            <a:schemeClr val="accent3"/>
          </a:solidFill>
          <a:ln w="19050">
            <a:solidFill>
              <a:schemeClr val="bg1"/>
            </a:solidFill>
            <a:prstDash val="solid"/>
          </a:ln>
        </p:spPr>
      </p:sp>
      <p:sp>
        <p:nvSpPr>
          <p:cNvPr id="104" name="Shadow label"/>
          <p:cNvSpPr txBox="1"/>
          <p:nvPr/>
        </p:nvSpPr>
        <p:spPr>
          <a:xfrm>
            <a:off x="3703320" y="1600200"/>
            <a:ext cx="1463040" cy="548640"/>
          </a:xfrm>
          <a:prstGeom prst="rect">
            <a:avLst/>
          </a:prstGeom>
          <a:noFill/>
          <a:ln/>
        </p:spPr>
        <p:txBody>
          <a:bodyPr wrap="square" lIns="0" tIns="0" rIns="0" bIns="0" rtlCol="0" anchor="t"/>
          <a:lstStyle/>
          <a:p>
            <a:pPr algn="ctr" indent="0" marL="0">
              <a:buNone/>
            </a:pPr>
            <a:r>
              <a:rPr lang="en-US" sz="1100" dirty="0">
                <a:solidFill>
                  <a:schemeClr val="accent6"/>
                </a:solidFill>
              </a:rPr>
              <a:t>shadow behind the table</a:t>
            </a:r>
            <a:endParaRPr lang="en-US" sz="1100" dirty="0"/>
          </a:p>
        </p:txBody>
      </p:sp>
      <p:sp>
        <p:nvSpPr>
          <p:cNvPr id="105" name="LaserScan fields background"/>
          <p:cNvSpPr/>
          <p:nvPr/>
        </p:nvSpPr>
        <p:spPr>
          <a:xfrm>
            <a:off x="5669280" y="1463040"/>
            <a:ext cx="5971032" cy="2148840"/>
          </a:xfrm>
          <a:prstGeom prst="roundRect">
            <a:avLst>
              <a:gd name="adj" fmla="val 3404"/>
            </a:avLst>
          </a:prstGeom>
          <a:solidFill>
            <a:schemeClr val="tx1"/>
          </a:solidFill>
          <a:ln w="6350">
            <a:solidFill>
              <a:schemeClr val="tx1"/>
            </a:solidFill>
            <a:prstDash val="solid"/>
          </a:ln>
        </p:spPr>
      </p:sp>
      <p:sp>
        <p:nvSpPr>
          <p:cNvPr id="106" name="LaserScan fields text"/>
          <p:cNvSpPr txBox="1"/>
          <p:nvPr/>
        </p:nvSpPr>
        <p:spPr>
          <a:xfrm>
            <a:off x="5870448" y="1609344"/>
            <a:ext cx="5568696" cy="18562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sensor_msgs/LaserScan on /scan</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header.frame_id: laser</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angle_min: -3.14    angle_max: 3.14</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angle_increment: 0.0175   </a:t>
            </a:r>
            <a:pPr indent="0" marL="0">
              <a:buNone/>
            </a:pPr>
            <a:r>
              <a:rPr lang="en-US" sz="1400" b="1" dirty="0">
                <a:solidFill>
                  <a:schemeClr val="accent1"/>
                </a:solidFill>
                <a:latin typeface="Courier New" pitchFamily="34" charset="0"/>
                <a:ea typeface="Courier New" pitchFamily="34" charset="-122"/>
                <a:cs typeface="Courier New" pitchFamily="34" charset="-120"/>
              </a:rPr>
              <a:t># 1 degree</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range_min: 0.15     range_max: 12.0</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ranges: [2.31, 2.29, 2.30, inf, ...]</a:t>
            </a:r>
            <a:endParaRPr lang="en-US" sz="1400" dirty="0"/>
          </a:p>
        </p:txBody>
      </p:sp>
      <p:sp>
        <p:nvSpPr>
          <p:cNvPr id="107" name="rf2o card"/>
          <p:cNvSpPr/>
          <p:nvPr/>
        </p:nvSpPr>
        <p:spPr>
          <a:xfrm>
            <a:off x="5669280" y="3794760"/>
            <a:ext cx="5971032" cy="2286000"/>
          </a:xfrm>
          <a:prstGeom prst="roundRect">
            <a:avLst>
              <a:gd name="adj" fmla="val 4000"/>
            </a:avLst>
          </a:prstGeom>
          <a:solidFill>
            <a:schemeClr val="bg2"/>
          </a:solidFill>
          <a:ln w="6350">
            <a:solidFill>
              <a:schemeClr val="bg2"/>
            </a:solidFill>
            <a:prstDash val="solid"/>
          </a:ln>
        </p:spPr>
      </p:sp>
      <p:sp>
        <p:nvSpPr>
          <p:cNvPr id="108" name="rf2o tile"/>
          <p:cNvSpPr/>
          <p:nvPr/>
        </p:nvSpPr>
        <p:spPr>
          <a:xfrm>
            <a:off x="5897880" y="4023360"/>
            <a:ext cx="548640" cy="548640"/>
          </a:xfrm>
          <a:prstGeom prst="roundRect">
            <a:avLst>
              <a:gd name="adj" fmla="val 20000"/>
            </a:avLst>
          </a:prstGeom>
          <a:solidFill>
            <a:schemeClr val="accent2"/>
          </a:solidFill>
          <a:ln w="6350">
            <a:solidFill>
              <a:schemeClr val="accent2"/>
            </a:solidFill>
            <a:prstDash val="solid"/>
          </a:ln>
        </p:spPr>
      </p:sp>
      <p:pic>
        <p:nvPicPr>
          <p:cNvPr id="109" name="rf2o icon" descr="preencoded.png">    </p:cNvPr>
          <p:cNvPicPr>
            <a:picLocks noChangeAspect="1"/>
          </p:cNvPicPr>
          <p:nvPr/>
        </p:nvPicPr>
        <p:blipFill>
          <a:blip r:embed="rId1"/>
          <a:stretch>
            <a:fillRect/>
          </a:stretch>
        </p:blipFill>
        <p:spPr>
          <a:xfrm>
            <a:off x="6018581" y="4144061"/>
            <a:ext cx="307238" cy="307238"/>
          </a:xfrm>
          <a:prstGeom prst="rect">
            <a:avLst/>
          </a:prstGeom>
        </p:spPr>
      </p:pic>
      <p:sp>
        <p:nvSpPr>
          <p:cNvPr id="110" name="rf2o title"/>
          <p:cNvSpPr txBox="1"/>
          <p:nvPr/>
        </p:nvSpPr>
        <p:spPr>
          <a:xfrm>
            <a:off x="6583680" y="4023360"/>
            <a:ext cx="4846320" cy="548640"/>
          </a:xfrm>
          <a:prstGeom prst="rect">
            <a:avLst/>
          </a:prstGeom>
          <a:noFill/>
          <a:ln/>
        </p:spPr>
        <p:txBody>
          <a:bodyPr wrap="square" lIns="0" tIns="0" rIns="0" bIns="0" rtlCol="0" anchor="ctr"/>
          <a:lstStyle/>
          <a:p>
            <a:pPr algn="l" indent="0" marL="0">
              <a:buNone/>
            </a:pPr>
            <a:r>
              <a:rPr lang="en-US" sz="1800" b="1" dirty="0">
                <a:solidFill>
                  <a:schemeClr val="tx1"/>
                </a:solidFill>
              </a:rPr>
              <a:t>rf2o laser odometry</a:t>
            </a:r>
            <a:endParaRPr lang="en-US" sz="1800" dirty="0"/>
          </a:p>
        </p:txBody>
      </p:sp>
      <p:sp>
        <p:nvSpPr>
          <p:cNvPr id="111" name="rf2o list"/>
          <p:cNvSpPr txBox="1"/>
          <p:nvPr/>
        </p:nvSpPr>
        <p:spPr>
          <a:xfrm>
            <a:off x="5897880" y="4617720"/>
            <a:ext cx="5577840" cy="1371600"/>
          </a:xfrm>
          <a:prstGeom prst="rect">
            <a:avLst/>
          </a:prstGeom>
          <a:noFill/>
          <a:ln/>
        </p:spPr>
        <p:txBody>
          <a:bodyPr wrap="square" lIns="0" tIns="0" rIns="0" bIns="0" rtlCol="0" anchor="t"/>
          <a:lstStyle/>
          <a:p>
            <a:pPr algn="l" marL="342900" indent="-342900">
              <a:spcAft>
                <a:spcPts val="200"/>
              </a:spcAft>
              <a:buSzPct val="100000"/>
              <a:buChar char="•"/>
            </a:pPr>
            <a:r>
              <a:rPr lang="en-US" sz="1400" dirty="0">
                <a:solidFill>
                  <a:schemeClr val="tx1"/>
                </a:solidFill>
              </a:rPr>
              <a:t>Compares consecutive scans to estimate dx, dy, dθ</a:t>
            </a:r>
            <a:endParaRPr lang="en-US" sz="1400" dirty="0"/>
          </a:p>
          <a:p>
            <a:pPr algn="l" marL="342900" indent="-342900">
              <a:spcAft>
                <a:spcPts val="200"/>
              </a:spcAft>
              <a:buSzPct val="100000"/>
              <a:buChar char="•"/>
            </a:pPr>
            <a:r>
              <a:rPr lang="en-US" sz="1400" dirty="0">
                <a:solidFill>
                  <a:schemeClr val="tx1"/>
                </a:solidFill>
              </a:rPr>
              <a:t>No wheels needed, not fooled by wheel slip</a:t>
            </a:r>
            <a:endParaRPr lang="en-US" sz="1400" dirty="0"/>
          </a:p>
          <a:p>
            <a:pPr algn="l" marL="342900" indent="-342900">
              <a:spcAft>
                <a:spcPts val="200"/>
              </a:spcAft>
              <a:buSzPct val="100000"/>
              <a:buChar char="•"/>
            </a:pPr>
            <a:r>
              <a:rPr lang="en-US" sz="1400" dirty="0">
                <a:solidFill>
                  <a:schemeClr val="tx1"/>
                </a:solidFill>
              </a:rPr>
              <a:t>Weak in long empty corridors; needs fast scans</a:t>
            </a:r>
            <a:endParaRPr lang="en-US" sz="1400" dirty="0"/>
          </a:p>
          <a:p>
            <a:pPr algn="l" marL="342900" indent="-342900">
              <a:spcAft>
                <a:spcPts val="200"/>
              </a:spcAft>
              <a:buSzPct val="100000"/>
              <a:buChar char="•"/>
            </a:pPr>
            <a:r>
              <a:rPr lang="en-US" sz="1400" dirty="0">
                <a:solidFill>
                  <a:schemeClr val="tx1"/>
                </a:solidFill>
              </a:rPr>
              <a:t>Choose ONE: </a:t>
            </a:r>
            <a:pPr algn="l" marL="342900" indent="-342900">
              <a:spcAft>
                <a:spcPts val="200"/>
              </a:spcAft>
              <a:buSzPct val="100000"/>
              <a:buChar char="•"/>
            </a:pPr>
            <a:r>
              <a:rPr lang="en-US" sz="1300" b="1" dirty="0">
                <a:solidFill>
                  <a:schemeClr val="accent2"/>
                </a:solidFill>
                <a:latin typeface="Courier New" pitchFamily="34" charset="0"/>
                <a:ea typeface="Courier New" pitchFamily="34" charset="-122"/>
                <a:cs typeface="Courier New" pitchFamily="34" charset="-120"/>
              </a:rPr>
              <a:t>odom_source:=wheel | laser</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SLAM Toolbox builds the map and localizes at the same time</a:t>
            </a:r>
            <a:endParaRPr lang="en-US" sz="2800" dirty="0"/>
          </a:p>
        </p:txBody>
      </p:sp>
      <p:sp>
        <p:nvSpPr>
          <p:cNvPr id="4" name="Mapped room"/>
          <p:cNvSpPr/>
          <p:nvPr/>
        </p:nvSpPr>
        <p:spPr>
          <a:xfrm>
            <a:off x="640080" y="1554480"/>
            <a:ext cx="5120640" cy="4114800"/>
          </a:xfrm>
          <a:prstGeom prst="rect">
            <a:avLst/>
          </a:prstGeom>
          <a:solidFill>
            <a:schemeClr val="bg2"/>
          </a:solidFill>
          <a:ln w="38100">
            <a:solidFill>
              <a:schemeClr val="tx2"/>
            </a:solidFill>
            <a:prstDash val="solid"/>
          </a:ln>
        </p:spPr>
      </p:sp>
      <p:sp>
        <p:nvSpPr>
          <p:cNvPr id="5" name="Edge 0"/>
          <p:cNvSpPr/>
          <p:nvPr/>
        </p:nvSpPr>
        <p:spPr>
          <a:xfrm flipH="1" flipV="1">
            <a:off x="1555932" y="4059919"/>
            <a:ext cx="239687" cy="454022"/>
          </a:xfrm>
          <a:prstGeom prst="line">
            <a:avLst/>
          </a:prstGeom>
          <a:noFill/>
          <a:ln w="28575">
            <a:solidFill>
              <a:schemeClr val="accent3"/>
            </a:solidFill>
            <a:prstDash val="solid"/>
          </a:ln>
        </p:spPr>
      </p:sp>
      <p:sp>
        <p:nvSpPr>
          <p:cNvPr id="6" name="Edge 1"/>
          <p:cNvSpPr/>
          <p:nvPr/>
        </p:nvSpPr>
        <p:spPr>
          <a:xfrm flipH="1" flipV="1">
            <a:off x="1416466" y="3295605"/>
            <a:ext cx="139465" cy="764314"/>
          </a:xfrm>
          <a:prstGeom prst="line">
            <a:avLst/>
          </a:prstGeom>
          <a:noFill/>
          <a:ln w="28575">
            <a:solidFill>
              <a:schemeClr val="accent3"/>
            </a:solidFill>
            <a:prstDash val="solid"/>
          </a:ln>
        </p:spPr>
      </p:sp>
      <p:sp>
        <p:nvSpPr>
          <p:cNvPr id="7" name="Edge 2"/>
          <p:cNvSpPr/>
          <p:nvPr/>
        </p:nvSpPr>
        <p:spPr>
          <a:xfrm flipV="1">
            <a:off x="1416466" y="2631951"/>
            <a:ext cx="385584" cy="663654"/>
          </a:xfrm>
          <a:prstGeom prst="line">
            <a:avLst/>
          </a:prstGeom>
          <a:noFill/>
          <a:ln w="28575">
            <a:solidFill>
              <a:schemeClr val="accent3"/>
            </a:solidFill>
            <a:prstDash val="solid"/>
          </a:ln>
        </p:spPr>
      </p:sp>
      <p:sp>
        <p:nvSpPr>
          <p:cNvPr id="8" name="Edge 3"/>
          <p:cNvSpPr/>
          <p:nvPr/>
        </p:nvSpPr>
        <p:spPr>
          <a:xfrm flipV="1">
            <a:off x="1802050" y="2341235"/>
            <a:ext cx="755157" cy="290716"/>
          </a:xfrm>
          <a:prstGeom prst="line">
            <a:avLst/>
          </a:prstGeom>
          <a:noFill/>
          <a:ln w="28575">
            <a:solidFill>
              <a:schemeClr val="accent3"/>
            </a:solidFill>
            <a:prstDash val="solid"/>
          </a:ln>
        </p:spPr>
      </p:sp>
      <p:sp>
        <p:nvSpPr>
          <p:cNvPr id="9" name="Edge 4"/>
          <p:cNvSpPr/>
          <p:nvPr/>
        </p:nvSpPr>
        <p:spPr>
          <a:xfrm flipV="1">
            <a:off x="2557207" y="2128035"/>
            <a:ext cx="826536" cy="213200"/>
          </a:xfrm>
          <a:prstGeom prst="line">
            <a:avLst/>
          </a:prstGeom>
          <a:noFill/>
          <a:ln w="28575">
            <a:solidFill>
              <a:schemeClr val="accent3"/>
            </a:solidFill>
            <a:prstDash val="solid"/>
          </a:ln>
        </p:spPr>
      </p:sp>
      <p:sp>
        <p:nvSpPr>
          <p:cNvPr id="10" name="Edge 5"/>
          <p:cNvSpPr/>
          <p:nvPr/>
        </p:nvSpPr>
        <p:spPr>
          <a:xfrm>
            <a:off x="3383743" y="2128035"/>
            <a:ext cx="951970" cy="341416"/>
          </a:xfrm>
          <a:prstGeom prst="line">
            <a:avLst/>
          </a:prstGeom>
          <a:noFill/>
          <a:ln w="28575">
            <a:solidFill>
              <a:schemeClr val="accent3"/>
            </a:solidFill>
            <a:prstDash val="solid"/>
          </a:ln>
        </p:spPr>
      </p:sp>
      <p:sp>
        <p:nvSpPr>
          <p:cNvPr id="11" name="Edge 6"/>
          <p:cNvSpPr/>
          <p:nvPr/>
        </p:nvSpPr>
        <p:spPr>
          <a:xfrm>
            <a:off x="4335713" y="2469451"/>
            <a:ext cx="446101" cy="502072"/>
          </a:xfrm>
          <a:prstGeom prst="line">
            <a:avLst/>
          </a:prstGeom>
          <a:noFill/>
          <a:ln w="28575">
            <a:solidFill>
              <a:schemeClr val="accent3"/>
            </a:solidFill>
            <a:prstDash val="solid"/>
          </a:ln>
        </p:spPr>
      </p:sp>
      <p:sp>
        <p:nvSpPr>
          <p:cNvPr id="12" name="Edge 7"/>
          <p:cNvSpPr/>
          <p:nvPr/>
        </p:nvSpPr>
        <p:spPr>
          <a:xfrm>
            <a:off x="4781814" y="2971523"/>
            <a:ext cx="197616" cy="722475"/>
          </a:xfrm>
          <a:prstGeom prst="line">
            <a:avLst/>
          </a:prstGeom>
          <a:noFill/>
          <a:ln w="28575">
            <a:solidFill>
              <a:schemeClr val="accent3"/>
            </a:solidFill>
            <a:prstDash val="solid"/>
          </a:ln>
        </p:spPr>
      </p:sp>
      <p:sp>
        <p:nvSpPr>
          <p:cNvPr id="13" name="Edge 8"/>
          <p:cNvSpPr/>
          <p:nvPr/>
        </p:nvSpPr>
        <p:spPr>
          <a:xfrm flipH="1">
            <a:off x="4713149" y="3693998"/>
            <a:ext cx="266281" cy="767688"/>
          </a:xfrm>
          <a:prstGeom prst="line">
            <a:avLst/>
          </a:prstGeom>
          <a:noFill/>
          <a:ln w="28575">
            <a:solidFill>
              <a:schemeClr val="accent3"/>
            </a:solidFill>
            <a:prstDash val="solid"/>
          </a:ln>
        </p:spPr>
      </p:sp>
      <p:sp>
        <p:nvSpPr>
          <p:cNvPr id="14" name="Edge 9"/>
          <p:cNvSpPr/>
          <p:nvPr/>
        </p:nvSpPr>
        <p:spPr>
          <a:xfrm flipH="1">
            <a:off x="4057086" y="4461686"/>
            <a:ext cx="656063" cy="463989"/>
          </a:xfrm>
          <a:prstGeom prst="line">
            <a:avLst/>
          </a:prstGeom>
          <a:noFill/>
          <a:ln w="28575">
            <a:solidFill>
              <a:schemeClr val="accent3"/>
            </a:solidFill>
            <a:prstDash val="solid"/>
          </a:ln>
        </p:spPr>
      </p:sp>
      <p:sp>
        <p:nvSpPr>
          <p:cNvPr id="15" name="Edge 10"/>
          <p:cNvSpPr/>
          <p:nvPr/>
        </p:nvSpPr>
        <p:spPr>
          <a:xfrm flipH="1">
            <a:off x="3177587" y="4925676"/>
            <a:ext cx="879499" cy="21579"/>
          </a:xfrm>
          <a:prstGeom prst="line">
            <a:avLst/>
          </a:prstGeom>
          <a:noFill/>
          <a:ln w="28575">
            <a:solidFill>
              <a:schemeClr val="accent3"/>
            </a:solidFill>
            <a:prstDash val="solid"/>
          </a:ln>
        </p:spPr>
      </p:sp>
      <p:sp>
        <p:nvSpPr>
          <p:cNvPr id="16" name="Edge 11"/>
          <p:cNvSpPr/>
          <p:nvPr/>
        </p:nvSpPr>
        <p:spPr>
          <a:xfrm flipH="1" flipV="1">
            <a:off x="2291194" y="4826933"/>
            <a:ext cx="886394" cy="120322"/>
          </a:xfrm>
          <a:prstGeom prst="line">
            <a:avLst/>
          </a:prstGeom>
          <a:noFill/>
          <a:ln w="28575">
            <a:solidFill>
              <a:schemeClr val="accent3"/>
            </a:solidFill>
            <a:prstDash val="solid"/>
          </a:ln>
        </p:spPr>
      </p:sp>
      <p:sp>
        <p:nvSpPr>
          <p:cNvPr id="17" name="Loop closure edge"/>
          <p:cNvSpPr/>
          <p:nvPr/>
        </p:nvSpPr>
        <p:spPr>
          <a:xfrm flipH="1" flipV="1">
            <a:off x="1795619" y="4513940"/>
            <a:ext cx="495575" cy="312993"/>
          </a:xfrm>
          <a:prstGeom prst="line">
            <a:avLst/>
          </a:prstGeom>
          <a:noFill/>
          <a:ln w="38100">
            <a:solidFill>
              <a:schemeClr val="accent1"/>
            </a:solidFill>
            <a:prstDash val="dash"/>
          </a:ln>
        </p:spPr>
      </p:sp>
      <p:sp>
        <p:nvSpPr>
          <p:cNvPr id="18" name="Pose node 0"/>
          <p:cNvSpPr/>
          <p:nvPr/>
        </p:nvSpPr>
        <p:spPr>
          <a:xfrm>
            <a:off x="1676747" y="4395068"/>
            <a:ext cx="237744" cy="237744"/>
          </a:xfrm>
          <a:prstGeom prst="ellipse">
            <a:avLst/>
          </a:prstGeom>
          <a:solidFill>
            <a:schemeClr val="accent3"/>
          </a:solidFill>
          <a:ln w="19050">
            <a:solidFill>
              <a:schemeClr val="bg1"/>
            </a:solidFill>
            <a:prstDash val="solid"/>
          </a:ln>
        </p:spPr>
      </p:sp>
      <p:sp>
        <p:nvSpPr>
          <p:cNvPr id="19" name="Pose node 1"/>
          <p:cNvSpPr/>
          <p:nvPr/>
        </p:nvSpPr>
        <p:spPr>
          <a:xfrm>
            <a:off x="1437060" y="3941047"/>
            <a:ext cx="237744" cy="237744"/>
          </a:xfrm>
          <a:prstGeom prst="ellipse">
            <a:avLst/>
          </a:prstGeom>
          <a:solidFill>
            <a:schemeClr val="accent3"/>
          </a:solidFill>
          <a:ln w="19050">
            <a:solidFill>
              <a:schemeClr val="bg1"/>
            </a:solidFill>
            <a:prstDash val="solid"/>
          </a:ln>
        </p:spPr>
      </p:sp>
      <p:sp>
        <p:nvSpPr>
          <p:cNvPr id="20" name="Pose node 2"/>
          <p:cNvSpPr/>
          <p:nvPr/>
        </p:nvSpPr>
        <p:spPr>
          <a:xfrm>
            <a:off x="1297594" y="3176733"/>
            <a:ext cx="237744" cy="237744"/>
          </a:xfrm>
          <a:prstGeom prst="ellipse">
            <a:avLst/>
          </a:prstGeom>
          <a:solidFill>
            <a:schemeClr val="accent3"/>
          </a:solidFill>
          <a:ln w="19050">
            <a:solidFill>
              <a:schemeClr val="bg1"/>
            </a:solidFill>
            <a:prstDash val="solid"/>
          </a:ln>
        </p:spPr>
      </p:sp>
      <p:sp>
        <p:nvSpPr>
          <p:cNvPr id="21" name="Pose node 3"/>
          <p:cNvSpPr/>
          <p:nvPr/>
        </p:nvSpPr>
        <p:spPr>
          <a:xfrm>
            <a:off x="1683178" y="2513079"/>
            <a:ext cx="237744" cy="237744"/>
          </a:xfrm>
          <a:prstGeom prst="ellipse">
            <a:avLst/>
          </a:prstGeom>
          <a:solidFill>
            <a:schemeClr val="accent3"/>
          </a:solidFill>
          <a:ln w="19050">
            <a:solidFill>
              <a:schemeClr val="bg1"/>
            </a:solidFill>
            <a:prstDash val="solid"/>
          </a:ln>
        </p:spPr>
      </p:sp>
      <p:sp>
        <p:nvSpPr>
          <p:cNvPr id="22" name="Pose node 4"/>
          <p:cNvSpPr/>
          <p:nvPr/>
        </p:nvSpPr>
        <p:spPr>
          <a:xfrm>
            <a:off x="2438335" y="2222363"/>
            <a:ext cx="237744" cy="237744"/>
          </a:xfrm>
          <a:prstGeom prst="ellipse">
            <a:avLst/>
          </a:prstGeom>
          <a:solidFill>
            <a:schemeClr val="accent3"/>
          </a:solidFill>
          <a:ln w="19050">
            <a:solidFill>
              <a:schemeClr val="bg1"/>
            </a:solidFill>
            <a:prstDash val="solid"/>
          </a:ln>
        </p:spPr>
      </p:sp>
      <p:sp>
        <p:nvSpPr>
          <p:cNvPr id="23" name="Pose node 5"/>
          <p:cNvSpPr/>
          <p:nvPr/>
        </p:nvSpPr>
        <p:spPr>
          <a:xfrm>
            <a:off x="3264871" y="2009163"/>
            <a:ext cx="237744" cy="237744"/>
          </a:xfrm>
          <a:prstGeom prst="ellipse">
            <a:avLst/>
          </a:prstGeom>
          <a:solidFill>
            <a:schemeClr val="accent3"/>
          </a:solidFill>
          <a:ln w="19050">
            <a:solidFill>
              <a:schemeClr val="bg1"/>
            </a:solidFill>
            <a:prstDash val="solid"/>
          </a:ln>
        </p:spPr>
      </p:sp>
      <p:sp>
        <p:nvSpPr>
          <p:cNvPr id="24" name="Pose node 6"/>
          <p:cNvSpPr/>
          <p:nvPr/>
        </p:nvSpPr>
        <p:spPr>
          <a:xfrm>
            <a:off x="4216841" y="2350579"/>
            <a:ext cx="237744" cy="237744"/>
          </a:xfrm>
          <a:prstGeom prst="ellipse">
            <a:avLst/>
          </a:prstGeom>
          <a:solidFill>
            <a:schemeClr val="accent3"/>
          </a:solidFill>
          <a:ln w="19050">
            <a:solidFill>
              <a:schemeClr val="bg1"/>
            </a:solidFill>
            <a:prstDash val="solid"/>
          </a:ln>
        </p:spPr>
      </p:sp>
      <p:sp>
        <p:nvSpPr>
          <p:cNvPr id="25" name="Pose node 7"/>
          <p:cNvSpPr/>
          <p:nvPr/>
        </p:nvSpPr>
        <p:spPr>
          <a:xfrm>
            <a:off x="4662942" y="2852651"/>
            <a:ext cx="237744" cy="237744"/>
          </a:xfrm>
          <a:prstGeom prst="ellipse">
            <a:avLst/>
          </a:prstGeom>
          <a:solidFill>
            <a:schemeClr val="accent3"/>
          </a:solidFill>
          <a:ln w="19050">
            <a:solidFill>
              <a:schemeClr val="bg1"/>
            </a:solidFill>
            <a:prstDash val="solid"/>
          </a:ln>
        </p:spPr>
      </p:sp>
      <p:sp>
        <p:nvSpPr>
          <p:cNvPr id="26" name="Pose node 8"/>
          <p:cNvSpPr/>
          <p:nvPr/>
        </p:nvSpPr>
        <p:spPr>
          <a:xfrm>
            <a:off x="4860558" y="3575126"/>
            <a:ext cx="237744" cy="237744"/>
          </a:xfrm>
          <a:prstGeom prst="ellipse">
            <a:avLst/>
          </a:prstGeom>
          <a:solidFill>
            <a:schemeClr val="accent3"/>
          </a:solidFill>
          <a:ln w="19050">
            <a:solidFill>
              <a:schemeClr val="bg1"/>
            </a:solidFill>
            <a:prstDash val="solid"/>
          </a:ln>
        </p:spPr>
      </p:sp>
      <p:sp>
        <p:nvSpPr>
          <p:cNvPr id="27" name="Pose node 9"/>
          <p:cNvSpPr/>
          <p:nvPr/>
        </p:nvSpPr>
        <p:spPr>
          <a:xfrm>
            <a:off x="4594277" y="4342814"/>
            <a:ext cx="237744" cy="237744"/>
          </a:xfrm>
          <a:prstGeom prst="ellipse">
            <a:avLst/>
          </a:prstGeom>
          <a:solidFill>
            <a:schemeClr val="accent3"/>
          </a:solidFill>
          <a:ln w="19050">
            <a:solidFill>
              <a:schemeClr val="bg1"/>
            </a:solidFill>
            <a:prstDash val="solid"/>
          </a:ln>
        </p:spPr>
      </p:sp>
      <p:sp>
        <p:nvSpPr>
          <p:cNvPr id="28" name="Pose node 10"/>
          <p:cNvSpPr/>
          <p:nvPr/>
        </p:nvSpPr>
        <p:spPr>
          <a:xfrm>
            <a:off x="3938214" y="4806804"/>
            <a:ext cx="237744" cy="237744"/>
          </a:xfrm>
          <a:prstGeom prst="ellipse">
            <a:avLst/>
          </a:prstGeom>
          <a:solidFill>
            <a:schemeClr val="accent3"/>
          </a:solidFill>
          <a:ln w="19050">
            <a:solidFill>
              <a:schemeClr val="bg1"/>
            </a:solidFill>
            <a:prstDash val="solid"/>
          </a:ln>
        </p:spPr>
      </p:sp>
      <p:sp>
        <p:nvSpPr>
          <p:cNvPr id="29" name="Pose node 11"/>
          <p:cNvSpPr/>
          <p:nvPr/>
        </p:nvSpPr>
        <p:spPr>
          <a:xfrm>
            <a:off x="3058715" y="4828382"/>
            <a:ext cx="237744" cy="237744"/>
          </a:xfrm>
          <a:prstGeom prst="ellipse">
            <a:avLst/>
          </a:prstGeom>
          <a:solidFill>
            <a:schemeClr val="accent3"/>
          </a:solidFill>
          <a:ln w="19050">
            <a:solidFill>
              <a:schemeClr val="bg1"/>
            </a:solidFill>
            <a:prstDash val="solid"/>
          </a:ln>
        </p:spPr>
      </p:sp>
      <p:sp>
        <p:nvSpPr>
          <p:cNvPr id="30" name="Pose node 12"/>
          <p:cNvSpPr/>
          <p:nvPr/>
        </p:nvSpPr>
        <p:spPr>
          <a:xfrm>
            <a:off x="2172322" y="4708061"/>
            <a:ext cx="237744" cy="237744"/>
          </a:xfrm>
          <a:prstGeom prst="ellipse">
            <a:avLst/>
          </a:prstGeom>
          <a:solidFill>
            <a:schemeClr val="accent1"/>
          </a:solidFill>
          <a:ln w="19050">
            <a:solidFill>
              <a:schemeClr val="bg1"/>
            </a:solidFill>
            <a:prstDash val="solid"/>
          </a:ln>
        </p:spPr>
      </p:sp>
      <p:sp>
        <p:nvSpPr>
          <p:cNvPr id="31" name="Loop closure label"/>
          <p:cNvSpPr txBox="1"/>
          <p:nvPr/>
        </p:nvSpPr>
        <p:spPr>
          <a:xfrm>
            <a:off x="2180566" y="4533277"/>
            <a:ext cx="1280160" cy="320040"/>
          </a:xfrm>
          <a:prstGeom prst="rect">
            <a:avLst/>
          </a:prstGeom>
          <a:noFill/>
          <a:ln/>
        </p:spPr>
        <p:txBody>
          <a:bodyPr wrap="square" lIns="0" tIns="0" rIns="0" bIns="0" rtlCol="0" anchor="t"/>
          <a:lstStyle/>
          <a:p>
            <a:pPr algn="l" indent="0" marL="0">
              <a:buNone/>
            </a:pPr>
            <a:r>
              <a:rPr lang="en-US" sz="1300" b="1" dirty="0">
                <a:solidFill>
                  <a:schemeClr val="accent1"/>
                </a:solidFill>
              </a:rPr>
              <a:t>loop closure</a:t>
            </a:r>
            <a:endParaRPr lang="en-US" sz="1300" dirty="0"/>
          </a:p>
        </p:txBody>
      </p:sp>
      <p:sp>
        <p:nvSpPr>
          <p:cNvPr id="32" name="Graph legend"/>
          <p:cNvSpPr txBox="1"/>
          <p:nvPr/>
        </p:nvSpPr>
        <p:spPr>
          <a:xfrm>
            <a:off x="640080" y="5760720"/>
            <a:ext cx="5120640" cy="320040"/>
          </a:xfrm>
          <a:prstGeom prst="rect">
            <a:avLst/>
          </a:prstGeom>
          <a:noFill/>
          <a:ln/>
        </p:spPr>
        <p:txBody>
          <a:bodyPr wrap="square" lIns="0" tIns="0" rIns="0" bIns="0" rtlCol="0" anchor="t"/>
          <a:lstStyle/>
          <a:p>
            <a:pPr algn="l" indent="0" marL="0">
              <a:buNone/>
            </a:pPr>
            <a:r>
              <a:rPr lang="en-US" sz="1200" dirty="0">
                <a:solidFill>
                  <a:schemeClr val="accent3"/>
                </a:solidFill>
              </a:rPr>
              <a:t>●</a:t>
            </a:r>
            <a:pPr algn="l" indent="0" marL="0">
              <a:buNone/>
            </a:pPr>
            <a:r>
              <a:rPr lang="en-US" sz="1200" dirty="0">
                <a:solidFill>
                  <a:schemeClr val="tx2"/>
                </a:solidFill>
              </a:rPr>
              <a:t> pose node   </a:t>
            </a:r>
            <a:pPr algn="l" indent="0" marL="0">
              <a:buNone/>
            </a:pPr>
            <a:r>
              <a:rPr lang="en-US" sz="1200" b="1" dirty="0">
                <a:solidFill>
                  <a:schemeClr val="accent3"/>
                </a:solidFill>
              </a:rPr>
              <a:t>—</a:t>
            </a:r>
            <a:pPr algn="l" indent="0" marL="0">
              <a:buNone/>
            </a:pPr>
            <a:r>
              <a:rPr lang="en-US" sz="1200" dirty="0">
                <a:solidFill>
                  <a:schemeClr val="tx2"/>
                </a:solidFill>
              </a:rPr>
              <a:t> odometry / scan-match edge   </a:t>
            </a:r>
            <a:pPr algn="l" indent="0" marL="0">
              <a:buNone/>
            </a:pPr>
            <a:r>
              <a:rPr lang="en-US" sz="1200" b="1" dirty="0">
                <a:solidFill>
                  <a:schemeClr val="accent1"/>
                </a:solidFill>
              </a:rPr>
              <a:t>- -</a:t>
            </a:r>
            <a:pPr algn="l" indent="0" marL="0">
              <a:buNone/>
            </a:pPr>
            <a:r>
              <a:rPr lang="en-US" sz="1200" dirty="0">
                <a:solidFill>
                  <a:schemeClr val="tx2"/>
                </a:solidFill>
              </a:rPr>
              <a:t> loop closure</a:t>
            </a:r>
            <a:endParaRPr lang="en-US" sz="1200" dirty="0"/>
          </a:p>
        </p:txBody>
      </p:sp>
      <p:sp>
        <p:nvSpPr>
          <p:cNvPr id="33" name="SLAM step 1"/>
          <p:cNvSpPr/>
          <p:nvPr/>
        </p:nvSpPr>
        <p:spPr>
          <a:xfrm>
            <a:off x="6172200" y="1554480"/>
            <a:ext cx="457200" cy="45720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4" name="SLAM step title 1"/>
          <p:cNvSpPr txBox="1"/>
          <p:nvPr/>
        </p:nvSpPr>
        <p:spPr>
          <a:xfrm>
            <a:off x="6812280" y="1463040"/>
            <a:ext cx="4828032" cy="329184"/>
          </a:xfrm>
          <a:prstGeom prst="rect">
            <a:avLst/>
          </a:prstGeom>
          <a:noFill/>
          <a:ln/>
        </p:spPr>
        <p:txBody>
          <a:bodyPr wrap="square" lIns="0" tIns="0" rIns="0" bIns="0" rtlCol="0" anchor="t"/>
          <a:lstStyle/>
          <a:p>
            <a:pPr algn="l" indent="0" marL="0">
              <a:buNone/>
            </a:pPr>
            <a:r>
              <a:rPr lang="en-US" sz="1600" b="1" dirty="0">
                <a:solidFill>
                  <a:schemeClr val="tx1"/>
                </a:solidFill>
              </a:rPr>
              <a:t>Scan matching</a:t>
            </a:r>
            <a:endParaRPr lang="en-US" sz="1600" dirty="0"/>
          </a:p>
        </p:txBody>
      </p:sp>
      <p:sp>
        <p:nvSpPr>
          <p:cNvPr id="35" name="SLAM step text 1"/>
          <p:cNvSpPr txBox="1"/>
          <p:nvPr/>
        </p:nvSpPr>
        <p:spPr>
          <a:xfrm>
            <a:off x="6812280" y="1801368"/>
            <a:ext cx="4828032" cy="502920"/>
          </a:xfrm>
          <a:prstGeom prst="rect">
            <a:avLst/>
          </a:prstGeom>
          <a:noFill/>
          <a:ln/>
        </p:spPr>
        <p:txBody>
          <a:bodyPr wrap="square" lIns="0" tIns="0" rIns="0" bIns="0" rtlCol="0" anchor="t"/>
          <a:lstStyle/>
          <a:p>
            <a:pPr algn="l" indent="0" marL="0">
              <a:buNone/>
            </a:pPr>
            <a:r>
              <a:rPr lang="en-US" sz="1400" dirty="0">
                <a:solidFill>
                  <a:schemeClr val="tx2"/>
                </a:solidFill>
              </a:rPr>
              <a:t>Align each new scan with recent ones → a better pose than odometry</a:t>
            </a:r>
            <a:endParaRPr lang="en-US" sz="1400" dirty="0"/>
          </a:p>
        </p:txBody>
      </p:sp>
      <p:sp>
        <p:nvSpPr>
          <p:cNvPr id="36" name="SLAM step 2"/>
          <p:cNvSpPr/>
          <p:nvPr/>
        </p:nvSpPr>
        <p:spPr>
          <a:xfrm>
            <a:off x="6172200" y="2468880"/>
            <a:ext cx="457200" cy="45720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7" name="SLAM step title 2"/>
          <p:cNvSpPr txBox="1"/>
          <p:nvPr/>
        </p:nvSpPr>
        <p:spPr>
          <a:xfrm>
            <a:off x="6812280" y="2377440"/>
            <a:ext cx="4828032" cy="329184"/>
          </a:xfrm>
          <a:prstGeom prst="rect">
            <a:avLst/>
          </a:prstGeom>
          <a:noFill/>
          <a:ln/>
        </p:spPr>
        <p:txBody>
          <a:bodyPr wrap="square" lIns="0" tIns="0" rIns="0" bIns="0" rtlCol="0" anchor="t"/>
          <a:lstStyle/>
          <a:p>
            <a:pPr algn="l" indent="0" marL="0">
              <a:buNone/>
            </a:pPr>
            <a:r>
              <a:rPr lang="en-US" sz="1600" b="1" dirty="0">
                <a:solidFill>
                  <a:schemeClr val="tx1"/>
                </a:solidFill>
              </a:rPr>
              <a:t>Add a node</a:t>
            </a:r>
            <a:endParaRPr lang="en-US" sz="1600" dirty="0"/>
          </a:p>
        </p:txBody>
      </p:sp>
      <p:sp>
        <p:nvSpPr>
          <p:cNvPr id="38" name="SLAM step text 2"/>
          <p:cNvSpPr txBox="1"/>
          <p:nvPr/>
        </p:nvSpPr>
        <p:spPr>
          <a:xfrm>
            <a:off x="6812280" y="2715768"/>
            <a:ext cx="4828032" cy="502920"/>
          </a:xfrm>
          <a:prstGeom prst="rect">
            <a:avLst/>
          </a:prstGeom>
          <a:noFill/>
          <a:ln/>
        </p:spPr>
        <p:txBody>
          <a:bodyPr wrap="square" lIns="0" tIns="0" rIns="0" bIns="0" rtlCol="0" anchor="t"/>
          <a:lstStyle/>
          <a:p>
            <a:pPr algn="l" indent="0" marL="0">
              <a:buNone/>
            </a:pPr>
            <a:r>
              <a:rPr lang="en-US" sz="1400" dirty="0">
                <a:solidFill>
                  <a:schemeClr val="tx2"/>
                </a:solidFill>
              </a:rPr>
              <a:t>Every 0.15 m or 0.15 rad of travel (minimum_travel_distance / heading)</a:t>
            </a:r>
            <a:endParaRPr lang="en-US" sz="1400" dirty="0"/>
          </a:p>
        </p:txBody>
      </p:sp>
      <p:sp>
        <p:nvSpPr>
          <p:cNvPr id="39" name="SLAM step 3"/>
          <p:cNvSpPr/>
          <p:nvPr/>
        </p:nvSpPr>
        <p:spPr>
          <a:xfrm>
            <a:off x="6172200" y="3383280"/>
            <a:ext cx="457200" cy="45720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0" name="SLAM step title 3"/>
          <p:cNvSpPr txBox="1"/>
          <p:nvPr/>
        </p:nvSpPr>
        <p:spPr>
          <a:xfrm>
            <a:off x="6812280" y="3291840"/>
            <a:ext cx="4828032" cy="329184"/>
          </a:xfrm>
          <a:prstGeom prst="rect">
            <a:avLst/>
          </a:prstGeom>
          <a:noFill/>
          <a:ln/>
        </p:spPr>
        <p:txBody>
          <a:bodyPr wrap="square" lIns="0" tIns="0" rIns="0" bIns="0" rtlCol="0" anchor="t"/>
          <a:lstStyle/>
          <a:p>
            <a:pPr algn="l" indent="0" marL="0">
              <a:buNone/>
            </a:pPr>
            <a:r>
              <a:rPr lang="en-US" sz="1600" b="1" dirty="0">
                <a:solidFill>
                  <a:schemeClr val="tx1"/>
                </a:solidFill>
              </a:rPr>
              <a:t>Loop closure</a:t>
            </a:r>
            <a:endParaRPr lang="en-US" sz="1600" dirty="0"/>
          </a:p>
        </p:txBody>
      </p:sp>
      <p:sp>
        <p:nvSpPr>
          <p:cNvPr id="41" name="SLAM step text 3"/>
          <p:cNvSpPr txBox="1"/>
          <p:nvPr/>
        </p:nvSpPr>
        <p:spPr>
          <a:xfrm>
            <a:off x="6812280" y="3630168"/>
            <a:ext cx="4828032" cy="502920"/>
          </a:xfrm>
          <a:prstGeom prst="rect">
            <a:avLst/>
          </a:prstGeom>
          <a:noFill/>
          <a:ln/>
        </p:spPr>
        <p:txBody>
          <a:bodyPr wrap="square" lIns="0" tIns="0" rIns="0" bIns="0" rtlCol="0" anchor="t"/>
          <a:lstStyle/>
          <a:p>
            <a:pPr algn="l" indent="0" marL="0">
              <a:buNone/>
            </a:pPr>
            <a:r>
              <a:rPr lang="en-US" sz="1400" dirty="0">
                <a:solidFill>
                  <a:schemeClr val="tx2"/>
                </a:solidFill>
              </a:rPr>
              <a:t>Recognise a place seen before (do_loop_closing: true)</a:t>
            </a:r>
            <a:endParaRPr lang="en-US" sz="1400" dirty="0"/>
          </a:p>
        </p:txBody>
      </p:sp>
      <p:sp>
        <p:nvSpPr>
          <p:cNvPr id="42" name="SLAM step 4"/>
          <p:cNvSpPr/>
          <p:nvPr/>
        </p:nvSpPr>
        <p:spPr>
          <a:xfrm>
            <a:off x="6172200" y="4297680"/>
            <a:ext cx="457200" cy="45720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3" name="SLAM step title 4"/>
          <p:cNvSpPr txBox="1"/>
          <p:nvPr/>
        </p:nvSpPr>
        <p:spPr>
          <a:xfrm>
            <a:off x="6812280" y="4206240"/>
            <a:ext cx="4828032" cy="329184"/>
          </a:xfrm>
          <a:prstGeom prst="rect">
            <a:avLst/>
          </a:prstGeom>
          <a:noFill/>
          <a:ln/>
        </p:spPr>
        <p:txBody>
          <a:bodyPr wrap="square" lIns="0" tIns="0" rIns="0" bIns="0" rtlCol="0" anchor="t"/>
          <a:lstStyle/>
          <a:p>
            <a:pPr algn="l" indent="0" marL="0">
              <a:buNone/>
            </a:pPr>
            <a:r>
              <a:rPr lang="en-US" sz="1600" b="1" dirty="0">
                <a:solidFill>
                  <a:schemeClr val="tx1"/>
                </a:solidFill>
              </a:rPr>
              <a:t>Optimize the graph</a:t>
            </a:r>
            <a:endParaRPr lang="en-US" sz="1600" dirty="0"/>
          </a:p>
        </p:txBody>
      </p:sp>
      <p:sp>
        <p:nvSpPr>
          <p:cNvPr id="44" name="SLAM step text 4"/>
          <p:cNvSpPr txBox="1"/>
          <p:nvPr/>
        </p:nvSpPr>
        <p:spPr>
          <a:xfrm>
            <a:off x="6812280" y="4544568"/>
            <a:ext cx="4828032" cy="502920"/>
          </a:xfrm>
          <a:prstGeom prst="rect">
            <a:avLst/>
          </a:prstGeom>
          <a:noFill/>
          <a:ln/>
        </p:spPr>
        <p:txBody>
          <a:bodyPr wrap="square" lIns="0" tIns="0" rIns="0" bIns="0" rtlCol="0" anchor="t"/>
          <a:lstStyle/>
          <a:p>
            <a:pPr algn="l" indent="0" marL="0">
              <a:buNone/>
            </a:pPr>
            <a:r>
              <a:rPr lang="en-US" sz="1400" dirty="0">
                <a:solidFill>
                  <a:schemeClr val="tx2"/>
                </a:solidFill>
              </a:rPr>
              <a:t>Ceres solver spreads the accumulated error over all nodes</a:t>
            </a:r>
            <a:endParaRPr lang="en-US" sz="1400" dirty="0"/>
          </a:p>
        </p:txBody>
      </p:sp>
      <p:sp>
        <p:nvSpPr>
          <p:cNvPr id="45" name="SLAM step 5"/>
          <p:cNvSpPr/>
          <p:nvPr/>
        </p:nvSpPr>
        <p:spPr>
          <a:xfrm>
            <a:off x="6172200" y="5212080"/>
            <a:ext cx="457200" cy="45720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6" name="SLAM step title 5"/>
          <p:cNvSpPr txBox="1"/>
          <p:nvPr/>
        </p:nvSpPr>
        <p:spPr>
          <a:xfrm>
            <a:off x="6812280" y="5120640"/>
            <a:ext cx="4828032" cy="329184"/>
          </a:xfrm>
          <a:prstGeom prst="rect">
            <a:avLst/>
          </a:prstGeom>
          <a:noFill/>
          <a:ln/>
        </p:spPr>
        <p:txBody>
          <a:bodyPr wrap="square" lIns="0" tIns="0" rIns="0" bIns="0" rtlCol="0" anchor="t"/>
          <a:lstStyle/>
          <a:p>
            <a:pPr algn="l" indent="0" marL="0">
              <a:buNone/>
            </a:pPr>
            <a:r>
              <a:rPr lang="en-US" sz="1600" b="1" dirty="0">
                <a:solidFill>
                  <a:schemeClr val="tx1"/>
                </a:solidFill>
              </a:rPr>
              <a:t>Publish</a:t>
            </a:r>
            <a:endParaRPr lang="en-US" sz="1600" dirty="0"/>
          </a:p>
        </p:txBody>
      </p:sp>
      <p:sp>
        <p:nvSpPr>
          <p:cNvPr id="47" name="SLAM step text 5"/>
          <p:cNvSpPr txBox="1"/>
          <p:nvPr/>
        </p:nvSpPr>
        <p:spPr>
          <a:xfrm>
            <a:off x="6812280" y="5458968"/>
            <a:ext cx="4828032" cy="502920"/>
          </a:xfrm>
          <a:prstGeom prst="rect">
            <a:avLst/>
          </a:prstGeom>
          <a:noFill/>
          <a:ln/>
        </p:spPr>
        <p:txBody>
          <a:bodyPr wrap="square" lIns="0" tIns="0" rIns="0" bIns="0" rtlCol="0" anchor="t"/>
          <a:lstStyle/>
          <a:p>
            <a:pPr algn="l" indent="0" marL="0">
              <a:buNone/>
            </a:pPr>
            <a:r>
              <a:rPr lang="en-US" sz="1400" dirty="0">
                <a:solidFill>
                  <a:schemeClr val="tx2"/>
                </a:solidFill>
              </a:rPr>
              <a:t>/map (5 cm occupancy grid) and the map → odom transform</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A map is an occupancy grid: free, occupied or unknown cells</a:t>
            </a:r>
            <a:endParaRPr lang="en-US" sz="2800" dirty="0"/>
          </a:p>
        </p:txBody>
      </p:sp>
      <p:sp>
        <p:nvSpPr>
          <p:cNvPr id="4" name="Unknown cells"/>
          <p:cNvSpPr/>
          <p:nvPr/>
        </p:nvSpPr>
        <p:spPr>
          <a:xfrm>
            <a:off x="548640" y="1463040"/>
            <a:ext cx="4443984" cy="2962656"/>
          </a:xfrm>
          <a:prstGeom prst="rect">
            <a:avLst/>
          </a:prstGeom>
          <a:solidFill>
            <a:schemeClr val="accent6">
              <a:alpha val="45000"/>
            </a:schemeClr>
          </a:solidFill>
          <a:ln w="6350">
            <a:solidFill>
              <a:schemeClr val="accent6"/>
            </a:solidFill>
            <a:prstDash val="solid"/>
          </a:ln>
        </p:spPr>
      </p:sp>
      <p:sp>
        <p:nvSpPr>
          <p:cNvPr id="5" name="Free cells"/>
          <p:cNvSpPr/>
          <p:nvPr/>
        </p:nvSpPr>
        <p:spPr>
          <a:xfrm>
            <a:off x="1042416" y="1956816"/>
            <a:ext cx="3456432" cy="1975104"/>
          </a:xfrm>
          <a:prstGeom prst="rect">
            <a:avLst/>
          </a:prstGeom>
          <a:solidFill>
            <a:schemeClr val="bg1"/>
          </a:solidFill>
          <a:ln w="6350">
            <a:solidFill>
              <a:schemeClr val="bg1"/>
            </a:solidFill>
            <a:prstDash val="solid"/>
          </a:ln>
        </p:spPr>
      </p:sp>
      <p:sp>
        <p:nvSpPr>
          <p:cNvPr id="6" name="Wall top"/>
          <p:cNvSpPr/>
          <p:nvPr/>
        </p:nvSpPr>
        <p:spPr>
          <a:xfrm>
            <a:off x="795528" y="1709928"/>
            <a:ext cx="3950208" cy="246888"/>
          </a:xfrm>
          <a:prstGeom prst="rect">
            <a:avLst/>
          </a:prstGeom>
          <a:solidFill>
            <a:schemeClr val="tx1"/>
          </a:solidFill>
          <a:ln w="6350">
            <a:solidFill>
              <a:schemeClr val="tx1"/>
            </a:solidFill>
            <a:prstDash val="solid"/>
          </a:ln>
        </p:spPr>
      </p:sp>
      <p:sp>
        <p:nvSpPr>
          <p:cNvPr id="7" name="Wall bottom"/>
          <p:cNvSpPr/>
          <p:nvPr/>
        </p:nvSpPr>
        <p:spPr>
          <a:xfrm>
            <a:off x="795528" y="3931920"/>
            <a:ext cx="3950208" cy="246888"/>
          </a:xfrm>
          <a:prstGeom prst="rect">
            <a:avLst/>
          </a:prstGeom>
          <a:solidFill>
            <a:schemeClr val="tx1"/>
          </a:solidFill>
          <a:ln w="6350">
            <a:solidFill>
              <a:schemeClr val="tx1"/>
            </a:solidFill>
            <a:prstDash val="solid"/>
          </a:ln>
        </p:spPr>
      </p:sp>
      <p:sp>
        <p:nvSpPr>
          <p:cNvPr id="8" name="Wall left"/>
          <p:cNvSpPr/>
          <p:nvPr/>
        </p:nvSpPr>
        <p:spPr>
          <a:xfrm>
            <a:off x="795528" y="1709928"/>
            <a:ext cx="246888" cy="2468880"/>
          </a:xfrm>
          <a:prstGeom prst="rect">
            <a:avLst/>
          </a:prstGeom>
          <a:solidFill>
            <a:schemeClr val="tx1"/>
          </a:solidFill>
          <a:ln w="6350">
            <a:solidFill>
              <a:schemeClr val="tx1"/>
            </a:solidFill>
            <a:prstDash val="solid"/>
          </a:ln>
        </p:spPr>
      </p:sp>
      <p:sp>
        <p:nvSpPr>
          <p:cNvPr id="9" name="Wall right"/>
          <p:cNvSpPr/>
          <p:nvPr/>
        </p:nvSpPr>
        <p:spPr>
          <a:xfrm>
            <a:off x="4498848" y="1709928"/>
            <a:ext cx="246888" cy="2468880"/>
          </a:xfrm>
          <a:prstGeom prst="rect">
            <a:avLst/>
          </a:prstGeom>
          <a:solidFill>
            <a:schemeClr val="tx1"/>
          </a:solidFill>
          <a:ln w="6350">
            <a:solidFill>
              <a:schemeClr val="tx1"/>
            </a:solidFill>
            <a:prstDash val="solid"/>
          </a:ln>
        </p:spPr>
      </p:sp>
      <p:sp>
        <p:nvSpPr>
          <p:cNvPr id="10" name="Table 1 cells"/>
          <p:cNvSpPr/>
          <p:nvPr/>
        </p:nvSpPr>
        <p:spPr>
          <a:xfrm>
            <a:off x="1783080" y="2450592"/>
            <a:ext cx="493776" cy="493776"/>
          </a:xfrm>
          <a:prstGeom prst="rect">
            <a:avLst/>
          </a:prstGeom>
          <a:solidFill>
            <a:schemeClr val="tx1"/>
          </a:solidFill>
          <a:ln w="6350">
            <a:solidFill>
              <a:schemeClr val="tx1"/>
            </a:solidFill>
            <a:prstDash val="solid"/>
          </a:ln>
        </p:spPr>
      </p:sp>
      <p:sp>
        <p:nvSpPr>
          <p:cNvPr id="11" name="Table 2 cells"/>
          <p:cNvSpPr/>
          <p:nvPr/>
        </p:nvSpPr>
        <p:spPr>
          <a:xfrm>
            <a:off x="3264408" y="2944368"/>
            <a:ext cx="493776" cy="493776"/>
          </a:xfrm>
          <a:prstGeom prst="rect">
            <a:avLst/>
          </a:prstGeom>
          <a:solidFill>
            <a:schemeClr val="tx1"/>
          </a:solidFill>
          <a:ln w="6350">
            <a:solidFill>
              <a:schemeClr val="tx1"/>
            </a:solidFill>
            <a:prstDash val="solid"/>
          </a:ln>
        </p:spPr>
      </p:sp>
      <p:sp>
        <p:nvSpPr>
          <p:cNvPr id="12" name="Unseen cells behind table"/>
          <p:cNvSpPr/>
          <p:nvPr/>
        </p:nvSpPr>
        <p:spPr>
          <a:xfrm>
            <a:off x="3758184" y="2944368"/>
            <a:ext cx="740664" cy="493776"/>
          </a:xfrm>
          <a:prstGeom prst="rect">
            <a:avLst/>
          </a:prstGeom>
          <a:solidFill>
            <a:schemeClr val="accent6">
              <a:alpha val="45000"/>
            </a:schemeClr>
          </a:solidFill>
          <a:ln w="6350">
            <a:solidFill>
              <a:schemeClr val="accent6">
                <a:alpha val="45000"/>
              </a:schemeClr>
            </a:solidFill>
            <a:prstDash val="solid"/>
          </a:ln>
        </p:spPr>
      </p:sp>
      <p:sp>
        <p:nvSpPr>
          <p:cNvPr id="13" name="Grid v0"/>
          <p:cNvSpPr/>
          <p:nvPr/>
        </p:nvSpPr>
        <p:spPr>
          <a:xfrm>
            <a:off x="548640" y="1463040"/>
            <a:ext cx="0" cy="2962656"/>
          </a:xfrm>
          <a:prstGeom prst="line">
            <a:avLst/>
          </a:prstGeom>
          <a:noFill/>
          <a:ln w="6350">
            <a:solidFill>
              <a:schemeClr val="accent6">
                <a:alpha val="40000"/>
              </a:schemeClr>
            </a:solidFill>
            <a:prstDash val="solid"/>
          </a:ln>
        </p:spPr>
      </p:sp>
      <p:sp>
        <p:nvSpPr>
          <p:cNvPr id="14" name="Grid v1"/>
          <p:cNvSpPr/>
          <p:nvPr/>
        </p:nvSpPr>
        <p:spPr>
          <a:xfrm>
            <a:off x="795528" y="1463040"/>
            <a:ext cx="0" cy="2962656"/>
          </a:xfrm>
          <a:prstGeom prst="line">
            <a:avLst/>
          </a:prstGeom>
          <a:noFill/>
          <a:ln w="6350">
            <a:solidFill>
              <a:schemeClr val="accent6">
                <a:alpha val="40000"/>
              </a:schemeClr>
            </a:solidFill>
            <a:prstDash val="solid"/>
          </a:ln>
        </p:spPr>
      </p:sp>
      <p:sp>
        <p:nvSpPr>
          <p:cNvPr id="15" name="Grid v2"/>
          <p:cNvSpPr/>
          <p:nvPr/>
        </p:nvSpPr>
        <p:spPr>
          <a:xfrm>
            <a:off x="1042416" y="1463040"/>
            <a:ext cx="0" cy="2962656"/>
          </a:xfrm>
          <a:prstGeom prst="line">
            <a:avLst/>
          </a:prstGeom>
          <a:noFill/>
          <a:ln w="6350">
            <a:solidFill>
              <a:schemeClr val="accent6">
                <a:alpha val="40000"/>
              </a:schemeClr>
            </a:solidFill>
            <a:prstDash val="solid"/>
          </a:ln>
        </p:spPr>
      </p:sp>
      <p:sp>
        <p:nvSpPr>
          <p:cNvPr id="16" name="Grid v3"/>
          <p:cNvSpPr/>
          <p:nvPr/>
        </p:nvSpPr>
        <p:spPr>
          <a:xfrm>
            <a:off x="1289304" y="1463040"/>
            <a:ext cx="0" cy="2962656"/>
          </a:xfrm>
          <a:prstGeom prst="line">
            <a:avLst/>
          </a:prstGeom>
          <a:noFill/>
          <a:ln w="6350">
            <a:solidFill>
              <a:schemeClr val="accent6">
                <a:alpha val="40000"/>
              </a:schemeClr>
            </a:solidFill>
            <a:prstDash val="solid"/>
          </a:ln>
        </p:spPr>
      </p:sp>
      <p:sp>
        <p:nvSpPr>
          <p:cNvPr id="17" name="Grid v4"/>
          <p:cNvSpPr/>
          <p:nvPr/>
        </p:nvSpPr>
        <p:spPr>
          <a:xfrm>
            <a:off x="1536192" y="1463040"/>
            <a:ext cx="0" cy="2962656"/>
          </a:xfrm>
          <a:prstGeom prst="line">
            <a:avLst/>
          </a:prstGeom>
          <a:noFill/>
          <a:ln w="6350">
            <a:solidFill>
              <a:schemeClr val="accent6">
                <a:alpha val="40000"/>
              </a:schemeClr>
            </a:solidFill>
            <a:prstDash val="solid"/>
          </a:ln>
        </p:spPr>
      </p:sp>
      <p:sp>
        <p:nvSpPr>
          <p:cNvPr id="18" name="Grid v5"/>
          <p:cNvSpPr/>
          <p:nvPr/>
        </p:nvSpPr>
        <p:spPr>
          <a:xfrm>
            <a:off x="1783080" y="1463040"/>
            <a:ext cx="0" cy="2962656"/>
          </a:xfrm>
          <a:prstGeom prst="line">
            <a:avLst/>
          </a:prstGeom>
          <a:noFill/>
          <a:ln w="6350">
            <a:solidFill>
              <a:schemeClr val="accent6">
                <a:alpha val="40000"/>
              </a:schemeClr>
            </a:solidFill>
            <a:prstDash val="solid"/>
          </a:ln>
        </p:spPr>
      </p:sp>
      <p:sp>
        <p:nvSpPr>
          <p:cNvPr id="19" name="Grid v6"/>
          <p:cNvSpPr/>
          <p:nvPr/>
        </p:nvSpPr>
        <p:spPr>
          <a:xfrm>
            <a:off x="2029968" y="1463040"/>
            <a:ext cx="0" cy="2962656"/>
          </a:xfrm>
          <a:prstGeom prst="line">
            <a:avLst/>
          </a:prstGeom>
          <a:noFill/>
          <a:ln w="6350">
            <a:solidFill>
              <a:schemeClr val="accent6">
                <a:alpha val="40000"/>
              </a:schemeClr>
            </a:solidFill>
            <a:prstDash val="solid"/>
          </a:ln>
        </p:spPr>
      </p:sp>
      <p:sp>
        <p:nvSpPr>
          <p:cNvPr id="20" name="Grid v7"/>
          <p:cNvSpPr/>
          <p:nvPr/>
        </p:nvSpPr>
        <p:spPr>
          <a:xfrm>
            <a:off x="2276856" y="1463040"/>
            <a:ext cx="0" cy="2962656"/>
          </a:xfrm>
          <a:prstGeom prst="line">
            <a:avLst/>
          </a:prstGeom>
          <a:noFill/>
          <a:ln w="6350">
            <a:solidFill>
              <a:schemeClr val="accent6">
                <a:alpha val="40000"/>
              </a:schemeClr>
            </a:solidFill>
            <a:prstDash val="solid"/>
          </a:ln>
        </p:spPr>
      </p:sp>
      <p:sp>
        <p:nvSpPr>
          <p:cNvPr id="21" name="Grid v8"/>
          <p:cNvSpPr/>
          <p:nvPr/>
        </p:nvSpPr>
        <p:spPr>
          <a:xfrm>
            <a:off x="2523744" y="1463040"/>
            <a:ext cx="0" cy="2962656"/>
          </a:xfrm>
          <a:prstGeom prst="line">
            <a:avLst/>
          </a:prstGeom>
          <a:noFill/>
          <a:ln w="6350">
            <a:solidFill>
              <a:schemeClr val="accent6">
                <a:alpha val="40000"/>
              </a:schemeClr>
            </a:solidFill>
            <a:prstDash val="solid"/>
          </a:ln>
        </p:spPr>
      </p:sp>
      <p:sp>
        <p:nvSpPr>
          <p:cNvPr id="22" name="Grid v9"/>
          <p:cNvSpPr/>
          <p:nvPr/>
        </p:nvSpPr>
        <p:spPr>
          <a:xfrm>
            <a:off x="2770632" y="1463040"/>
            <a:ext cx="0" cy="2962656"/>
          </a:xfrm>
          <a:prstGeom prst="line">
            <a:avLst/>
          </a:prstGeom>
          <a:noFill/>
          <a:ln w="6350">
            <a:solidFill>
              <a:schemeClr val="accent6">
                <a:alpha val="40000"/>
              </a:schemeClr>
            </a:solidFill>
            <a:prstDash val="solid"/>
          </a:ln>
        </p:spPr>
      </p:sp>
      <p:sp>
        <p:nvSpPr>
          <p:cNvPr id="23" name="Grid v10"/>
          <p:cNvSpPr/>
          <p:nvPr/>
        </p:nvSpPr>
        <p:spPr>
          <a:xfrm>
            <a:off x="3017520" y="1463040"/>
            <a:ext cx="0" cy="2962656"/>
          </a:xfrm>
          <a:prstGeom prst="line">
            <a:avLst/>
          </a:prstGeom>
          <a:noFill/>
          <a:ln w="6350">
            <a:solidFill>
              <a:schemeClr val="accent6">
                <a:alpha val="40000"/>
              </a:schemeClr>
            </a:solidFill>
            <a:prstDash val="solid"/>
          </a:ln>
        </p:spPr>
      </p:sp>
      <p:sp>
        <p:nvSpPr>
          <p:cNvPr id="24" name="Grid v11"/>
          <p:cNvSpPr/>
          <p:nvPr/>
        </p:nvSpPr>
        <p:spPr>
          <a:xfrm>
            <a:off x="3264408" y="1463040"/>
            <a:ext cx="0" cy="2962656"/>
          </a:xfrm>
          <a:prstGeom prst="line">
            <a:avLst/>
          </a:prstGeom>
          <a:noFill/>
          <a:ln w="6350">
            <a:solidFill>
              <a:schemeClr val="accent6">
                <a:alpha val="40000"/>
              </a:schemeClr>
            </a:solidFill>
            <a:prstDash val="solid"/>
          </a:ln>
        </p:spPr>
      </p:sp>
      <p:sp>
        <p:nvSpPr>
          <p:cNvPr id="25" name="Grid v12"/>
          <p:cNvSpPr/>
          <p:nvPr/>
        </p:nvSpPr>
        <p:spPr>
          <a:xfrm>
            <a:off x="3511296" y="1463040"/>
            <a:ext cx="0" cy="2962656"/>
          </a:xfrm>
          <a:prstGeom prst="line">
            <a:avLst/>
          </a:prstGeom>
          <a:noFill/>
          <a:ln w="6350">
            <a:solidFill>
              <a:schemeClr val="accent6">
                <a:alpha val="40000"/>
              </a:schemeClr>
            </a:solidFill>
            <a:prstDash val="solid"/>
          </a:ln>
        </p:spPr>
      </p:sp>
      <p:sp>
        <p:nvSpPr>
          <p:cNvPr id="26" name="Grid v13"/>
          <p:cNvSpPr/>
          <p:nvPr/>
        </p:nvSpPr>
        <p:spPr>
          <a:xfrm>
            <a:off x="3758184" y="1463040"/>
            <a:ext cx="0" cy="2962656"/>
          </a:xfrm>
          <a:prstGeom prst="line">
            <a:avLst/>
          </a:prstGeom>
          <a:noFill/>
          <a:ln w="6350">
            <a:solidFill>
              <a:schemeClr val="accent6">
                <a:alpha val="40000"/>
              </a:schemeClr>
            </a:solidFill>
            <a:prstDash val="solid"/>
          </a:ln>
        </p:spPr>
      </p:sp>
      <p:sp>
        <p:nvSpPr>
          <p:cNvPr id="27" name="Grid v14"/>
          <p:cNvSpPr/>
          <p:nvPr/>
        </p:nvSpPr>
        <p:spPr>
          <a:xfrm>
            <a:off x="4005072" y="1463040"/>
            <a:ext cx="0" cy="2962656"/>
          </a:xfrm>
          <a:prstGeom prst="line">
            <a:avLst/>
          </a:prstGeom>
          <a:noFill/>
          <a:ln w="6350">
            <a:solidFill>
              <a:schemeClr val="accent6">
                <a:alpha val="40000"/>
              </a:schemeClr>
            </a:solidFill>
            <a:prstDash val="solid"/>
          </a:ln>
        </p:spPr>
      </p:sp>
      <p:sp>
        <p:nvSpPr>
          <p:cNvPr id="28" name="Grid v15"/>
          <p:cNvSpPr/>
          <p:nvPr/>
        </p:nvSpPr>
        <p:spPr>
          <a:xfrm>
            <a:off x="4251960" y="1463040"/>
            <a:ext cx="0" cy="2962656"/>
          </a:xfrm>
          <a:prstGeom prst="line">
            <a:avLst/>
          </a:prstGeom>
          <a:noFill/>
          <a:ln w="6350">
            <a:solidFill>
              <a:schemeClr val="accent6">
                <a:alpha val="40000"/>
              </a:schemeClr>
            </a:solidFill>
            <a:prstDash val="solid"/>
          </a:ln>
        </p:spPr>
      </p:sp>
      <p:sp>
        <p:nvSpPr>
          <p:cNvPr id="29" name="Grid v16"/>
          <p:cNvSpPr/>
          <p:nvPr/>
        </p:nvSpPr>
        <p:spPr>
          <a:xfrm>
            <a:off x="4498848" y="1463040"/>
            <a:ext cx="0" cy="2962656"/>
          </a:xfrm>
          <a:prstGeom prst="line">
            <a:avLst/>
          </a:prstGeom>
          <a:noFill/>
          <a:ln w="6350">
            <a:solidFill>
              <a:schemeClr val="accent6">
                <a:alpha val="40000"/>
              </a:schemeClr>
            </a:solidFill>
            <a:prstDash val="solid"/>
          </a:ln>
        </p:spPr>
      </p:sp>
      <p:sp>
        <p:nvSpPr>
          <p:cNvPr id="30" name="Grid v17"/>
          <p:cNvSpPr/>
          <p:nvPr/>
        </p:nvSpPr>
        <p:spPr>
          <a:xfrm>
            <a:off x="4745736" y="1463040"/>
            <a:ext cx="0" cy="2962656"/>
          </a:xfrm>
          <a:prstGeom prst="line">
            <a:avLst/>
          </a:prstGeom>
          <a:noFill/>
          <a:ln w="6350">
            <a:solidFill>
              <a:schemeClr val="accent6">
                <a:alpha val="40000"/>
              </a:schemeClr>
            </a:solidFill>
            <a:prstDash val="solid"/>
          </a:ln>
        </p:spPr>
      </p:sp>
      <p:sp>
        <p:nvSpPr>
          <p:cNvPr id="31" name="Grid v18"/>
          <p:cNvSpPr/>
          <p:nvPr/>
        </p:nvSpPr>
        <p:spPr>
          <a:xfrm>
            <a:off x="4992624" y="1463040"/>
            <a:ext cx="0" cy="2962656"/>
          </a:xfrm>
          <a:prstGeom prst="line">
            <a:avLst/>
          </a:prstGeom>
          <a:noFill/>
          <a:ln w="6350">
            <a:solidFill>
              <a:schemeClr val="accent6">
                <a:alpha val="40000"/>
              </a:schemeClr>
            </a:solidFill>
            <a:prstDash val="solid"/>
          </a:ln>
        </p:spPr>
      </p:sp>
      <p:sp>
        <p:nvSpPr>
          <p:cNvPr id="32" name="Grid h0"/>
          <p:cNvSpPr/>
          <p:nvPr/>
        </p:nvSpPr>
        <p:spPr>
          <a:xfrm>
            <a:off x="548640" y="1463040"/>
            <a:ext cx="4443984" cy="0"/>
          </a:xfrm>
          <a:prstGeom prst="line">
            <a:avLst/>
          </a:prstGeom>
          <a:noFill/>
          <a:ln w="6350">
            <a:solidFill>
              <a:schemeClr val="accent6">
                <a:alpha val="40000"/>
              </a:schemeClr>
            </a:solidFill>
            <a:prstDash val="solid"/>
          </a:ln>
        </p:spPr>
      </p:sp>
      <p:sp>
        <p:nvSpPr>
          <p:cNvPr id="33" name="Grid h1"/>
          <p:cNvSpPr/>
          <p:nvPr/>
        </p:nvSpPr>
        <p:spPr>
          <a:xfrm>
            <a:off x="548640" y="1709928"/>
            <a:ext cx="4443984" cy="0"/>
          </a:xfrm>
          <a:prstGeom prst="line">
            <a:avLst/>
          </a:prstGeom>
          <a:noFill/>
          <a:ln w="6350">
            <a:solidFill>
              <a:schemeClr val="accent6">
                <a:alpha val="40000"/>
              </a:schemeClr>
            </a:solidFill>
            <a:prstDash val="solid"/>
          </a:ln>
        </p:spPr>
      </p:sp>
      <p:sp>
        <p:nvSpPr>
          <p:cNvPr id="34" name="Grid h2"/>
          <p:cNvSpPr/>
          <p:nvPr/>
        </p:nvSpPr>
        <p:spPr>
          <a:xfrm>
            <a:off x="548640" y="1956816"/>
            <a:ext cx="4443984" cy="0"/>
          </a:xfrm>
          <a:prstGeom prst="line">
            <a:avLst/>
          </a:prstGeom>
          <a:noFill/>
          <a:ln w="6350">
            <a:solidFill>
              <a:schemeClr val="accent6">
                <a:alpha val="40000"/>
              </a:schemeClr>
            </a:solidFill>
            <a:prstDash val="solid"/>
          </a:ln>
        </p:spPr>
      </p:sp>
      <p:sp>
        <p:nvSpPr>
          <p:cNvPr id="35" name="Grid h3"/>
          <p:cNvSpPr/>
          <p:nvPr/>
        </p:nvSpPr>
        <p:spPr>
          <a:xfrm>
            <a:off x="548640" y="2203704"/>
            <a:ext cx="4443984" cy="0"/>
          </a:xfrm>
          <a:prstGeom prst="line">
            <a:avLst/>
          </a:prstGeom>
          <a:noFill/>
          <a:ln w="6350">
            <a:solidFill>
              <a:schemeClr val="accent6">
                <a:alpha val="40000"/>
              </a:schemeClr>
            </a:solidFill>
            <a:prstDash val="solid"/>
          </a:ln>
        </p:spPr>
      </p:sp>
      <p:sp>
        <p:nvSpPr>
          <p:cNvPr id="36" name="Grid h4"/>
          <p:cNvSpPr/>
          <p:nvPr/>
        </p:nvSpPr>
        <p:spPr>
          <a:xfrm>
            <a:off x="548640" y="2450592"/>
            <a:ext cx="4443984" cy="0"/>
          </a:xfrm>
          <a:prstGeom prst="line">
            <a:avLst/>
          </a:prstGeom>
          <a:noFill/>
          <a:ln w="6350">
            <a:solidFill>
              <a:schemeClr val="accent6">
                <a:alpha val="40000"/>
              </a:schemeClr>
            </a:solidFill>
            <a:prstDash val="solid"/>
          </a:ln>
        </p:spPr>
      </p:sp>
      <p:sp>
        <p:nvSpPr>
          <p:cNvPr id="37" name="Grid h5"/>
          <p:cNvSpPr/>
          <p:nvPr/>
        </p:nvSpPr>
        <p:spPr>
          <a:xfrm>
            <a:off x="548640" y="2697480"/>
            <a:ext cx="4443984" cy="0"/>
          </a:xfrm>
          <a:prstGeom prst="line">
            <a:avLst/>
          </a:prstGeom>
          <a:noFill/>
          <a:ln w="6350">
            <a:solidFill>
              <a:schemeClr val="accent6">
                <a:alpha val="40000"/>
              </a:schemeClr>
            </a:solidFill>
            <a:prstDash val="solid"/>
          </a:ln>
        </p:spPr>
      </p:sp>
      <p:sp>
        <p:nvSpPr>
          <p:cNvPr id="38" name="Grid h6"/>
          <p:cNvSpPr/>
          <p:nvPr/>
        </p:nvSpPr>
        <p:spPr>
          <a:xfrm>
            <a:off x="548640" y="2944368"/>
            <a:ext cx="4443984" cy="0"/>
          </a:xfrm>
          <a:prstGeom prst="line">
            <a:avLst/>
          </a:prstGeom>
          <a:noFill/>
          <a:ln w="6350">
            <a:solidFill>
              <a:schemeClr val="accent6">
                <a:alpha val="40000"/>
              </a:schemeClr>
            </a:solidFill>
            <a:prstDash val="solid"/>
          </a:ln>
        </p:spPr>
      </p:sp>
      <p:sp>
        <p:nvSpPr>
          <p:cNvPr id="39" name="Grid h7"/>
          <p:cNvSpPr/>
          <p:nvPr/>
        </p:nvSpPr>
        <p:spPr>
          <a:xfrm>
            <a:off x="548640" y="3191256"/>
            <a:ext cx="4443984" cy="0"/>
          </a:xfrm>
          <a:prstGeom prst="line">
            <a:avLst/>
          </a:prstGeom>
          <a:noFill/>
          <a:ln w="6350">
            <a:solidFill>
              <a:schemeClr val="accent6">
                <a:alpha val="40000"/>
              </a:schemeClr>
            </a:solidFill>
            <a:prstDash val="solid"/>
          </a:ln>
        </p:spPr>
      </p:sp>
      <p:sp>
        <p:nvSpPr>
          <p:cNvPr id="40" name="Grid h8"/>
          <p:cNvSpPr/>
          <p:nvPr/>
        </p:nvSpPr>
        <p:spPr>
          <a:xfrm>
            <a:off x="548640" y="3438144"/>
            <a:ext cx="4443984" cy="0"/>
          </a:xfrm>
          <a:prstGeom prst="line">
            <a:avLst/>
          </a:prstGeom>
          <a:noFill/>
          <a:ln w="6350">
            <a:solidFill>
              <a:schemeClr val="accent6">
                <a:alpha val="40000"/>
              </a:schemeClr>
            </a:solidFill>
            <a:prstDash val="solid"/>
          </a:ln>
        </p:spPr>
      </p:sp>
      <p:sp>
        <p:nvSpPr>
          <p:cNvPr id="41" name="Grid h9"/>
          <p:cNvSpPr/>
          <p:nvPr/>
        </p:nvSpPr>
        <p:spPr>
          <a:xfrm>
            <a:off x="548640" y="3685032"/>
            <a:ext cx="4443984" cy="0"/>
          </a:xfrm>
          <a:prstGeom prst="line">
            <a:avLst/>
          </a:prstGeom>
          <a:noFill/>
          <a:ln w="6350">
            <a:solidFill>
              <a:schemeClr val="accent6">
                <a:alpha val="40000"/>
              </a:schemeClr>
            </a:solidFill>
            <a:prstDash val="solid"/>
          </a:ln>
        </p:spPr>
      </p:sp>
      <p:sp>
        <p:nvSpPr>
          <p:cNvPr id="42" name="Grid h10"/>
          <p:cNvSpPr/>
          <p:nvPr/>
        </p:nvSpPr>
        <p:spPr>
          <a:xfrm>
            <a:off x="548640" y="3931920"/>
            <a:ext cx="4443984" cy="0"/>
          </a:xfrm>
          <a:prstGeom prst="line">
            <a:avLst/>
          </a:prstGeom>
          <a:noFill/>
          <a:ln w="6350">
            <a:solidFill>
              <a:schemeClr val="accent6">
                <a:alpha val="40000"/>
              </a:schemeClr>
            </a:solidFill>
            <a:prstDash val="solid"/>
          </a:ln>
        </p:spPr>
      </p:sp>
      <p:sp>
        <p:nvSpPr>
          <p:cNvPr id="43" name="Grid h11"/>
          <p:cNvSpPr/>
          <p:nvPr/>
        </p:nvSpPr>
        <p:spPr>
          <a:xfrm>
            <a:off x="548640" y="4178808"/>
            <a:ext cx="4443984" cy="0"/>
          </a:xfrm>
          <a:prstGeom prst="line">
            <a:avLst/>
          </a:prstGeom>
          <a:noFill/>
          <a:ln w="6350">
            <a:solidFill>
              <a:schemeClr val="accent6">
                <a:alpha val="40000"/>
              </a:schemeClr>
            </a:solidFill>
            <a:prstDash val="solid"/>
          </a:ln>
        </p:spPr>
      </p:sp>
      <p:sp>
        <p:nvSpPr>
          <p:cNvPr id="44" name="Grid h12"/>
          <p:cNvSpPr/>
          <p:nvPr/>
        </p:nvSpPr>
        <p:spPr>
          <a:xfrm>
            <a:off x="548640" y="4425696"/>
            <a:ext cx="4443984" cy="0"/>
          </a:xfrm>
          <a:prstGeom prst="line">
            <a:avLst/>
          </a:prstGeom>
          <a:noFill/>
          <a:ln w="6350">
            <a:solidFill>
              <a:schemeClr val="accent6">
                <a:alpha val="40000"/>
              </a:schemeClr>
            </a:solidFill>
            <a:prstDash val="solid"/>
          </a:ln>
        </p:spPr>
      </p:sp>
      <p:sp>
        <p:nvSpPr>
          <p:cNvPr id="45" name="Legend occupied (0)"/>
          <p:cNvSpPr/>
          <p:nvPr/>
        </p:nvSpPr>
        <p:spPr>
          <a:xfrm>
            <a:off x="548640" y="4654296"/>
            <a:ext cx="274320" cy="274320"/>
          </a:xfrm>
          <a:prstGeom prst="rect">
            <a:avLst/>
          </a:prstGeom>
          <a:solidFill>
            <a:schemeClr val="tx1"/>
          </a:solidFill>
          <a:ln w="9525">
            <a:solidFill>
              <a:schemeClr val="accent6"/>
            </a:solidFill>
            <a:prstDash val="solid"/>
          </a:ln>
        </p:spPr>
      </p:sp>
      <p:sp>
        <p:nvSpPr>
          <p:cNvPr id="46" name="Legend text occupied (0)"/>
          <p:cNvSpPr txBox="1"/>
          <p:nvPr/>
        </p:nvSpPr>
        <p:spPr>
          <a:xfrm>
            <a:off x="896112" y="4636008"/>
            <a:ext cx="1188720" cy="310896"/>
          </a:xfrm>
          <a:prstGeom prst="rect">
            <a:avLst/>
          </a:prstGeom>
          <a:noFill/>
          <a:ln/>
        </p:spPr>
        <p:txBody>
          <a:bodyPr wrap="square" lIns="0" tIns="0" rIns="0" bIns="0" rtlCol="0" anchor="ctr"/>
          <a:lstStyle/>
          <a:p>
            <a:pPr algn="l" indent="0" marL="0">
              <a:buNone/>
            </a:pPr>
            <a:r>
              <a:rPr lang="en-US" sz="1200" dirty="0">
                <a:solidFill>
                  <a:schemeClr val="tx1"/>
                </a:solidFill>
              </a:rPr>
              <a:t>occupied (0)</a:t>
            </a:r>
            <a:endParaRPr lang="en-US" sz="1200" dirty="0"/>
          </a:p>
        </p:txBody>
      </p:sp>
      <p:sp>
        <p:nvSpPr>
          <p:cNvPr id="47" name="Legend free (254)"/>
          <p:cNvSpPr/>
          <p:nvPr/>
        </p:nvSpPr>
        <p:spPr>
          <a:xfrm>
            <a:off x="2057400" y="4654296"/>
            <a:ext cx="274320" cy="274320"/>
          </a:xfrm>
          <a:prstGeom prst="rect">
            <a:avLst/>
          </a:prstGeom>
          <a:solidFill>
            <a:schemeClr val="bg1"/>
          </a:solidFill>
          <a:ln w="9525">
            <a:solidFill>
              <a:schemeClr val="accent6"/>
            </a:solidFill>
            <a:prstDash val="solid"/>
          </a:ln>
        </p:spPr>
      </p:sp>
      <p:sp>
        <p:nvSpPr>
          <p:cNvPr id="48" name="Legend text free (254)"/>
          <p:cNvSpPr txBox="1"/>
          <p:nvPr/>
        </p:nvSpPr>
        <p:spPr>
          <a:xfrm>
            <a:off x="2404872" y="4636008"/>
            <a:ext cx="1188720" cy="310896"/>
          </a:xfrm>
          <a:prstGeom prst="rect">
            <a:avLst/>
          </a:prstGeom>
          <a:noFill/>
          <a:ln/>
        </p:spPr>
        <p:txBody>
          <a:bodyPr wrap="square" lIns="0" tIns="0" rIns="0" bIns="0" rtlCol="0" anchor="ctr"/>
          <a:lstStyle/>
          <a:p>
            <a:pPr algn="l" indent="0" marL="0">
              <a:buNone/>
            </a:pPr>
            <a:r>
              <a:rPr lang="en-US" sz="1200" dirty="0">
                <a:solidFill>
                  <a:schemeClr val="tx1"/>
                </a:solidFill>
              </a:rPr>
              <a:t>free (254)</a:t>
            </a:r>
            <a:endParaRPr lang="en-US" sz="1200" dirty="0"/>
          </a:p>
        </p:txBody>
      </p:sp>
      <p:sp>
        <p:nvSpPr>
          <p:cNvPr id="49" name="Legend unknown (205)"/>
          <p:cNvSpPr/>
          <p:nvPr/>
        </p:nvSpPr>
        <p:spPr>
          <a:xfrm>
            <a:off x="3566160" y="4654296"/>
            <a:ext cx="274320" cy="274320"/>
          </a:xfrm>
          <a:prstGeom prst="rect">
            <a:avLst/>
          </a:prstGeom>
          <a:solidFill>
            <a:schemeClr val="accent6">
              <a:alpha val="45000"/>
            </a:schemeClr>
          </a:solidFill>
          <a:ln w="9525">
            <a:solidFill>
              <a:schemeClr val="accent6"/>
            </a:solidFill>
            <a:prstDash val="solid"/>
          </a:ln>
        </p:spPr>
      </p:sp>
      <p:sp>
        <p:nvSpPr>
          <p:cNvPr id="50" name="Legend text unknown (205)"/>
          <p:cNvSpPr txBox="1"/>
          <p:nvPr/>
        </p:nvSpPr>
        <p:spPr>
          <a:xfrm>
            <a:off x="3913632" y="4636008"/>
            <a:ext cx="1188720" cy="310896"/>
          </a:xfrm>
          <a:prstGeom prst="rect">
            <a:avLst/>
          </a:prstGeom>
          <a:noFill/>
          <a:ln/>
        </p:spPr>
        <p:txBody>
          <a:bodyPr wrap="square" lIns="0" tIns="0" rIns="0" bIns="0" rtlCol="0" anchor="ctr"/>
          <a:lstStyle/>
          <a:p>
            <a:pPr algn="l" indent="0" marL="0">
              <a:buNone/>
            </a:pPr>
            <a:r>
              <a:rPr lang="en-US" sz="1200" dirty="0">
                <a:solidFill>
                  <a:schemeClr val="tx1"/>
                </a:solidFill>
              </a:rPr>
              <a:t>unknown (205)</a:t>
            </a:r>
            <a:endParaRPr lang="en-US" sz="1200" dirty="0"/>
          </a:p>
        </p:txBody>
      </p:sp>
      <p:sp>
        <p:nvSpPr>
          <p:cNvPr id="51" name="Cell size"/>
          <p:cNvSpPr txBox="1"/>
          <p:nvPr/>
        </p:nvSpPr>
        <p:spPr>
          <a:xfrm>
            <a:off x="548640" y="5065776"/>
            <a:ext cx="4389120" cy="320040"/>
          </a:xfrm>
          <a:prstGeom prst="rect">
            <a:avLst/>
          </a:prstGeom>
          <a:noFill/>
          <a:ln/>
        </p:spPr>
        <p:txBody>
          <a:bodyPr wrap="square" lIns="0" tIns="0" rIns="0" bIns="0" rtlCol="0" anchor="t"/>
          <a:lstStyle/>
          <a:p>
            <a:pPr algn="l" indent="0" marL="0">
              <a:buNone/>
            </a:pPr>
            <a:r>
              <a:rPr lang="en-US" sz="1300" dirty="0">
                <a:solidFill>
                  <a:schemeClr val="tx2"/>
                </a:solidFill>
              </a:rPr>
              <a:t>1 cell = 5 cm × 5 cm</a:t>
            </a:r>
            <a:endParaRPr lang="en-US" sz="1300" dirty="0"/>
          </a:p>
        </p:txBody>
      </p:sp>
      <p:sp>
        <p:nvSpPr>
          <p:cNvPr id="52" name="Map yaml background"/>
          <p:cNvSpPr/>
          <p:nvPr/>
        </p:nvSpPr>
        <p:spPr>
          <a:xfrm>
            <a:off x="5486400" y="1463040"/>
            <a:ext cx="6153912" cy="2240280"/>
          </a:xfrm>
          <a:prstGeom prst="roundRect">
            <a:avLst>
              <a:gd name="adj" fmla="val 3265"/>
            </a:avLst>
          </a:prstGeom>
          <a:solidFill>
            <a:schemeClr val="tx1"/>
          </a:solidFill>
          <a:ln w="6350">
            <a:solidFill>
              <a:schemeClr val="tx1"/>
            </a:solidFill>
            <a:prstDash val="solid"/>
          </a:ln>
        </p:spPr>
      </p:sp>
      <p:sp>
        <p:nvSpPr>
          <p:cNvPr id="53" name="Map yaml text"/>
          <p:cNvSpPr txBox="1"/>
          <p:nvPr/>
        </p:nvSpPr>
        <p:spPr>
          <a:xfrm>
            <a:off x="5687568" y="1609344"/>
            <a:ext cx="5751576" cy="1947672"/>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image: my_map.pgm         </a:t>
            </a:r>
            <a:pPr indent="0" marL="0">
              <a:buNone/>
            </a:pPr>
            <a:r>
              <a:rPr lang="en-US" sz="1400" b="1" dirty="0">
                <a:solidFill>
                  <a:schemeClr val="accent1"/>
                </a:solidFill>
                <a:latin typeface="Courier New" pitchFamily="34" charset="0"/>
                <a:ea typeface="Courier New" pitchFamily="34" charset="-122"/>
                <a:cs typeface="Courier New" pitchFamily="34" charset="-120"/>
              </a:rPr>
              <a:t># the picture</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mode: trinary</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resolution: 0.05          </a:t>
            </a:r>
            <a:pPr indent="0" marL="0">
              <a:buNone/>
            </a:pPr>
            <a:r>
              <a:rPr lang="en-US" sz="1400" b="1" dirty="0">
                <a:solidFill>
                  <a:schemeClr val="accent1"/>
                </a:solidFill>
                <a:latin typeface="Courier New" pitchFamily="34" charset="0"/>
                <a:ea typeface="Courier New" pitchFamily="34" charset="-122"/>
                <a:cs typeface="Courier New" pitchFamily="34" charset="-120"/>
              </a:rPr>
              <a:t># metres per pixel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origin: [-2.1, -3.4, 0]   </a:t>
            </a:r>
            <a:pPr indent="0" marL="0">
              <a:buNone/>
            </a:pPr>
            <a:r>
              <a:rPr lang="en-US" sz="1400" b="1" dirty="0">
                <a:solidFill>
                  <a:schemeClr val="accent1"/>
                </a:solidFill>
                <a:latin typeface="Courier New" pitchFamily="34" charset="0"/>
                <a:ea typeface="Courier New" pitchFamily="34" charset="-122"/>
                <a:cs typeface="Courier New" pitchFamily="34" charset="-120"/>
              </a:rPr>
              <a:t># bottom-left pixel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occupied_thresh: 0.65     </a:t>
            </a:r>
            <a:pPr indent="0" marL="0">
              <a:buNone/>
            </a:pPr>
            <a:r>
              <a:rPr lang="en-US" sz="1400" b="1" dirty="0">
                <a:solidFill>
                  <a:schemeClr val="accent1"/>
                </a:solidFill>
                <a:latin typeface="Courier New" pitchFamily="34" charset="0"/>
                <a:ea typeface="Courier New" pitchFamily="34" charset="-122"/>
                <a:cs typeface="Courier New" pitchFamily="34" charset="-120"/>
              </a:rPr>
              <a:t># darker → occupied</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free_thresh: 0.25         </a:t>
            </a:r>
            <a:pPr indent="0" marL="0">
              <a:buNone/>
            </a:pPr>
            <a:r>
              <a:rPr lang="en-US" sz="1400" b="1" dirty="0">
                <a:solidFill>
                  <a:schemeClr val="accent1"/>
                </a:solidFill>
                <a:latin typeface="Courier New" pitchFamily="34" charset="0"/>
                <a:ea typeface="Courier New" pitchFamily="34" charset="-122"/>
                <a:cs typeface="Courier New" pitchFamily="34" charset="-120"/>
              </a:rPr>
              <a:t># lighter → free</a:t>
            </a:r>
            <a:endParaRPr lang="en-US" sz="1400" dirty="0"/>
          </a:p>
        </p:txBody>
      </p:sp>
      <p:sp>
        <p:nvSpPr>
          <p:cNvPr id="54" name="Wrong map card"/>
          <p:cNvSpPr/>
          <p:nvPr/>
        </p:nvSpPr>
        <p:spPr>
          <a:xfrm>
            <a:off x="5486400" y="3931920"/>
            <a:ext cx="6153912" cy="2148840"/>
          </a:xfrm>
          <a:prstGeom prst="roundRect">
            <a:avLst>
              <a:gd name="adj" fmla="val 4255"/>
            </a:avLst>
          </a:prstGeom>
          <a:solidFill>
            <a:schemeClr val="accent5">
              <a:alpha val="10000"/>
            </a:schemeClr>
          </a:solidFill>
          <a:ln w="6350">
            <a:solidFill>
              <a:schemeClr val="accent5">
                <a:alpha val="10000"/>
              </a:schemeClr>
            </a:solidFill>
            <a:prstDash val="solid"/>
          </a:ln>
        </p:spPr>
      </p:sp>
      <p:sp>
        <p:nvSpPr>
          <p:cNvPr id="55" name="Wrong map tile"/>
          <p:cNvSpPr/>
          <p:nvPr/>
        </p:nvSpPr>
        <p:spPr>
          <a:xfrm>
            <a:off x="5715000" y="4160520"/>
            <a:ext cx="548640" cy="548640"/>
          </a:xfrm>
          <a:prstGeom prst="roundRect">
            <a:avLst>
              <a:gd name="adj" fmla="val 20000"/>
            </a:avLst>
          </a:prstGeom>
          <a:solidFill>
            <a:schemeClr val="accent5"/>
          </a:solidFill>
          <a:ln w="6350">
            <a:solidFill>
              <a:schemeClr val="accent5"/>
            </a:solidFill>
            <a:prstDash val="solid"/>
          </a:ln>
        </p:spPr>
      </p:sp>
      <p:pic>
        <p:nvPicPr>
          <p:cNvPr id="56" name="Wrong map icon" descr="preencoded.png">    </p:cNvPr>
          <p:cNvPicPr>
            <a:picLocks noChangeAspect="1"/>
          </p:cNvPicPr>
          <p:nvPr/>
        </p:nvPicPr>
        <p:blipFill>
          <a:blip r:embed="rId1"/>
          <a:stretch>
            <a:fillRect/>
          </a:stretch>
        </p:blipFill>
        <p:spPr>
          <a:xfrm>
            <a:off x="5835701" y="4281221"/>
            <a:ext cx="307238" cy="307238"/>
          </a:xfrm>
          <a:prstGeom prst="rect">
            <a:avLst/>
          </a:prstGeom>
        </p:spPr>
      </p:pic>
      <p:sp>
        <p:nvSpPr>
          <p:cNvPr id="57" name="Wrong map text"/>
          <p:cNvSpPr txBox="1"/>
          <p:nvPr/>
        </p:nvSpPr>
        <p:spPr>
          <a:xfrm>
            <a:off x="6446520" y="4114800"/>
            <a:ext cx="4983480" cy="1783080"/>
          </a:xfrm>
          <a:prstGeom prst="rect">
            <a:avLst/>
          </a:prstGeom>
          <a:noFill/>
          <a:ln/>
        </p:spPr>
        <p:txBody>
          <a:bodyPr wrap="square" lIns="0" tIns="0" rIns="0" bIns="0" rtlCol="0" anchor="ctr"/>
          <a:lstStyle/>
          <a:p>
            <a:pPr algn="l" indent="0" marL="0">
              <a:buNone/>
            </a:pPr>
            <a:r>
              <a:rPr lang="en-US" sz="1500" b="1" dirty="0">
                <a:solidFill>
                  <a:schemeClr val="tx1"/>
                </a:solidFill>
              </a:rPr>
              <a:t>bcr_map.yaml is the Gazebo warehouse (29 × 31 m). </a:t>
            </a:r>
            <a:pPr algn="l" indent="0" marL="0">
              <a:buNone/>
            </a:pPr>
            <a:r>
              <a:rPr lang="en-US" sz="1500" dirty="0">
                <a:solidFill>
                  <a:schemeClr val="tx1"/>
                </a:solidFill>
              </a:rPr>
              <a:t>On the real robot AMCL then matches your room against shelves that do not exist. Always make and load a map of YOUR room.</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AMCL: a particle filter finds where the robot is on the map</a:t>
            </a:r>
            <a:endParaRPr lang="en-US" sz="2800" dirty="0"/>
          </a:p>
        </p:txBody>
      </p:sp>
      <p:sp>
        <p:nvSpPr>
          <p:cNvPr id="4" name="1 · Predict panel"/>
          <p:cNvSpPr/>
          <p:nvPr/>
        </p:nvSpPr>
        <p:spPr>
          <a:xfrm>
            <a:off x="548640" y="1417320"/>
            <a:ext cx="3566160" cy="3337560"/>
          </a:xfrm>
          <a:prstGeom prst="roundRect">
            <a:avLst>
              <a:gd name="adj" fmla="val 2740"/>
            </a:avLst>
          </a:prstGeom>
          <a:solidFill>
            <a:schemeClr val="bg2"/>
          </a:solidFill>
          <a:ln w="6350">
            <a:solidFill>
              <a:schemeClr val="bg2"/>
            </a:solidFill>
            <a:prstDash val="solid"/>
          </a:ln>
        </p:spPr>
      </p:sp>
      <p:sp>
        <p:nvSpPr>
          <p:cNvPr id="5" name="1 · Predict title"/>
          <p:cNvSpPr txBox="1"/>
          <p:nvPr/>
        </p:nvSpPr>
        <p:spPr>
          <a:xfrm>
            <a:off x="731520" y="1508760"/>
            <a:ext cx="3200400" cy="411480"/>
          </a:xfrm>
          <a:prstGeom prst="rect">
            <a:avLst/>
          </a:prstGeom>
          <a:noFill/>
          <a:ln/>
        </p:spPr>
        <p:txBody>
          <a:bodyPr wrap="square" lIns="0" tIns="0" rIns="0" bIns="0" rtlCol="0" anchor="ctr"/>
          <a:lstStyle/>
          <a:p>
            <a:pPr algn="l" indent="0" marL="0">
              <a:buNone/>
            </a:pPr>
            <a:r>
              <a:rPr lang="en-US" sz="1700" b="1" dirty="0">
                <a:solidFill>
                  <a:schemeClr val="tx1"/>
                </a:solidFill>
              </a:rPr>
              <a:t>1 · Predict</a:t>
            </a:r>
            <a:endParaRPr lang="en-US" sz="1700" dirty="0"/>
          </a:p>
        </p:txBody>
      </p:sp>
      <p:sp>
        <p:nvSpPr>
          <p:cNvPr id="6" name="1 · Predict map"/>
          <p:cNvSpPr/>
          <p:nvPr/>
        </p:nvSpPr>
        <p:spPr>
          <a:xfrm>
            <a:off x="731520" y="1965960"/>
            <a:ext cx="3200400" cy="2606040"/>
          </a:xfrm>
          <a:prstGeom prst="rect">
            <a:avLst/>
          </a:prstGeom>
          <a:solidFill>
            <a:schemeClr val="bg1"/>
          </a:solidFill>
          <a:ln w="38100">
            <a:solidFill>
              <a:schemeClr val="tx1"/>
            </a:solidFill>
            <a:prstDash val="solid"/>
          </a:ln>
        </p:spPr>
      </p:sp>
      <p:sp>
        <p:nvSpPr>
          <p:cNvPr id="7" name="1 · Predict table"/>
          <p:cNvSpPr/>
          <p:nvPr/>
        </p:nvSpPr>
        <p:spPr>
          <a:xfrm>
            <a:off x="2926080" y="2286000"/>
            <a:ext cx="640080" cy="457200"/>
          </a:xfrm>
          <a:prstGeom prst="rect">
            <a:avLst/>
          </a:prstGeom>
          <a:solidFill>
            <a:schemeClr val="tx2"/>
          </a:solidFill>
          <a:ln w="12700">
            <a:solidFill>
              <a:schemeClr val="tx2"/>
            </a:solidFill>
            <a:prstDash val="solid"/>
          </a:ln>
        </p:spPr>
      </p:sp>
      <p:sp>
        <p:nvSpPr>
          <p:cNvPr id="8" name="1 · Predict particle 0"/>
          <p:cNvSpPr/>
          <p:nvPr/>
        </p:nvSpPr>
        <p:spPr>
          <a:xfrm>
            <a:off x="1622247" y="3348659"/>
            <a:ext cx="137160" cy="137160"/>
          </a:xfrm>
          <a:prstGeom prst="ellipse">
            <a:avLst/>
          </a:prstGeom>
          <a:solidFill>
            <a:schemeClr val="accent3">
              <a:alpha val="75000"/>
            </a:schemeClr>
          </a:solidFill>
          <a:ln w="6350">
            <a:solidFill>
              <a:schemeClr val="accent3">
                <a:alpha val="75000"/>
              </a:schemeClr>
            </a:solidFill>
            <a:prstDash val="solid"/>
          </a:ln>
        </p:spPr>
      </p:sp>
      <p:sp>
        <p:nvSpPr>
          <p:cNvPr id="9" name="1 · Predict particle 1"/>
          <p:cNvSpPr/>
          <p:nvPr/>
        </p:nvSpPr>
        <p:spPr>
          <a:xfrm>
            <a:off x="1176929" y="2991554"/>
            <a:ext cx="137160" cy="137160"/>
          </a:xfrm>
          <a:prstGeom prst="ellipse">
            <a:avLst/>
          </a:prstGeom>
          <a:solidFill>
            <a:schemeClr val="accent3">
              <a:alpha val="75000"/>
            </a:schemeClr>
          </a:solidFill>
          <a:ln w="6350">
            <a:solidFill>
              <a:schemeClr val="accent3">
                <a:alpha val="75000"/>
              </a:schemeClr>
            </a:solidFill>
            <a:prstDash val="solid"/>
          </a:ln>
        </p:spPr>
      </p:sp>
      <p:sp>
        <p:nvSpPr>
          <p:cNvPr id="10" name="1 · Predict particle 2"/>
          <p:cNvSpPr/>
          <p:nvPr/>
        </p:nvSpPr>
        <p:spPr>
          <a:xfrm>
            <a:off x="1836857" y="3966544"/>
            <a:ext cx="137160" cy="137160"/>
          </a:xfrm>
          <a:prstGeom prst="ellipse">
            <a:avLst/>
          </a:prstGeom>
          <a:solidFill>
            <a:schemeClr val="accent3">
              <a:alpha val="75000"/>
            </a:schemeClr>
          </a:solidFill>
          <a:ln w="6350">
            <a:solidFill>
              <a:schemeClr val="accent3">
                <a:alpha val="75000"/>
              </a:schemeClr>
            </a:solidFill>
            <a:prstDash val="solid"/>
          </a:ln>
        </p:spPr>
      </p:sp>
      <p:sp>
        <p:nvSpPr>
          <p:cNvPr id="11" name="1 · Predict particle 3"/>
          <p:cNvSpPr/>
          <p:nvPr/>
        </p:nvSpPr>
        <p:spPr>
          <a:xfrm>
            <a:off x="1968077" y="2719602"/>
            <a:ext cx="137160" cy="137160"/>
          </a:xfrm>
          <a:prstGeom prst="ellipse">
            <a:avLst/>
          </a:prstGeom>
          <a:solidFill>
            <a:schemeClr val="accent3">
              <a:alpha val="75000"/>
            </a:schemeClr>
          </a:solidFill>
          <a:ln w="6350">
            <a:solidFill>
              <a:schemeClr val="accent3">
                <a:alpha val="75000"/>
              </a:schemeClr>
            </a:solidFill>
            <a:prstDash val="solid"/>
          </a:ln>
        </p:spPr>
      </p:sp>
      <p:sp>
        <p:nvSpPr>
          <p:cNvPr id="12" name="1 · Predict particle 4"/>
          <p:cNvSpPr/>
          <p:nvPr/>
        </p:nvSpPr>
        <p:spPr>
          <a:xfrm>
            <a:off x="1768176" y="2111729"/>
            <a:ext cx="137160" cy="137160"/>
          </a:xfrm>
          <a:prstGeom prst="ellipse">
            <a:avLst/>
          </a:prstGeom>
          <a:solidFill>
            <a:schemeClr val="accent3">
              <a:alpha val="75000"/>
            </a:schemeClr>
          </a:solidFill>
          <a:ln w="6350">
            <a:solidFill>
              <a:schemeClr val="accent3">
                <a:alpha val="75000"/>
              </a:schemeClr>
            </a:solidFill>
            <a:prstDash val="solid"/>
          </a:ln>
        </p:spPr>
      </p:sp>
      <p:sp>
        <p:nvSpPr>
          <p:cNvPr id="13" name="1 · Predict particle 5"/>
          <p:cNvSpPr/>
          <p:nvPr/>
        </p:nvSpPr>
        <p:spPr>
          <a:xfrm>
            <a:off x="2387414" y="3873883"/>
            <a:ext cx="137160" cy="137160"/>
          </a:xfrm>
          <a:prstGeom prst="ellipse">
            <a:avLst/>
          </a:prstGeom>
          <a:solidFill>
            <a:schemeClr val="accent3">
              <a:alpha val="75000"/>
            </a:schemeClr>
          </a:solidFill>
          <a:ln w="6350">
            <a:solidFill>
              <a:schemeClr val="accent3">
                <a:alpha val="75000"/>
              </a:schemeClr>
            </a:solidFill>
            <a:prstDash val="solid"/>
          </a:ln>
        </p:spPr>
      </p:sp>
      <p:sp>
        <p:nvSpPr>
          <p:cNvPr id="14" name="1 · Predict particle 6"/>
          <p:cNvSpPr/>
          <p:nvPr/>
        </p:nvSpPr>
        <p:spPr>
          <a:xfrm>
            <a:off x="2859663" y="3618987"/>
            <a:ext cx="137160" cy="137160"/>
          </a:xfrm>
          <a:prstGeom prst="ellipse">
            <a:avLst/>
          </a:prstGeom>
          <a:solidFill>
            <a:schemeClr val="accent3">
              <a:alpha val="75000"/>
            </a:schemeClr>
          </a:solidFill>
          <a:ln w="6350">
            <a:solidFill>
              <a:schemeClr val="accent3">
                <a:alpha val="75000"/>
              </a:schemeClr>
            </a:solidFill>
            <a:prstDash val="solid"/>
          </a:ln>
        </p:spPr>
      </p:sp>
      <p:sp>
        <p:nvSpPr>
          <p:cNvPr id="15" name="1 · Predict particle 7"/>
          <p:cNvSpPr/>
          <p:nvPr/>
        </p:nvSpPr>
        <p:spPr>
          <a:xfrm>
            <a:off x="2661339" y="3884943"/>
            <a:ext cx="137160" cy="137160"/>
          </a:xfrm>
          <a:prstGeom prst="ellipse">
            <a:avLst/>
          </a:prstGeom>
          <a:solidFill>
            <a:schemeClr val="accent3">
              <a:alpha val="75000"/>
            </a:schemeClr>
          </a:solidFill>
          <a:ln w="6350">
            <a:solidFill>
              <a:schemeClr val="accent3">
                <a:alpha val="75000"/>
              </a:schemeClr>
            </a:solidFill>
            <a:prstDash val="solid"/>
          </a:ln>
        </p:spPr>
      </p:sp>
      <p:sp>
        <p:nvSpPr>
          <p:cNvPr id="16" name="1 · Predict particle 8"/>
          <p:cNvSpPr/>
          <p:nvPr/>
        </p:nvSpPr>
        <p:spPr>
          <a:xfrm>
            <a:off x="2321528" y="2869929"/>
            <a:ext cx="137160" cy="137160"/>
          </a:xfrm>
          <a:prstGeom prst="ellipse">
            <a:avLst/>
          </a:prstGeom>
          <a:solidFill>
            <a:schemeClr val="accent3">
              <a:alpha val="75000"/>
            </a:schemeClr>
          </a:solidFill>
          <a:ln w="6350">
            <a:solidFill>
              <a:schemeClr val="accent3">
                <a:alpha val="75000"/>
              </a:schemeClr>
            </a:solidFill>
            <a:prstDash val="solid"/>
          </a:ln>
        </p:spPr>
      </p:sp>
      <p:sp>
        <p:nvSpPr>
          <p:cNvPr id="17" name="1 · Predict particle 9"/>
          <p:cNvSpPr/>
          <p:nvPr/>
        </p:nvSpPr>
        <p:spPr>
          <a:xfrm>
            <a:off x="3325587" y="3095341"/>
            <a:ext cx="137160" cy="137160"/>
          </a:xfrm>
          <a:prstGeom prst="ellipse">
            <a:avLst/>
          </a:prstGeom>
          <a:solidFill>
            <a:schemeClr val="accent3">
              <a:alpha val="75000"/>
            </a:schemeClr>
          </a:solidFill>
          <a:ln w="6350">
            <a:solidFill>
              <a:schemeClr val="accent3">
                <a:alpha val="75000"/>
              </a:schemeClr>
            </a:solidFill>
            <a:prstDash val="solid"/>
          </a:ln>
        </p:spPr>
      </p:sp>
      <p:sp>
        <p:nvSpPr>
          <p:cNvPr id="18" name="1 · Predict particle 10"/>
          <p:cNvSpPr/>
          <p:nvPr/>
        </p:nvSpPr>
        <p:spPr>
          <a:xfrm>
            <a:off x="1589178" y="3220471"/>
            <a:ext cx="137160" cy="137160"/>
          </a:xfrm>
          <a:prstGeom prst="ellipse">
            <a:avLst/>
          </a:prstGeom>
          <a:solidFill>
            <a:schemeClr val="accent3">
              <a:alpha val="75000"/>
            </a:schemeClr>
          </a:solidFill>
          <a:ln w="6350">
            <a:solidFill>
              <a:schemeClr val="accent3">
                <a:alpha val="75000"/>
              </a:schemeClr>
            </a:solidFill>
            <a:prstDash val="solid"/>
          </a:ln>
        </p:spPr>
      </p:sp>
      <p:sp>
        <p:nvSpPr>
          <p:cNvPr id="19" name="1 · Predict particle 11"/>
          <p:cNvSpPr/>
          <p:nvPr/>
        </p:nvSpPr>
        <p:spPr>
          <a:xfrm>
            <a:off x="2350210" y="3596952"/>
            <a:ext cx="137160" cy="137160"/>
          </a:xfrm>
          <a:prstGeom prst="ellipse">
            <a:avLst/>
          </a:prstGeom>
          <a:solidFill>
            <a:schemeClr val="accent3">
              <a:alpha val="75000"/>
            </a:schemeClr>
          </a:solidFill>
          <a:ln w="6350">
            <a:solidFill>
              <a:schemeClr val="accent3">
                <a:alpha val="75000"/>
              </a:schemeClr>
            </a:solidFill>
            <a:prstDash val="solid"/>
          </a:ln>
        </p:spPr>
      </p:sp>
      <p:sp>
        <p:nvSpPr>
          <p:cNvPr id="20" name="1 · Predict particle 12"/>
          <p:cNvSpPr/>
          <p:nvPr/>
        </p:nvSpPr>
        <p:spPr>
          <a:xfrm>
            <a:off x="1890241" y="2958078"/>
            <a:ext cx="137160" cy="137160"/>
          </a:xfrm>
          <a:prstGeom prst="ellipse">
            <a:avLst/>
          </a:prstGeom>
          <a:solidFill>
            <a:schemeClr val="accent3">
              <a:alpha val="75000"/>
            </a:schemeClr>
          </a:solidFill>
          <a:ln w="6350">
            <a:solidFill>
              <a:schemeClr val="accent3">
                <a:alpha val="75000"/>
              </a:schemeClr>
            </a:solidFill>
            <a:prstDash val="solid"/>
          </a:ln>
        </p:spPr>
      </p:sp>
      <p:sp>
        <p:nvSpPr>
          <p:cNvPr id="21" name="1 · Predict particle 13"/>
          <p:cNvSpPr/>
          <p:nvPr/>
        </p:nvSpPr>
        <p:spPr>
          <a:xfrm>
            <a:off x="1948748" y="3596546"/>
            <a:ext cx="137160" cy="137160"/>
          </a:xfrm>
          <a:prstGeom prst="ellipse">
            <a:avLst/>
          </a:prstGeom>
          <a:solidFill>
            <a:schemeClr val="accent3">
              <a:alpha val="75000"/>
            </a:schemeClr>
          </a:solidFill>
          <a:ln w="6350">
            <a:solidFill>
              <a:schemeClr val="accent3">
                <a:alpha val="75000"/>
              </a:schemeClr>
            </a:solidFill>
            <a:prstDash val="solid"/>
          </a:ln>
        </p:spPr>
      </p:sp>
      <p:sp>
        <p:nvSpPr>
          <p:cNvPr id="22" name="1 · Predict particle 14"/>
          <p:cNvSpPr/>
          <p:nvPr/>
        </p:nvSpPr>
        <p:spPr>
          <a:xfrm>
            <a:off x="1947738" y="3553278"/>
            <a:ext cx="137160" cy="137160"/>
          </a:xfrm>
          <a:prstGeom prst="ellipse">
            <a:avLst/>
          </a:prstGeom>
          <a:solidFill>
            <a:schemeClr val="accent3">
              <a:alpha val="75000"/>
            </a:schemeClr>
          </a:solidFill>
          <a:ln w="6350">
            <a:solidFill>
              <a:schemeClr val="accent3">
                <a:alpha val="75000"/>
              </a:schemeClr>
            </a:solidFill>
            <a:prstDash val="solid"/>
          </a:ln>
        </p:spPr>
      </p:sp>
      <p:sp>
        <p:nvSpPr>
          <p:cNvPr id="23" name="1 · Predict particle 15"/>
          <p:cNvSpPr/>
          <p:nvPr/>
        </p:nvSpPr>
        <p:spPr>
          <a:xfrm>
            <a:off x="3152530" y="2877046"/>
            <a:ext cx="137160" cy="137160"/>
          </a:xfrm>
          <a:prstGeom prst="ellipse">
            <a:avLst/>
          </a:prstGeom>
          <a:solidFill>
            <a:schemeClr val="accent3">
              <a:alpha val="75000"/>
            </a:schemeClr>
          </a:solidFill>
          <a:ln w="6350">
            <a:solidFill>
              <a:schemeClr val="accent3">
                <a:alpha val="75000"/>
              </a:schemeClr>
            </a:solidFill>
            <a:prstDash val="solid"/>
          </a:ln>
        </p:spPr>
      </p:sp>
      <p:sp>
        <p:nvSpPr>
          <p:cNvPr id="24" name="1 · Predict particle 16"/>
          <p:cNvSpPr/>
          <p:nvPr/>
        </p:nvSpPr>
        <p:spPr>
          <a:xfrm>
            <a:off x="2505559" y="3284353"/>
            <a:ext cx="137160" cy="137160"/>
          </a:xfrm>
          <a:prstGeom prst="ellipse">
            <a:avLst/>
          </a:prstGeom>
          <a:solidFill>
            <a:schemeClr val="accent3">
              <a:alpha val="75000"/>
            </a:schemeClr>
          </a:solidFill>
          <a:ln w="6350">
            <a:solidFill>
              <a:schemeClr val="accent3">
                <a:alpha val="75000"/>
              </a:schemeClr>
            </a:solidFill>
            <a:prstDash val="solid"/>
          </a:ln>
        </p:spPr>
      </p:sp>
      <p:sp>
        <p:nvSpPr>
          <p:cNvPr id="25" name="1 · Predict particle 17"/>
          <p:cNvSpPr/>
          <p:nvPr/>
        </p:nvSpPr>
        <p:spPr>
          <a:xfrm>
            <a:off x="2070527" y="3607758"/>
            <a:ext cx="137160" cy="137160"/>
          </a:xfrm>
          <a:prstGeom prst="ellipse">
            <a:avLst/>
          </a:prstGeom>
          <a:solidFill>
            <a:schemeClr val="accent3">
              <a:alpha val="75000"/>
            </a:schemeClr>
          </a:solidFill>
          <a:ln w="6350">
            <a:solidFill>
              <a:schemeClr val="accent3">
                <a:alpha val="75000"/>
              </a:schemeClr>
            </a:solidFill>
            <a:prstDash val="solid"/>
          </a:ln>
        </p:spPr>
      </p:sp>
      <p:sp>
        <p:nvSpPr>
          <p:cNvPr id="26" name="1 · Predict particle 18"/>
          <p:cNvSpPr/>
          <p:nvPr/>
        </p:nvSpPr>
        <p:spPr>
          <a:xfrm>
            <a:off x="2354057" y="4307043"/>
            <a:ext cx="137160" cy="137160"/>
          </a:xfrm>
          <a:prstGeom prst="ellipse">
            <a:avLst/>
          </a:prstGeom>
          <a:solidFill>
            <a:schemeClr val="accent3">
              <a:alpha val="75000"/>
            </a:schemeClr>
          </a:solidFill>
          <a:ln w="6350">
            <a:solidFill>
              <a:schemeClr val="accent3">
                <a:alpha val="75000"/>
              </a:schemeClr>
            </a:solidFill>
            <a:prstDash val="solid"/>
          </a:ln>
        </p:spPr>
      </p:sp>
      <p:sp>
        <p:nvSpPr>
          <p:cNvPr id="27" name="1 · Predict particle 19"/>
          <p:cNvSpPr/>
          <p:nvPr/>
        </p:nvSpPr>
        <p:spPr>
          <a:xfrm>
            <a:off x="2569189" y="2992635"/>
            <a:ext cx="137160" cy="137160"/>
          </a:xfrm>
          <a:prstGeom prst="ellipse">
            <a:avLst/>
          </a:prstGeom>
          <a:solidFill>
            <a:schemeClr val="accent3">
              <a:alpha val="75000"/>
            </a:schemeClr>
          </a:solidFill>
          <a:ln w="6350">
            <a:solidFill>
              <a:schemeClr val="accent3">
                <a:alpha val="75000"/>
              </a:schemeClr>
            </a:solidFill>
            <a:prstDash val="solid"/>
          </a:ln>
        </p:spPr>
      </p:sp>
      <p:sp>
        <p:nvSpPr>
          <p:cNvPr id="28" name="1 · Predict particle 20"/>
          <p:cNvSpPr/>
          <p:nvPr/>
        </p:nvSpPr>
        <p:spPr>
          <a:xfrm>
            <a:off x="1492858" y="3381207"/>
            <a:ext cx="137160" cy="137160"/>
          </a:xfrm>
          <a:prstGeom prst="ellipse">
            <a:avLst/>
          </a:prstGeom>
          <a:solidFill>
            <a:schemeClr val="accent3">
              <a:alpha val="75000"/>
            </a:schemeClr>
          </a:solidFill>
          <a:ln w="6350">
            <a:solidFill>
              <a:schemeClr val="accent3">
                <a:alpha val="75000"/>
              </a:schemeClr>
            </a:solidFill>
            <a:prstDash val="solid"/>
          </a:ln>
        </p:spPr>
      </p:sp>
      <p:sp>
        <p:nvSpPr>
          <p:cNvPr id="29" name="1 · Predict particle 21"/>
          <p:cNvSpPr/>
          <p:nvPr/>
        </p:nvSpPr>
        <p:spPr>
          <a:xfrm>
            <a:off x="1356324" y="3379670"/>
            <a:ext cx="137160" cy="137160"/>
          </a:xfrm>
          <a:prstGeom prst="ellipse">
            <a:avLst/>
          </a:prstGeom>
          <a:solidFill>
            <a:schemeClr val="accent3">
              <a:alpha val="75000"/>
            </a:schemeClr>
          </a:solidFill>
          <a:ln w="6350">
            <a:solidFill>
              <a:schemeClr val="accent3">
                <a:alpha val="75000"/>
              </a:schemeClr>
            </a:solidFill>
            <a:prstDash val="solid"/>
          </a:ln>
        </p:spPr>
      </p:sp>
      <p:sp>
        <p:nvSpPr>
          <p:cNvPr id="30" name="1 · Predict particle 22"/>
          <p:cNvSpPr/>
          <p:nvPr/>
        </p:nvSpPr>
        <p:spPr>
          <a:xfrm>
            <a:off x="2145636" y="2949169"/>
            <a:ext cx="137160" cy="137160"/>
          </a:xfrm>
          <a:prstGeom prst="ellipse">
            <a:avLst/>
          </a:prstGeom>
          <a:solidFill>
            <a:schemeClr val="accent3">
              <a:alpha val="75000"/>
            </a:schemeClr>
          </a:solidFill>
          <a:ln w="6350">
            <a:solidFill>
              <a:schemeClr val="accent3">
                <a:alpha val="75000"/>
              </a:schemeClr>
            </a:solidFill>
            <a:prstDash val="solid"/>
          </a:ln>
        </p:spPr>
      </p:sp>
      <p:sp>
        <p:nvSpPr>
          <p:cNvPr id="31" name="1 · Predict particle 23"/>
          <p:cNvSpPr/>
          <p:nvPr/>
        </p:nvSpPr>
        <p:spPr>
          <a:xfrm>
            <a:off x="2735503" y="3325501"/>
            <a:ext cx="137160" cy="137160"/>
          </a:xfrm>
          <a:prstGeom prst="ellipse">
            <a:avLst/>
          </a:prstGeom>
          <a:solidFill>
            <a:schemeClr val="accent3">
              <a:alpha val="75000"/>
            </a:schemeClr>
          </a:solidFill>
          <a:ln w="6350">
            <a:solidFill>
              <a:schemeClr val="accent3">
                <a:alpha val="75000"/>
              </a:schemeClr>
            </a:solidFill>
            <a:prstDash val="solid"/>
          </a:ln>
        </p:spPr>
      </p:sp>
      <p:sp>
        <p:nvSpPr>
          <p:cNvPr id="32" name="1 · Predict particle 24"/>
          <p:cNvSpPr/>
          <p:nvPr/>
        </p:nvSpPr>
        <p:spPr>
          <a:xfrm>
            <a:off x="2391548" y="2576156"/>
            <a:ext cx="137160" cy="137160"/>
          </a:xfrm>
          <a:prstGeom prst="ellipse">
            <a:avLst/>
          </a:prstGeom>
          <a:solidFill>
            <a:schemeClr val="accent3">
              <a:alpha val="75000"/>
            </a:schemeClr>
          </a:solidFill>
          <a:ln w="6350">
            <a:solidFill>
              <a:schemeClr val="accent3">
                <a:alpha val="75000"/>
              </a:schemeClr>
            </a:solidFill>
            <a:prstDash val="solid"/>
          </a:ln>
        </p:spPr>
      </p:sp>
      <p:sp>
        <p:nvSpPr>
          <p:cNvPr id="33" name="1 · Predict particle 25"/>
          <p:cNvSpPr/>
          <p:nvPr/>
        </p:nvSpPr>
        <p:spPr>
          <a:xfrm>
            <a:off x="2318740" y="3503071"/>
            <a:ext cx="137160" cy="137160"/>
          </a:xfrm>
          <a:prstGeom prst="ellipse">
            <a:avLst/>
          </a:prstGeom>
          <a:solidFill>
            <a:schemeClr val="accent3">
              <a:alpha val="75000"/>
            </a:schemeClr>
          </a:solidFill>
          <a:ln w="6350">
            <a:solidFill>
              <a:schemeClr val="accent3">
                <a:alpha val="75000"/>
              </a:schemeClr>
            </a:solidFill>
            <a:prstDash val="solid"/>
          </a:ln>
        </p:spPr>
      </p:sp>
      <p:sp>
        <p:nvSpPr>
          <p:cNvPr id="34" name="1 · Predict particle 26"/>
          <p:cNvSpPr/>
          <p:nvPr/>
        </p:nvSpPr>
        <p:spPr>
          <a:xfrm>
            <a:off x="1973577" y="2852526"/>
            <a:ext cx="137160" cy="137160"/>
          </a:xfrm>
          <a:prstGeom prst="ellipse">
            <a:avLst/>
          </a:prstGeom>
          <a:solidFill>
            <a:schemeClr val="accent3">
              <a:alpha val="75000"/>
            </a:schemeClr>
          </a:solidFill>
          <a:ln w="6350">
            <a:solidFill>
              <a:schemeClr val="accent3">
                <a:alpha val="75000"/>
              </a:schemeClr>
            </a:solidFill>
            <a:prstDash val="solid"/>
          </a:ln>
        </p:spPr>
      </p:sp>
      <p:sp>
        <p:nvSpPr>
          <p:cNvPr id="35" name="1 · Predict particle 27"/>
          <p:cNvSpPr/>
          <p:nvPr/>
        </p:nvSpPr>
        <p:spPr>
          <a:xfrm>
            <a:off x="1563424" y="3623390"/>
            <a:ext cx="137160" cy="137160"/>
          </a:xfrm>
          <a:prstGeom prst="ellipse">
            <a:avLst/>
          </a:prstGeom>
          <a:solidFill>
            <a:schemeClr val="accent3">
              <a:alpha val="75000"/>
            </a:schemeClr>
          </a:solidFill>
          <a:ln w="6350">
            <a:solidFill>
              <a:schemeClr val="accent3">
                <a:alpha val="75000"/>
              </a:schemeClr>
            </a:solidFill>
            <a:prstDash val="solid"/>
          </a:ln>
        </p:spPr>
      </p:sp>
      <p:sp>
        <p:nvSpPr>
          <p:cNvPr id="36" name="1 · Predict particle 28"/>
          <p:cNvSpPr/>
          <p:nvPr/>
        </p:nvSpPr>
        <p:spPr>
          <a:xfrm>
            <a:off x="2470200" y="3623216"/>
            <a:ext cx="137160" cy="137160"/>
          </a:xfrm>
          <a:prstGeom prst="ellipse">
            <a:avLst/>
          </a:prstGeom>
          <a:solidFill>
            <a:schemeClr val="accent3">
              <a:alpha val="75000"/>
            </a:schemeClr>
          </a:solidFill>
          <a:ln w="6350">
            <a:solidFill>
              <a:schemeClr val="accent3">
                <a:alpha val="75000"/>
              </a:schemeClr>
            </a:solidFill>
            <a:prstDash val="solid"/>
          </a:ln>
        </p:spPr>
      </p:sp>
      <p:sp>
        <p:nvSpPr>
          <p:cNvPr id="37" name="1 · Predict particle 29"/>
          <p:cNvSpPr/>
          <p:nvPr/>
        </p:nvSpPr>
        <p:spPr>
          <a:xfrm>
            <a:off x="2569272" y="3308815"/>
            <a:ext cx="137160" cy="137160"/>
          </a:xfrm>
          <a:prstGeom prst="ellipse">
            <a:avLst/>
          </a:prstGeom>
          <a:solidFill>
            <a:schemeClr val="accent3">
              <a:alpha val="75000"/>
            </a:schemeClr>
          </a:solidFill>
          <a:ln w="6350">
            <a:solidFill>
              <a:schemeClr val="accent3">
                <a:alpha val="75000"/>
              </a:schemeClr>
            </a:solidFill>
            <a:prstDash val="solid"/>
          </a:ln>
        </p:spPr>
      </p:sp>
      <p:sp>
        <p:nvSpPr>
          <p:cNvPr id="38" name="1 · Predict particle 30"/>
          <p:cNvSpPr/>
          <p:nvPr/>
        </p:nvSpPr>
        <p:spPr>
          <a:xfrm>
            <a:off x="1981994" y="3739774"/>
            <a:ext cx="137160" cy="137160"/>
          </a:xfrm>
          <a:prstGeom prst="ellipse">
            <a:avLst/>
          </a:prstGeom>
          <a:solidFill>
            <a:schemeClr val="accent3">
              <a:alpha val="75000"/>
            </a:schemeClr>
          </a:solidFill>
          <a:ln w="6350">
            <a:solidFill>
              <a:schemeClr val="accent3">
                <a:alpha val="75000"/>
              </a:schemeClr>
            </a:solidFill>
            <a:prstDash val="solid"/>
          </a:ln>
        </p:spPr>
      </p:sp>
      <p:sp>
        <p:nvSpPr>
          <p:cNvPr id="39" name="1 · Predict particle 31"/>
          <p:cNvSpPr/>
          <p:nvPr/>
        </p:nvSpPr>
        <p:spPr>
          <a:xfrm>
            <a:off x="2159375" y="3048705"/>
            <a:ext cx="137160" cy="137160"/>
          </a:xfrm>
          <a:prstGeom prst="ellipse">
            <a:avLst/>
          </a:prstGeom>
          <a:solidFill>
            <a:schemeClr val="accent3">
              <a:alpha val="75000"/>
            </a:schemeClr>
          </a:solidFill>
          <a:ln w="6350">
            <a:solidFill>
              <a:schemeClr val="accent3">
                <a:alpha val="75000"/>
              </a:schemeClr>
            </a:solidFill>
            <a:prstDash val="solid"/>
          </a:ln>
        </p:spPr>
      </p:sp>
      <p:sp>
        <p:nvSpPr>
          <p:cNvPr id="40" name="1 · Predict particle 32"/>
          <p:cNvSpPr/>
          <p:nvPr/>
        </p:nvSpPr>
        <p:spPr>
          <a:xfrm>
            <a:off x="2987601" y="3372133"/>
            <a:ext cx="137160" cy="137160"/>
          </a:xfrm>
          <a:prstGeom prst="ellipse">
            <a:avLst/>
          </a:prstGeom>
          <a:solidFill>
            <a:schemeClr val="accent3">
              <a:alpha val="75000"/>
            </a:schemeClr>
          </a:solidFill>
          <a:ln w="6350">
            <a:solidFill>
              <a:schemeClr val="accent3">
                <a:alpha val="75000"/>
              </a:schemeClr>
            </a:solidFill>
            <a:prstDash val="solid"/>
          </a:ln>
        </p:spPr>
      </p:sp>
      <p:sp>
        <p:nvSpPr>
          <p:cNvPr id="41" name="1 · Predict particle 33"/>
          <p:cNvSpPr/>
          <p:nvPr/>
        </p:nvSpPr>
        <p:spPr>
          <a:xfrm>
            <a:off x="1977212" y="4058103"/>
            <a:ext cx="137160" cy="137160"/>
          </a:xfrm>
          <a:prstGeom prst="ellipse">
            <a:avLst/>
          </a:prstGeom>
          <a:solidFill>
            <a:schemeClr val="accent3">
              <a:alpha val="75000"/>
            </a:schemeClr>
          </a:solidFill>
          <a:ln w="6350">
            <a:solidFill>
              <a:schemeClr val="accent3">
                <a:alpha val="75000"/>
              </a:schemeClr>
            </a:solidFill>
            <a:prstDash val="solid"/>
          </a:ln>
        </p:spPr>
      </p:sp>
      <p:sp>
        <p:nvSpPr>
          <p:cNvPr id="42" name="1 · Predict particle 34"/>
          <p:cNvSpPr/>
          <p:nvPr/>
        </p:nvSpPr>
        <p:spPr>
          <a:xfrm>
            <a:off x="2976397" y="3894574"/>
            <a:ext cx="137160" cy="137160"/>
          </a:xfrm>
          <a:prstGeom prst="ellipse">
            <a:avLst/>
          </a:prstGeom>
          <a:solidFill>
            <a:schemeClr val="accent3">
              <a:alpha val="75000"/>
            </a:schemeClr>
          </a:solidFill>
          <a:ln w="6350">
            <a:solidFill>
              <a:schemeClr val="accent3">
                <a:alpha val="75000"/>
              </a:schemeClr>
            </a:solidFill>
            <a:prstDash val="solid"/>
          </a:ln>
        </p:spPr>
      </p:sp>
      <p:sp>
        <p:nvSpPr>
          <p:cNvPr id="43" name="1 · Predict particle 35"/>
          <p:cNvSpPr/>
          <p:nvPr/>
        </p:nvSpPr>
        <p:spPr>
          <a:xfrm>
            <a:off x="2559532" y="3344243"/>
            <a:ext cx="137160" cy="137160"/>
          </a:xfrm>
          <a:prstGeom prst="ellipse">
            <a:avLst/>
          </a:prstGeom>
          <a:solidFill>
            <a:schemeClr val="accent3">
              <a:alpha val="75000"/>
            </a:schemeClr>
          </a:solidFill>
          <a:ln w="6350">
            <a:solidFill>
              <a:schemeClr val="accent3">
                <a:alpha val="75000"/>
              </a:schemeClr>
            </a:solidFill>
            <a:prstDash val="solid"/>
          </a:ln>
        </p:spPr>
      </p:sp>
      <p:sp>
        <p:nvSpPr>
          <p:cNvPr id="44" name="1 · Predict particle 36"/>
          <p:cNvSpPr/>
          <p:nvPr/>
        </p:nvSpPr>
        <p:spPr>
          <a:xfrm>
            <a:off x="1474740" y="3248830"/>
            <a:ext cx="137160" cy="137160"/>
          </a:xfrm>
          <a:prstGeom prst="ellipse">
            <a:avLst/>
          </a:prstGeom>
          <a:solidFill>
            <a:schemeClr val="accent3">
              <a:alpha val="75000"/>
            </a:schemeClr>
          </a:solidFill>
          <a:ln w="6350">
            <a:solidFill>
              <a:schemeClr val="accent3">
                <a:alpha val="75000"/>
              </a:schemeClr>
            </a:solidFill>
            <a:prstDash val="solid"/>
          </a:ln>
        </p:spPr>
      </p:sp>
      <p:sp>
        <p:nvSpPr>
          <p:cNvPr id="45" name="1 · Predict particle 37"/>
          <p:cNvSpPr/>
          <p:nvPr/>
        </p:nvSpPr>
        <p:spPr>
          <a:xfrm>
            <a:off x="1751726" y="3370801"/>
            <a:ext cx="137160" cy="137160"/>
          </a:xfrm>
          <a:prstGeom prst="ellipse">
            <a:avLst/>
          </a:prstGeom>
          <a:solidFill>
            <a:schemeClr val="accent3">
              <a:alpha val="75000"/>
            </a:schemeClr>
          </a:solidFill>
          <a:ln w="6350">
            <a:solidFill>
              <a:schemeClr val="accent3">
                <a:alpha val="75000"/>
              </a:schemeClr>
            </a:solidFill>
            <a:prstDash val="solid"/>
          </a:ln>
        </p:spPr>
      </p:sp>
      <p:sp>
        <p:nvSpPr>
          <p:cNvPr id="46" name="1 · Predict particle 38"/>
          <p:cNvSpPr/>
          <p:nvPr/>
        </p:nvSpPr>
        <p:spPr>
          <a:xfrm>
            <a:off x="1645827" y="3077938"/>
            <a:ext cx="137160" cy="137160"/>
          </a:xfrm>
          <a:prstGeom prst="ellipse">
            <a:avLst/>
          </a:prstGeom>
          <a:solidFill>
            <a:schemeClr val="accent3">
              <a:alpha val="75000"/>
            </a:schemeClr>
          </a:solidFill>
          <a:ln w="6350">
            <a:solidFill>
              <a:schemeClr val="accent3">
                <a:alpha val="75000"/>
              </a:schemeClr>
            </a:solidFill>
            <a:prstDash val="solid"/>
          </a:ln>
        </p:spPr>
      </p:sp>
      <p:sp>
        <p:nvSpPr>
          <p:cNvPr id="47" name="1 · Predict particle 39"/>
          <p:cNvSpPr/>
          <p:nvPr/>
        </p:nvSpPr>
        <p:spPr>
          <a:xfrm>
            <a:off x="1713031" y="3186622"/>
            <a:ext cx="137160" cy="137160"/>
          </a:xfrm>
          <a:prstGeom prst="ellipse">
            <a:avLst/>
          </a:prstGeom>
          <a:solidFill>
            <a:schemeClr val="accent3">
              <a:alpha val="75000"/>
            </a:schemeClr>
          </a:solidFill>
          <a:ln w="6350">
            <a:solidFill>
              <a:schemeClr val="accent3">
                <a:alpha val="75000"/>
              </a:schemeClr>
            </a:solidFill>
            <a:prstDash val="solid"/>
          </a:ln>
        </p:spPr>
      </p:sp>
      <p:sp>
        <p:nvSpPr>
          <p:cNvPr id="48" name="1 · Predict particle 40"/>
          <p:cNvSpPr/>
          <p:nvPr/>
        </p:nvSpPr>
        <p:spPr>
          <a:xfrm>
            <a:off x="2185089" y="3198243"/>
            <a:ext cx="137160" cy="137160"/>
          </a:xfrm>
          <a:prstGeom prst="ellipse">
            <a:avLst/>
          </a:prstGeom>
          <a:solidFill>
            <a:schemeClr val="accent3">
              <a:alpha val="75000"/>
            </a:schemeClr>
          </a:solidFill>
          <a:ln w="6350">
            <a:solidFill>
              <a:schemeClr val="accent3">
                <a:alpha val="75000"/>
              </a:schemeClr>
            </a:solidFill>
            <a:prstDash val="solid"/>
          </a:ln>
        </p:spPr>
      </p:sp>
      <p:sp>
        <p:nvSpPr>
          <p:cNvPr id="49" name="1 · Predict particle 41"/>
          <p:cNvSpPr/>
          <p:nvPr/>
        </p:nvSpPr>
        <p:spPr>
          <a:xfrm>
            <a:off x="2644531" y="4065370"/>
            <a:ext cx="137160" cy="137160"/>
          </a:xfrm>
          <a:prstGeom prst="ellipse">
            <a:avLst/>
          </a:prstGeom>
          <a:solidFill>
            <a:schemeClr val="accent3">
              <a:alpha val="75000"/>
            </a:schemeClr>
          </a:solidFill>
          <a:ln w="6350">
            <a:solidFill>
              <a:schemeClr val="accent3">
                <a:alpha val="75000"/>
              </a:schemeClr>
            </a:solidFill>
            <a:prstDash val="solid"/>
          </a:ln>
        </p:spPr>
      </p:sp>
      <p:sp>
        <p:nvSpPr>
          <p:cNvPr id="50" name="1 · Predict particle 42"/>
          <p:cNvSpPr/>
          <p:nvPr/>
        </p:nvSpPr>
        <p:spPr>
          <a:xfrm>
            <a:off x="2241576" y="3098522"/>
            <a:ext cx="137160" cy="137160"/>
          </a:xfrm>
          <a:prstGeom prst="ellipse">
            <a:avLst/>
          </a:prstGeom>
          <a:solidFill>
            <a:schemeClr val="accent3">
              <a:alpha val="75000"/>
            </a:schemeClr>
          </a:solidFill>
          <a:ln w="6350">
            <a:solidFill>
              <a:schemeClr val="accent3">
                <a:alpha val="75000"/>
              </a:schemeClr>
            </a:solidFill>
            <a:prstDash val="solid"/>
          </a:ln>
        </p:spPr>
      </p:sp>
      <p:sp>
        <p:nvSpPr>
          <p:cNvPr id="51" name="1 · Predict particle 43"/>
          <p:cNvSpPr/>
          <p:nvPr/>
        </p:nvSpPr>
        <p:spPr>
          <a:xfrm>
            <a:off x="2456695" y="3214268"/>
            <a:ext cx="137160" cy="137160"/>
          </a:xfrm>
          <a:prstGeom prst="ellipse">
            <a:avLst/>
          </a:prstGeom>
          <a:solidFill>
            <a:schemeClr val="accent3">
              <a:alpha val="75000"/>
            </a:schemeClr>
          </a:solidFill>
          <a:ln w="6350">
            <a:solidFill>
              <a:schemeClr val="accent3">
                <a:alpha val="75000"/>
              </a:schemeClr>
            </a:solidFill>
            <a:prstDash val="solid"/>
          </a:ln>
        </p:spPr>
      </p:sp>
      <p:sp>
        <p:nvSpPr>
          <p:cNvPr id="52" name="1 · Predict particle 44"/>
          <p:cNvSpPr/>
          <p:nvPr/>
        </p:nvSpPr>
        <p:spPr>
          <a:xfrm>
            <a:off x="2758260" y="3711977"/>
            <a:ext cx="137160" cy="137160"/>
          </a:xfrm>
          <a:prstGeom prst="ellipse">
            <a:avLst/>
          </a:prstGeom>
          <a:solidFill>
            <a:schemeClr val="accent3">
              <a:alpha val="75000"/>
            </a:schemeClr>
          </a:solidFill>
          <a:ln w="6350">
            <a:solidFill>
              <a:schemeClr val="accent3">
                <a:alpha val="75000"/>
              </a:schemeClr>
            </a:solidFill>
            <a:prstDash val="solid"/>
          </a:ln>
        </p:spPr>
      </p:sp>
      <p:sp>
        <p:nvSpPr>
          <p:cNvPr id="53" name="1 · Predict particle 45"/>
          <p:cNvSpPr/>
          <p:nvPr/>
        </p:nvSpPr>
        <p:spPr>
          <a:xfrm>
            <a:off x="1877220" y="2868864"/>
            <a:ext cx="137160" cy="137160"/>
          </a:xfrm>
          <a:prstGeom prst="ellipse">
            <a:avLst/>
          </a:prstGeom>
          <a:solidFill>
            <a:schemeClr val="accent3">
              <a:alpha val="75000"/>
            </a:schemeClr>
          </a:solidFill>
          <a:ln w="6350">
            <a:solidFill>
              <a:schemeClr val="accent3">
                <a:alpha val="75000"/>
              </a:schemeClr>
            </a:solidFill>
            <a:prstDash val="solid"/>
          </a:ln>
        </p:spPr>
      </p:sp>
      <p:sp>
        <p:nvSpPr>
          <p:cNvPr id="54" name="1 · Predict particle 46"/>
          <p:cNvSpPr/>
          <p:nvPr/>
        </p:nvSpPr>
        <p:spPr>
          <a:xfrm>
            <a:off x="2188064" y="2919147"/>
            <a:ext cx="137160" cy="137160"/>
          </a:xfrm>
          <a:prstGeom prst="ellipse">
            <a:avLst/>
          </a:prstGeom>
          <a:solidFill>
            <a:schemeClr val="accent3">
              <a:alpha val="75000"/>
            </a:schemeClr>
          </a:solidFill>
          <a:ln w="6350">
            <a:solidFill>
              <a:schemeClr val="accent3">
                <a:alpha val="75000"/>
              </a:schemeClr>
            </a:solidFill>
            <a:prstDash val="solid"/>
          </a:ln>
        </p:spPr>
      </p:sp>
      <p:sp>
        <p:nvSpPr>
          <p:cNvPr id="55" name="1 · Predict particle 47"/>
          <p:cNvSpPr/>
          <p:nvPr/>
        </p:nvSpPr>
        <p:spPr>
          <a:xfrm>
            <a:off x="2014312" y="3586150"/>
            <a:ext cx="137160" cy="137160"/>
          </a:xfrm>
          <a:prstGeom prst="ellipse">
            <a:avLst/>
          </a:prstGeom>
          <a:solidFill>
            <a:schemeClr val="accent3">
              <a:alpha val="75000"/>
            </a:schemeClr>
          </a:solidFill>
          <a:ln w="6350">
            <a:solidFill>
              <a:schemeClr val="accent3">
                <a:alpha val="75000"/>
              </a:schemeClr>
            </a:solidFill>
            <a:prstDash val="solid"/>
          </a:ln>
        </p:spPr>
      </p:sp>
      <p:sp>
        <p:nvSpPr>
          <p:cNvPr id="56" name="1 · Predict particle 48"/>
          <p:cNvSpPr/>
          <p:nvPr/>
        </p:nvSpPr>
        <p:spPr>
          <a:xfrm>
            <a:off x="2468520" y="3922631"/>
            <a:ext cx="137160" cy="137160"/>
          </a:xfrm>
          <a:prstGeom prst="ellipse">
            <a:avLst/>
          </a:prstGeom>
          <a:solidFill>
            <a:schemeClr val="accent3">
              <a:alpha val="75000"/>
            </a:schemeClr>
          </a:solidFill>
          <a:ln w="6350">
            <a:solidFill>
              <a:schemeClr val="accent3">
                <a:alpha val="75000"/>
              </a:schemeClr>
            </a:solidFill>
            <a:prstDash val="solid"/>
          </a:ln>
        </p:spPr>
      </p:sp>
      <p:sp>
        <p:nvSpPr>
          <p:cNvPr id="57" name="1 · Predict particle 49"/>
          <p:cNvSpPr/>
          <p:nvPr/>
        </p:nvSpPr>
        <p:spPr>
          <a:xfrm>
            <a:off x="1842281" y="3764830"/>
            <a:ext cx="137160" cy="137160"/>
          </a:xfrm>
          <a:prstGeom prst="ellipse">
            <a:avLst/>
          </a:prstGeom>
          <a:solidFill>
            <a:schemeClr val="accent3">
              <a:alpha val="75000"/>
            </a:schemeClr>
          </a:solidFill>
          <a:ln w="6350">
            <a:solidFill>
              <a:schemeClr val="accent3">
                <a:alpha val="75000"/>
              </a:schemeClr>
            </a:solidFill>
            <a:prstDash val="solid"/>
          </a:ln>
        </p:spPr>
      </p:sp>
      <p:sp>
        <p:nvSpPr>
          <p:cNvPr id="58" name="1 · Predict particle 50"/>
          <p:cNvSpPr/>
          <p:nvPr/>
        </p:nvSpPr>
        <p:spPr>
          <a:xfrm>
            <a:off x="1885939" y="3608969"/>
            <a:ext cx="137160" cy="137160"/>
          </a:xfrm>
          <a:prstGeom prst="ellipse">
            <a:avLst/>
          </a:prstGeom>
          <a:solidFill>
            <a:schemeClr val="accent3">
              <a:alpha val="75000"/>
            </a:schemeClr>
          </a:solidFill>
          <a:ln w="6350">
            <a:solidFill>
              <a:schemeClr val="accent3">
                <a:alpha val="75000"/>
              </a:schemeClr>
            </a:solidFill>
            <a:prstDash val="solid"/>
          </a:ln>
        </p:spPr>
      </p:sp>
      <p:sp>
        <p:nvSpPr>
          <p:cNvPr id="59" name="1 · Predict particle 51"/>
          <p:cNvSpPr/>
          <p:nvPr/>
        </p:nvSpPr>
        <p:spPr>
          <a:xfrm>
            <a:off x="1801238" y="3838043"/>
            <a:ext cx="137160" cy="137160"/>
          </a:xfrm>
          <a:prstGeom prst="ellipse">
            <a:avLst/>
          </a:prstGeom>
          <a:solidFill>
            <a:schemeClr val="accent3">
              <a:alpha val="75000"/>
            </a:schemeClr>
          </a:solidFill>
          <a:ln w="6350">
            <a:solidFill>
              <a:schemeClr val="accent3">
                <a:alpha val="75000"/>
              </a:schemeClr>
            </a:solidFill>
            <a:prstDash val="solid"/>
          </a:ln>
        </p:spPr>
      </p:sp>
      <p:sp>
        <p:nvSpPr>
          <p:cNvPr id="60" name="1 · Predict particle 52"/>
          <p:cNvSpPr/>
          <p:nvPr/>
        </p:nvSpPr>
        <p:spPr>
          <a:xfrm>
            <a:off x="1845675" y="3357117"/>
            <a:ext cx="137160" cy="137160"/>
          </a:xfrm>
          <a:prstGeom prst="ellipse">
            <a:avLst/>
          </a:prstGeom>
          <a:solidFill>
            <a:schemeClr val="accent3">
              <a:alpha val="75000"/>
            </a:schemeClr>
          </a:solidFill>
          <a:ln w="6350">
            <a:solidFill>
              <a:schemeClr val="accent3">
                <a:alpha val="75000"/>
              </a:schemeClr>
            </a:solidFill>
            <a:prstDash val="solid"/>
          </a:ln>
        </p:spPr>
      </p:sp>
      <p:sp>
        <p:nvSpPr>
          <p:cNvPr id="61" name="1 · Predict particle 53"/>
          <p:cNvSpPr/>
          <p:nvPr/>
        </p:nvSpPr>
        <p:spPr>
          <a:xfrm>
            <a:off x="2523152" y="2929613"/>
            <a:ext cx="137160" cy="137160"/>
          </a:xfrm>
          <a:prstGeom prst="ellipse">
            <a:avLst/>
          </a:prstGeom>
          <a:solidFill>
            <a:schemeClr val="accent3">
              <a:alpha val="75000"/>
            </a:schemeClr>
          </a:solidFill>
          <a:ln w="6350">
            <a:solidFill>
              <a:schemeClr val="accent3">
                <a:alpha val="75000"/>
              </a:schemeClr>
            </a:solidFill>
            <a:prstDash val="solid"/>
          </a:ln>
        </p:spPr>
      </p:sp>
      <p:sp>
        <p:nvSpPr>
          <p:cNvPr id="62" name="1 · Predict particle 54"/>
          <p:cNvSpPr/>
          <p:nvPr/>
        </p:nvSpPr>
        <p:spPr>
          <a:xfrm>
            <a:off x="3311927" y="3404256"/>
            <a:ext cx="137160" cy="137160"/>
          </a:xfrm>
          <a:prstGeom prst="ellipse">
            <a:avLst/>
          </a:prstGeom>
          <a:solidFill>
            <a:schemeClr val="accent3">
              <a:alpha val="75000"/>
            </a:schemeClr>
          </a:solidFill>
          <a:ln w="6350">
            <a:solidFill>
              <a:schemeClr val="accent3">
                <a:alpha val="75000"/>
              </a:schemeClr>
            </a:solidFill>
            <a:prstDash val="solid"/>
          </a:ln>
        </p:spPr>
      </p:sp>
      <p:sp>
        <p:nvSpPr>
          <p:cNvPr id="63" name="1 · Predict particle 55"/>
          <p:cNvSpPr/>
          <p:nvPr/>
        </p:nvSpPr>
        <p:spPr>
          <a:xfrm>
            <a:off x="2212827" y="3326803"/>
            <a:ext cx="137160" cy="137160"/>
          </a:xfrm>
          <a:prstGeom prst="ellipse">
            <a:avLst/>
          </a:prstGeom>
          <a:solidFill>
            <a:schemeClr val="accent3">
              <a:alpha val="75000"/>
            </a:schemeClr>
          </a:solidFill>
          <a:ln w="6350">
            <a:solidFill>
              <a:schemeClr val="accent3">
                <a:alpha val="75000"/>
              </a:schemeClr>
            </a:solidFill>
            <a:prstDash val="solid"/>
          </a:ln>
        </p:spPr>
      </p:sp>
      <p:sp>
        <p:nvSpPr>
          <p:cNvPr id="64" name="1 · Predict particle 56"/>
          <p:cNvSpPr/>
          <p:nvPr/>
        </p:nvSpPr>
        <p:spPr>
          <a:xfrm>
            <a:off x="1960206" y="4241848"/>
            <a:ext cx="137160" cy="137160"/>
          </a:xfrm>
          <a:prstGeom prst="ellipse">
            <a:avLst/>
          </a:prstGeom>
          <a:solidFill>
            <a:schemeClr val="accent3">
              <a:alpha val="75000"/>
            </a:schemeClr>
          </a:solidFill>
          <a:ln w="6350">
            <a:solidFill>
              <a:schemeClr val="accent3">
                <a:alpha val="75000"/>
              </a:schemeClr>
            </a:solidFill>
            <a:prstDash val="solid"/>
          </a:ln>
        </p:spPr>
      </p:sp>
      <p:sp>
        <p:nvSpPr>
          <p:cNvPr id="65" name="1 · Predict particle 57"/>
          <p:cNvSpPr/>
          <p:nvPr/>
        </p:nvSpPr>
        <p:spPr>
          <a:xfrm>
            <a:off x="1366592" y="3369325"/>
            <a:ext cx="137160" cy="137160"/>
          </a:xfrm>
          <a:prstGeom prst="ellipse">
            <a:avLst/>
          </a:prstGeom>
          <a:solidFill>
            <a:schemeClr val="accent3">
              <a:alpha val="75000"/>
            </a:schemeClr>
          </a:solidFill>
          <a:ln w="6350">
            <a:solidFill>
              <a:schemeClr val="accent3">
                <a:alpha val="75000"/>
              </a:schemeClr>
            </a:solidFill>
            <a:prstDash val="solid"/>
          </a:ln>
        </p:spPr>
      </p:sp>
      <p:sp>
        <p:nvSpPr>
          <p:cNvPr id="66" name="1 · Predict particle 58"/>
          <p:cNvSpPr/>
          <p:nvPr/>
        </p:nvSpPr>
        <p:spPr>
          <a:xfrm>
            <a:off x="2177285" y="3088277"/>
            <a:ext cx="137160" cy="137160"/>
          </a:xfrm>
          <a:prstGeom prst="ellipse">
            <a:avLst/>
          </a:prstGeom>
          <a:solidFill>
            <a:schemeClr val="accent3">
              <a:alpha val="75000"/>
            </a:schemeClr>
          </a:solidFill>
          <a:ln w="6350">
            <a:solidFill>
              <a:schemeClr val="accent3">
                <a:alpha val="75000"/>
              </a:schemeClr>
            </a:solidFill>
            <a:prstDash val="solid"/>
          </a:ln>
        </p:spPr>
      </p:sp>
      <p:sp>
        <p:nvSpPr>
          <p:cNvPr id="67" name="1 · Predict particle 59"/>
          <p:cNvSpPr/>
          <p:nvPr/>
        </p:nvSpPr>
        <p:spPr>
          <a:xfrm>
            <a:off x="1562039" y="2971328"/>
            <a:ext cx="137160" cy="137160"/>
          </a:xfrm>
          <a:prstGeom prst="ellipse">
            <a:avLst/>
          </a:prstGeom>
          <a:solidFill>
            <a:schemeClr val="accent3">
              <a:alpha val="75000"/>
            </a:schemeClr>
          </a:solidFill>
          <a:ln w="6350">
            <a:solidFill>
              <a:schemeClr val="accent3">
                <a:alpha val="75000"/>
              </a:schemeClr>
            </a:solidFill>
            <a:prstDash val="solid"/>
          </a:ln>
        </p:spPr>
      </p:sp>
      <p:sp>
        <p:nvSpPr>
          <p:cNvPr id="68" name="1 · Predict particle 60"/>
          <p:cNvSpPr/>
          <p:nvPr/>
        </p:nvSpPr>
        <p:spPr>
          <a:xfrm>
            <a:off x="1779255" y="3839919"/>
            <a:ext cx="137160" cy="137160"/>
          </a:xfrm>
          <a:prstGeom prst="ellipse">
            <a:avLst/>
          </a:prstGeom>
          <a:solidFill>
            <a:schemeClr val="accent3">
              <a:alpha val="75000"/>
            </a:schemeClr>
          </a:solidFill>
          <a:ln w="6350">
            <a:solidFill>
              <a:schemeClr val="accent3">
                <a:alpha val="75000"/>
              </a:schemeClr>
            </a:solidFill>
            <a:prstDash val="solid"/>
          </a:ln>
        </p:spPr>
      </p:sp>
      <p:sp>
        <p:nvSpPr>
          <p:cNvPr id="69" name="1 · Predict particle 61"/>
          <p:cNvSpPr/>
          <p:nvPr/>
        </p:nvSpPr>
        <p:spPr>
          <a:xfrm>
            <a:off x="2038940" y="3018592"/>
            <a:ext cx="137160" cy="137160"/>
          </a:xfrm>
          <a:prstGeom prst="ellipse">
            <a:avLst/>
          </a:prstGeom>
          <a:solidFill>
            <a:schemeClr val="accent3">
              <a:alpha val="75000"/>
            </a:schemeClr>
          </a:solidFill>
          <a:ln w="6350">
            <a:solidFill>
              <a:schemeClr val="accent3">
                <a:alpha val="75000"/>
              </a:schemeClr>
            </a:solidFill>
            <a:prstDash val="solid"/>
          </a:ln>
        </p:spPr>
      </p:sp>
      <p:sp>
        <p:nvSpPr>
          <p:cNvPr id="70" name="1 · Predict particle 62"/>
          <p:cNvSpPr/>
          <p:nvPr/>
        </p:nvSpPr>
        <p:spPr>
          <a:xfrm>
            <a:off x="1670171" y="4284510"/>
            <a:ext cx="137160" cy="137160"/>
          </a:xfrm>
          <a:prstGeom prst="ellipse">
            <a:avLst/>
          </a:prstGeom>
          <a:solidFill>
            <a:schemeClr val="accent3">
              <a:alpha val="75000"/>
            </a:schemeClr>
          </a:solidFill>
          <a:ln w="6350">
            <a:solidFill>
              <a:schemeClr val="accent3">
                <a:alpha val="75000"/>
              </a:schemeClr>
            </a:solidFill>
            <a:prstDash val="solid"/>
          </a:ln>
        </p:spPr>
      </p:sp>
      <p:sp>
        <p:nvSpPr>
          <p:cNvPr id="71" name="1 · Predict particle 63"/>
          <p:cNvSpPr/>
          <p:nvPr/>
        </p:nvSpPr>
        <p:spPr>
          <a:xfrm>
            <a:off x="3024061" y="4114684"/>
            <a:ext cx="137160" cy="137160"/>
          </a:xfrm>
          <a:prstGeom prst="ellipse">
            <a:avLst/>
          </a:prstGeom>
          <a:solidFill>
            <a:schemeClr val="accent3">
              <a:alpha val="75000"/>
            </a:schemeClr>
          </a:solidFill>
          <a:ln w="6350">
            <a:solidFill>
              <a:schemeClr val="accent3">
                <a:alpha val="75000"/>
              </a:schemeClr>
            </a:solidFill>
            <a:prstDash val="solid"/>
          </a:ln>
        </p:spPr>
      </p:sp>
      <p:sp>
        <p:nvSpPr>
          <p:cNvPr id="72" name="1 · Predict particle 64"/>
          <p:cNvSpPr/>
          <p:nvPr/>
        </p:nvSpPr>
        <p:spPr>
          <a:xfrm>
            <a:off x="1450160" y="3846357"/>
            <a:ext cx="137160" cy="137160"/>
          </a:xfrm>
          <a:prstGeom prst="ellipse">
            <a:avLst/>
          </a:prstGeom>
          <a:solidFill>
            <a:schemeClr val="accent3">
              <a:alpha val="75000"/>
            </a:schemeClr>
          </a:solidFill>
          <a:ln w="6350">
            <a:solidFill>
              <a:schemeClr val="accent3">
                <a:alpha val="75000"/>
              </a:schemeClr>
            </a:solidFill>
            <a:prstDash val="solid"/>
          </a:ln>
        </p:spPr>
      </p:sp>
      <p:sp>
        <p:nvSpPr>
          <p:cNvPr id="73" name="1 · Predict particle 65"/>
          <p:cNvSpPr/>
          <p:nvPr/>
        </p:nvSpPr>
        <p:spPr>
          <a:xfrm>
            <a:off x="1275024" y="3254602"/>
            <a:ext cx="137160" cy="137160"/>
          </a:xfrm>
          <a:prstGeom prst="ellipse">
            <a:avLst/>
          </a:prstGeom>
          <a:solidFill>
            <a:schemeClr val="accent3">
              <a:alpha val="75000"/>
            </a:schemeClr>
          </a:solidFill>
          <a:ln w="6350">
            <a:solidFill>
              <a:schemeClr val="accent3">
                <a:alpha val="75000"/>
              </a:schemeClr>
            </a:solidFill>
            <a:prstDash val="solid"/>
          </a:ln>
        </p:spPr>
      </p:sp>
      <p:sp>
        <p:nvSpPr>
          <p:cNvPr id="74" name="1 · Predict particle 66"/>
          <p:cNvSpPr/>
          <p:nvPr/>
        </p:nvSpPr>
        <p:spPr>
          <a:xfrm>
            <a:off x="2548981" y="3461077"/>
            <a:ext cx="137160" cy="137160"/>
          </a:xfrm>
          <a:prstGeom prst="ellipse">
            <a:avLst/>
          </a:prstGeom>
          <a:solidFill>
            <a:schemeClr val="accent3">
              <a:alpha val="75000"/>
            </a:schemeClr>
          </a:solidFill>
          <a:ln w="6350">
            <a:solidFill>
              <a:schemeClr val="accent3">
                <a:alpha val="75000"/>
              </a:schemeClr>
            </a:solidFill>
            <a:prstDash val="solid"/>
          </a:ln>
        </p:spPr>
      </p:sp>
      <p:sp>
        <p:nvSpPr>
          <p:cNvPr id="75" name="1 · Predict particle 67"/>
          <p:cNvSpPr/>
          <p:nvPr/>
        </p:nvSpPr>
        <p:spPr>
          <a:xfrm>
            <a:off x="2234562" y="3613279"/>
            <a:ext cx="137160" cy="137160"/>
          </a:xfrm>
          <a:prstGeom prst="ellipse">
            <a:avLst/>
          </a:prstGeom>
          <a:solidFill>
            <a:schemeClr val="accent3">
              <a:alpha val="75000"/>
            </a:schemeClr>
          </a:solidFill>
          <a:ln w="6350">
            <a:solidFill>
              <a:schemeClr val="accent3">
                <a:alpha val="75000"/>
              </a:schemeClr>
            </a:solidFill>
            <a:prstDash val="solid"/>
          </a:ln>
        </p:spPr>
      </p:sp>
      <p:sp>
        <p:nvSpPr>
          <p:cNvPr id="76" name="1 · Predict particle 68"/>
          <p:cNvSpPr/>
          <p:nvPr/>
        </p:nvSpPr>
        <p:spPr>
          <a:xfrm>
            <a:off x="2355671" y="4226675"/>
            <a:ext cx="137160" cy="137160"/>
          </a:xfrm>
          <a:prstGeom prst="ellipse">
            <a:avLst/>
          </a:prstGeom>
          <a:solidFill>
            <a:schemeClr val="accent3">
              <a:alpha val="75000"/>
            </a:schemeClr>
          </a:solidFill>
          <a:ln w="6350">
            <a:solidFill>
              <a:schemeClr val="accent3">
                <a:alpha val="75000"/>
              </a:schemeClr>
            </a:solidFill>
            <a:prstDash val="solid"/>
          </a:ln>
        </p:spPr>
      </p:sp>
      <p:sp>
        <p:nvSpPr>
          <p:cNvPr id="77" name="1 · Predict particle 69"/>
          <p:cNvSpPr/>
          <p:nvPr/>
        </p:nvSpPr>
        <p:spPr>
          <a:xfrm>
            <a:off x="2007344" y="3281009"/>
            <a:ext cx="137160" cy="137160"/>
          </a:xfrm>
          <a:prstGeom prst="ellipse">
            <a:avLst/>
          </a:prstGeom>
          <a:solidFill>
            <a:schemeClr val="accent3">
              <a:alpha val="75000"/>
            </a:schemeClr>
          </a:solidFill>
          <a:ln w="6350">
            <a:solidFill>
              <a:schemeClr val="accent3">
                <a:alpha val="75000"/>
              </a:schemeClr>
            </a:solidFill>
            <a:prstDash val="solid"/>
          </a:ln>
        </p:spPr>
      </p:sp>
      <p:sp>
        <p:nvSpPr>
          <p:cNvPr id="78" name="1 · Predict text"/>
          <p:cNvSpPr txBox="1"/>
          <p:nvPr/>
        </p:nvSpPr>
        <p:spPr>
          <a:xfrm>
            <a:off x="548640" y="4937760"/>
            <a:ext cx="3566160" cy="1097280"/>
          </a:xfrm>
          <a:prstGeom prst="rect">
            <a:avLst/>
          </a:prstGeom>
          <a:noFill/>
          <a:ln/>
        </p:spPr>
        <p:txBody>
          <a:bodyPr wrap="square" lIns="0" tIns="0" rIns="0" bIns="0" rtlCol="0" anchor="t"/>
          <a:lstStyle/>
          <a:p>
            <a:pPr algn="l" indent="0" marL="0">
              <a:buNone/>
            </a:pPr>
            <a:r>
              <a:rPr lang="en-US" sz="1500" dirty="0">
                <a:solidFill>
                  <a:schemeClr val="tx1"/>
                </a:solidFill>
              </a:rPr>
              <a:t>The robot moved 0.25 m: move every particle the same way, plus random noise.</a:t>
            </a:r>
            <a:endParaRPr lang="en-US" sz="1500" dirty="0"/>
          </a:p>
        </p:txBody>
      </p:sp>
      <p:sp>
        <p:nvSpPr>
          <p:cNvPr id="79" name="2 · Weight panel"/>
          <p:cNvSpPr/>
          <p:nvPr/>
        </p:nvSpPr>
        <p:spPr>
          <a:xfrm>
            <a:off x="4311396" y="1417320"/>
            <a:ext cx="3566160" cy="3337560"/>
          </a:xfrm>
          <a:prstGeom prst="roundRect">
            <a:avLst>
              <a:gd name="adj" fmla="val 2740"/>
            </a:avLst>
          </a:prstGeom>
          <a:solidFill>
            <a:schemeClr val="bg2"/>
          </a:solidFill>
          <a:ln w="6350">
            <a:solidFill>
              <a:schemeClr val="bg2"/>
            </a:solidFill>
            <a:prstDash val="solid"/>
          </a:ln>
        </p:spPr>
      </p:sp>
      <p:sp>
        <p:nvSpPr>
          <p:cNvPr id="80" name="2 · Weight title"/>
          <p:cNvSpPr txBox="1"/>
          <p:nvPr/>
        </p:nvSpPr>
        <p:spPr>
          <a:xfrm>
            <a:off x="4494276" y="1508760"/>
            <a:ext cx="3200400" cy="411480"/>
          </a:xfrm>
          <a:prstGeom prst="rect">
            <a:avLst/>
          </a:prstGeom>
          <a:noFill/>
          <a:ln/>
        </p:spPr>
        <p:txBody>
          <a:bodyPr wrap="square" lIns="0" tIns="0" rIns="0" bIns="0" rtlCol="0" anchor="ctr"/>
          <a:lstStyle/>
          <a:p>
            <a:pPr algn="l" indent="0" marL="0">
              <a:buNone/>
            </a:pPr>
            <a:r>
              <a:rPr lang="en-US" sz="1700" b="1" dirty="0">
                <a:solidFill>
                  <a:schemeClr val="tx1"/>
                </a:solidFill>
              </a:rPr>
              <a:t>2 · Weight</a:t>
            </a:r>
            <a:endParaRPr lang="en-US" sz="1700" dirty="0"/>
          </a:p>
        </p:txBody>
      </p:sp>
      <p:sp>
        <p:nvSpPr>
          <p:cNvPr id="81" name="2 · Weight map"/>
          <p:cNvSpPr/>
          <p:nvPr/>
        </p:nvSpPr>
        <p:spPr>
          <a:xfrm>
            <a:off x="4494276" y="1965960"/>
            <a:ext cx="3200400" cy="2606040"/>
          </a:xfrm>
          <a:prstGeom prst="rect">
            <a:avLst/>
          </a:prstGeom>
          <a:solidFill>
            <a:schemeClr val="bg1"/>
          </a:solidFill>
          <a:ln w="38100">
            <a:solidFill>
              <a:schemeClr val="tx1"/>
            </a:solidFill>
            <a:prstDash val="solid"/>
          </a:ln>
        </p:spPr>
      </p:sp>
      <p:sp>
        <p:nvSpPr>
          <p:cNvPr id="82" name="2 · Weight table"/>
          <p:cNvSpPr/>
          <p:nvPr/>
        </p:nvSpPr>
        <p:spPr>
          <a:xfrm>
            <a:off x="6688836" y="2286000"/>
            <a:ext cx="640080" cy="457200"/>
          </a:xfrm>
          <a:prstGeom prst="rect">
            <a:avLst/>
          </a:prstGeom>
          <a:solidFill>
            <a:schemeClr val="tx2"/>
          </a:solidFill>
          <a:ln w="12700">
            <a:solidFill>
              <a:schemeClr val="tx2"/>
            </a:solidFill>
            <a:prstDash val="solid"/>
          </a:ln>
        </p:spPr>
      </p:sp>
      <p:sp>
        <p:nvSpPr>
          <p:cNvPr id="83" name="2 · Weight particle 0"/>
          <p:cNvSpPr/>
          <p:nvPr/>
        </p:nvSpPr>
        <p:spPr>
          <a:xfrm>
            <a:off x="5414381" y="3378038"/>
            <a:ext cx="78403" cy="78403"/>
          </a:xfrm>
          <a:prstGeom prst="ellipse">
            <a:avLst/>
          </a:prstGeom>
          <a:solidFill>
            <a:schemeClr val="accent3">
              <a:alpha val="75000"/>
            </a:schemeClr>
          </a:solidFill>
          <a:ln w="6350">
            <a:solidFill>
              <a:schemeClr val="accent3">
                <a:alpha val="75000"/>
              </a:schemeClr>
            </a:solidFill>
            <a:prstDash val="solid"/>
          </a:ln>
        </p:spPr>
      </p:sp>
      <p:sp>
        <p:nvSpPr>
          <p:cNvPr id="84" name="2 · Weight particle 1"/>
          <p:cNvSpPr/>
          <p:nvPr/>
        </p:nvSpPr>
        <p:spPr>
          <a:xfrm>
            <a:off x="4971689" y="3023558"/>
            <a:ext cx="73152" cy="73152"/>
          </a:xfrm>
          <a:prstGeom prst="ellipse">
            <a:avLst/>
          </a:prstGeom>
          <a:solidFill>
            <a:schemeClr val="accent3">
              <a:alpha val="75000"/>
            </a:schemeClr>
          </a:solidFill>
          <a:ln w="6350">
            <a:solidFill>
              <a:schemeClr val="accent3">
                <a:alpha val="75000"/>
              </a:schemeClr>
            </a:solidFill>
            <a:prstDash val="solid"/>
          </a:ln>
        </p:spPr>
      </p:sp>
      <p:sp>
        <p:nvSpPr>
          <p:cNvPr id="85" name="2 · Weight particle 2"/>
          <p:cNvSpPr/>
          <p:nvPr/>
        </p:nvSpPr>
        <p:spPr>
          <a:xfrm>
            <a:off x="5630854" y="3997785"/>
            <a:ext cx="74679" cy="74679"/>
          </a:xfrm>
          <a:prstGeom prst="ellipse">
            <a:avLst/>
          </a:prstGeom>
          <a:solidFill>
            <a:schemeClr val="accent3">
              <a:alpha val="75000"/>
            </a:schemeClr>
          </a:solidFill>
          <a:ln w="6350">
            <a:solidFill>
              <a:schemeClr val="accent3">
                <a:alpha val="75000"/>
              </a:schemeClr>
            </a:solidFill>
            <a:prstDash val="solid"/>
          </a:ln>
        </p:spPr>
      </p:sp>
      <p:sp>
        <p:nvSpPr>
          <p:cNvPr id="86" name="2 · Weight particle 3"/>
          <p:cNvSpPr/>
          <p:nvPr/>
        </p:nvSpPr>
        <p:spPr>
          <a:xfrm>
            <a:off x="5762816" y="2751585"/>
            <a:ext cx="73193" cy="73193"/>
          </a:xfrm>
          <a:prstGeom prst="ellipse">
            <a:avLst/>
          </a:prstGeom>
          <a:solidFill>
            <a:schemeClr val="accent3">
              <a:alpha val="75000"/>
            </a:schemeClr>
          </a:solidFill>
          <a:ln w="6350">
            <a:solidFill>
              <a:schemeClr val="accent3">
                <a:alpha val="75000"/>
              </a:schemeClr>
            </a:solidFill>
            <a:prstDash val="solid"/>
          </a:ln>
        </p:spPr>
      </p:sp>
      <p:sp>
        <p:nvSpPr>
          <p:cNvPr id="87" name="2 · Weight particle 4"/>
          <p:cNvSpPr/>
          <p:nvPr/>
        </p:nvSpPr>
        <p:spPr>
          <a:xfrm>
            <a:off x="5562936" y="2143733"/>
            <a:ext cx="73152" cy="73152"/>
          </a:xfrm>
          <a:prstGeom prst="ellipse">
            <a:avLst/>
          </a:prstGeom>
          <a:solidFill>
            <a:schemeClr val="accent3">
              <a:alpha val="75000"/>
            </a:schemeClr>
          </a:solidFill>
          <a:ln w="6350">
            <a:solidFill>
              <a:schemeClr val="accent3">
                <a:alpha val="75000"/>
              </a:schemeClr>
            </a:solidFill>
            <a:prstDash val="solid"/>
          </a:ln>
        </p:spPr>
      </p:sp>
      <p:sp>
        <p:nvSpPr>
          <p:cNvPr id="88" name="2 · Weight particle 5"/>
          <p:cNvSpPr/>
          <p:nvPr/>
        </p:nvSpPr>
        <p:spPr>
          <a:xfrm>
            <a:off x="6179825" y="3903537"/>
            <a:ext cx="77851" cy="77851"/>
          </a:xfrm>
          <a:prstGeom prst="ellipse">
            <a:avLst/>
          </a:prstGeom>
          <a:solidFill>
            <a:schemeClr val="accent3">
              <a:alpha val="75000"/>
            </a:schemeClr>
          </a:solidFill>
          <a:ln w="6350">
            <a:solidFill>
              <a:schemeClr val="accent3">
                <a:alpha val="75000"/>
              </a:schemeClr>
            </a:solidFill>
            <a:prstDash val="solid"/>
          </a:ln>
        </p:spPr>
      </p:sp>
      <p:sp>
        <p:nvSpPr>
          <p:cNvPr id="89" name="2 · Weight particle 6"/>
          <p:cNvSpPr/>
          <p:nvPr/>
        </p:nvSpPr>
        <p:spPr>
          <a:xfrm>
            <a:off x="6654410" y="3650978"/>
            <a:ext cx="73179" cy="73179"/>
          </a:xfrm>
          <a:prstGeom prst="ellipse">
            <a:avLst/>
          </a:prstGeom>
          <a:solidFill>
            <a:schemeClr val="accent3">
              <a:alpha val="75000"/>
            </a:schemeClr>
          </a:solidFill>
          <a:ln w="6350">
            <a:solidFill>
              <a:schemeClr val="accent3">
                <a:alpha val="75000"/>
              </a:schemeClr>
            </a:solidFill>
            <a:prstDash val="solid"/>
          </a:ln>
        </p:spPr>
      </p:sp>
      <p:sp>
        <p:nvSpPr>
          <p:cNvPr id="90" name="2 · Weight particle 7"/>
          <p:cNvSpPr/>
          <p:nvPr/>
        </p:nvSpPr>
        <p:spPr>
          <a:xfrm>
            <a:off x="6456034" y="3916882"/>
            <a:ext cx="73282" cy="73282"/>
          </a:xfrm>
          <a:prstGeom prst="ellipse">
            <a:avLst/>
          </a:prstGeom>
          <a:solidFill>
            <a:schemeClr val="accent3">
              <a:alpha val="75000"/>
            </a:schemeClr>
          </a:solidFill>
          <a:ln w="6350">
            <a:solidFill>
              <a:schemeClr val="accent3">
                <a:alpha val="75000"/>
              </a:schemeClr>
            </a:solidFill>
            <a:prstDash val="solid"/>
          </a:ln>
        </p:spPr>
      </p:sp>
      <p:sp>
        <p:nvSpPr>
          <p:cNvPr id="91" name="2 · Weight particle 8"/>
          <p:cNvSpPr/>
          <p:nvPr/>
        </p:nvSpPr>
        <p:spPr>
          <a:xfrm>
            <a:off x="6116022" y="2901667"/>
            <a:ext cx="73684" cy="73684"/>
          </a:xfrm>
          <a:prstGeom prst="ellipse">
            <a:avLst/>
          </a:prstGeom>
          <a:solidFill>
            <a:schemeClr val="accent3">
              <a:alpha val="75000"/>
            </a:schemeClr>
          </a:solidFill>
          <a:ln w="6350">
            <a:solidFill>
              <a:schemeClr val="accent3">
                <a:alpha val="75000"/>
              </a:schemeClr>
            </a:solidFill>
            <a:prstDash val="solid"/>
          </a:ln>
        </p:spPr>
      </p:sp>
      <p:sp>
        <p:nvSpPr>
          <p:cNvPr id="92" name="2 · Weight particle 9"/>
          <p:cNvSpPr/>
          <p:nvPr/>
        </p:nvSpPr>
        <p:spPr>
          <a:xfrm>
            <a:off x="7120347" y="3127345"/>
            <a:ext cx="73152" cy="73152"/>
          </a:xfrm>
          <a:prstGeom prst="ellipse">
            <a:avLst/>
          </a:prstGeom>
          <a:solidFill>
            <a:schemeClr val="accent3">
              <a:alpha val="75000"/>
            </a:schemeClr>
          </a:solidFill>
          <a:ln w="6350">
            <a:solidFill>
              <a:schemeClr val="accent3">
                <a:alpha val="75000"/>
              </a:schemeClr>
            </a:solidFill>
            <a:prstDash val="solid"/>
          </a:ln>
        </p:spPr>
      </p:sp>
      <p:sp>
        <p:nvSpPr>
          <p:cNvPr id="93" name="2 · Weight particle 10"/>
          <p:cNvSpPr/>
          <p:nvPr/>
        </p:nvSpPr>
        <p:spPr>
          <a:xfrm>
            <a:off x="5383122" y="3251658"/>
            <a:ext cx="74785" cy="74785"/>
          </a:xfrm>
          <a:prstGeom prst="ellipse">
            <a:avLst/>
          </a:prstGeom>
          <a:solidFill>
            <a:schemeClr val="accent3">
              <a:alpha val="75000"/>
            </a:schemeClr>
          </a:solidFill>
          <a:ln w="6350">
            <a:solidFill>
              <a:schemeClr val="accent3">
                <a:alpha val="75000"/>
              </a:schemeClr>
            </a:solidFill>
            <a:prstDash val="solid"/>
          </a:ln>
        </p:spPr>
      </p:sp>
      <p:sp>
        <p:nvSpPr>
          <p:cNvPr id="94" name="2 · Weight particle 11"/>
          <p:cNvSpPr/>
          <p:nvPr/>
        </p:nvSpPr>
        <p:spPr>
          <a:xfrm>
            <a:off x="6114341" y="3598327"/>
            <a:ext cx="134410" cy="134410"/>
          </a:xfrm>
          <a:prstGeom prst="ellipse">
            <a:avLst/>
          </a:prstGeom>
          <a:solidFill>
            <a:schemeClr val="accent3">
              <a:alpha val="75000"/>
            </a:schemeClr>
          </a:solidFill>
          <a:ln w="6350">
            <a:solidFill>
              <a:schemeClr val="accent3">
                <a:alpha val="75000"/>
              </a:schemeClr>
            </a:solidFill>
            <a:prstDash val="solid"/>
          </a:ln>
        </p:spPr>
      </p:sp>
      <p:sp>
        <p:nvSpPr>
          <p:cNvPr id="95" name="2 · Weight particle 12"/>
          <p:cNvSpPr/>
          <p:nvPr/>
        </p:nvSpPr>
        <p:spPr>
          <a:xfrm>
            <a:off x="5683837" y="2988917"/>
            <a:ext cx="75481" cy="75481"/>
          </a:xfrm>
          <a:prstGeom prst="ellipse">
            <a:avLst/>
          </a:prstGeom>
          <a:solidFill>
            <a:schemeClr val="accent3">
              <a:alpha val="75000"/>
            </a:schemeClr>
          </a:solidFill>
          <a:ln w="6350">
            <a:solidFill>
              <a:schemeClr val="accent3">
                <a:alpha val="75000"/>
              </a:schemeClr>
            </a:solidFill>
            <a:prstDash val="solid"/>
          </a:ln>
        </p:spPr>
      </p:sp>
      <p:sp>
        <p:nvSpPr>
          <p:cNvPr id="96" name="2 · Weight particle 13"/>
          <p:cNvSpPr/>
          <p:nvPr/>
        </p:nvSpPr>
        <p:spPr>
          <a:xfrm>
            <a:off x="5689987" y="3575029"/>
            <a:ext cx="180194" cy="180194"/>
          </a:xfrm>
          <a:prstGeom prst="ellipse">
            <a:avLst/>
          </a:prstGeom>
          <a:solidFill>
            <a:schemeClr val="accent3">
              <a:alpha val="75000"/>
            </a:schemeClr>
          </a:solidFill>
          <a:ln w="6350">
            <a:solidFill>
              <a:schemeClr val="accent3">
                <a:alpha val="75000"/>
              </a:schemeClr>
            </a:solidFill>
            <a:prstDash val="solid"/>
          </a:ln>
        </p:spPr>
      </p:sp>
      <p:sp>
        <p:nvSpPr>
          <p:cNvPr id="97" name="2 · Weight particle 14"/>
          <p:cNvSpPr/>
          <p:nvPr/>
        </p:nvSpPr>
        <p:spPr>
          <a:xfrm>
            <a:off x="5680768" y="3523553"/>
            <a:ext cx="196610" cy="196610"/>
          </a:xfrm>
          <a:prstGeom prst="ellipse">
            <a:avLst/>
          </a:prstGeom>
          <a:solidFill>
            <a:schemeClr val="accent3">
              <a:alpha val="75000"/>
            </a:schemeClr>
          </a:solidFill>
          <a:ln w="6350">
            <a:solidFill>
              <a:schemeClr val="accent3">
                <a:alpha val="75000"/>
              </a:schemeClr>
            </a:solidFill>
            <a:prstDash val="solid"/>
          </a:ln>
        </p:spPr>
      </p:sp>
      <p:sp>
        <p:nvSpPr>
          <p:cNvPr id="98" name="2 · Weight particle 15"/>
          <p:cNvSpPr/>
          <p:nvPr/>
        </p:nvSpPr>
        <p:spPr>
          <a:xfrm>
            <a:off x="6947290" y="2909050"/>
            <a:ext cx="73152" cy="73152"/>
          </a:xfrm>
          <a:prstGeom prst="ellipse">
            <a:avLst/>
          </a:prstGeom>
          <a:solidFill>
            <a:schemeClr val="accent3">
              <a:alpha val="75000"/>
            </a:schemeClr>
          </a:solidFill>
          <a:ln w="6350">
            <a:solidFill>
              <a:schemeClr val="accent3">
                <a:alpha val="75000"/>
              </a:schemeClr>
            </a:solidFill>
            <a:prstDash val="solid"/>
          </a:ln>
        </p:spPr>
      </p:sp>
      <p:sp>
        <p:nvSpPr>
          <p:cNvPr id="99" name="2 · Weight particle 16"/>
          <p:cNvSpPr/>
          <p:nvPr/>
        </p:nvSpPr>
        <p:spPr>
          <a:xfrm>
            <a:off x="6294716" y="3310754"/>
            <a:ext cx="84357" cy="84357"/>
          </a:xfrm>
          <a:prstGeom prst="ellipse">
            <a:avLst/>
          </a:prstGeom>
          <a:solidFill>
            <a:schemeClr val="accent3">
              <a:alpha val="75000"/>
            </a:schemeClr>
          </a:solidFill>
          <a:ln w="6350">
            <a:solidFill>
              <a:schemeClr val="accent3">
                <a:alpha val="75000"/>
              </a:schemeClr>
            </a:solidFill>
            <a:prstDash val="solid"/>
          </a:ln>
        </p:spPr>
      </p:sp>
      <p:sp>
        <p:nvSpPr>
          <p:cNvPr id="100" name="2 · Weight particle 17"/>
          <p:cNvSpPr/>
          <p:nvPr/>
        </p:nvSpPr>
        <p:spPr>
          <a:xfrm>
            <a:off x="5793540" y="3568015"/>
            <a:ext cx="216645" cy="216645"/>
          </a:xfrm>
          <a:prstGeom prst="ellipse">
            <a:avLst/>
          </a:prstGeom>
          <a:solidFill>
            <a:schemeClr val="accent3">
              <a:alpha val="75000"/>
            </a:schemeClr>
          </a:solidFill>
          <a:ln w="6350">
            <a:solidFill>
              <a:schemeClr val="accent3">
                <a:alpha val="75000"/>
              </a:schemeClr>
            </a:solidFill>
            <a:prstDash val="solid"/>
          </a:ln>
        </p:spPr>
      </p:sp>
      <p:sp>
        <p:nvSpPr>
          <p:cNvPr id="101" name="2 · Weight particle 18"/>
          <p:cNvSpPr/>
          <p:nvPr/>
        </p:nvSpPr>
        <p:spPr>
          <a:xfrm>
            <a:off x="6148816" y="4339046"/>
            <a:ext cx="73154" cy="73154"/>
          </a:xfrm>
          <a:prstGeom prst="ellipse">
            <a:avLst/>
          </a:prstGeom>
          <a:solidFill>
            <a:schemeClr val="accent3">
              <a:alpha val="75000"/>
            </a:schemeClr>
          </a:solidFill>
          <a:ln w="6350">
            <a:solidFill>
              <a:schemeClr val="accent3">
                <a:alpha val="75000"/>
              </a:schemeClr>
            </a:solidFill>
            <a:prstDash val="solid"/>
          </a:ln>
        </p:spPr>
      </p:sp>
      <p:sp>
        <p:nvSpPr>
          <p:cNvPr id="102" name="2 · Weight particle 19"/>
          <p:cNvSpPr/>
          <p:nvPr/>
        </p:nvSpPr>
        <p:spPr>
          <a:xfrm>
            <a:off x="6363802" y="3024492"/>
            <a:ext cx="73446" cy="73446"/>
          </a:xfrm>
          <a:prstGeom prst="ellipse">
            <a:avLst/>
          </a:prstGeom>
          <a:solidFill>
            <a:schemeClr val="accent3">
              <a:alpha val="75000"/>
            </a:schemeClr>
          </a:solidFill>
          <a:ln w="6350">
            <a:solidFill>
              <a:schemeClr val="accent3">
                <a:alpha val="75000"/>
              </a:schemeClr>
            </a:solidFill>
            <a:prstDash val="solid"/>
          </a:ln>
        </p:spPr>
      </p:sp>
      <p:sp>
        <p:nvSpPr>
          <p:cNvPr id="103" name="2 · Weight particle 20"/>
          <p:cNvSpPr/>
          <p:nvPr/>
        </p:nvSpPr>
        <p:spPr>
          <a:xfrm>
            <a:off x="5287269" y="3412861"/>
            <a:ext cx="73851" cy="73851"/>
          </a:xfrm>
          <a:prstGeom prst="ellipse">
            <a:avLst/>
          </a:prstGeom>
          <a:solidFill>
            <a:schemeClr val="accent3">
              <a:alpha val="75000"/>
            </a:schemeClr>
          </a:solidFill>
          <a:ln w="6350">
            <a:solidFill>
              <a:schemeClr val="accent3">
                <a:alpha val="75000"/>
              </a:schemeClr>
            </a:solidFill>
            <a:prstDash val="solid"/>
          </a:ln>
        </p:spPr>
      </p:sp>
      <p:sp>
        <p:nvSpPr>
          <p:cNvPr id="104" name="2 · Weight particle 21"/>
          <p:cNvSpPr/>
          <p:nvPr/>
        </p:nvSpPr>
        <p:spPr>
          <a:xfrm>
            <a:off x="5151062" y="3411652"/>
            <a:ext cx="73196" cy="73196"/>
          </a:xfrm>
          <a:prstGeom prst="ellipse">
            <a:avLst/>
          </a:prstGeom>
          <a:solidFill>
            <a:schemeClr val="accent3">
              <a:alpha val="75000"/>
            </a:schemeClr>
          </a:solidFill>
          <a:ln w="6350">
            <a:solidFill>
              <a:schemeClr val="accent3">
                <a:alpha val="75000"/>
              </a:schemeClr>
            </a:solidFill>
            <a:prstDash val="solid"/>
          </a:ln>
        </p:spPr>
      </p:sp>
      <p:sp>
        <p:nvSpPr>
          <p:cNvPr id="105" name="2 · Weight particle 22"/>
          <p:cNvSpPr/>
          <p:nvPr/>
        </p:nvSpPr>
        <p:spPr>
          <a:xfrm>
            <a:off x="5938447" y="2979224"/>
            <a:ext cx="77051" cy="77051"/>
          </a:xfrm>
          <a:prstGeom prst="ellipse">
            <a:avLst/>
          </a:prstGeom>
          <a:solidFill>
            <a:schemeClr val="accent3">
              <a:alpha val="75000"/>
            </a:schemeClr>
          </a:solidFill>
          <a:ln w="6350">
            <a:solidFill>
              <a:schemeClr val="accent3">
                <a:alpha val="75000"/>
              </a:schemeClr>
            </a:solidFill>
            <a:prstDash val="solid"/>
          </a:ln>
        </p:spPr>
      </p:sp>
      <p:sp>
        <p:nvSpPr>
          <p:cNvPr id="106" name="2 · Weight particle 23"/>
          <p:cNvSpPr/>
          <p:nvPr/>
        </p:nvSpPr>
        <p:spPr>
          <a:xfrm>
            <a:off x="6530070" y="3357312"/>
            <a:ext cx="73539" cy="73539"/>
          </a:xfrm>
          <a:prstGeom prst="ellipse">
            <a:avLst/>
          </a:prstGeom>
          <a:solidFill>
            <a:schemeClr val="accent3">
              <a:alpha val="75000"/>
            </a:schemeClr>
          </a:solidFill>
          <a:ln w="6350">
            <a:solidFill>
              <a:schemeClr val="accent3">
                <a:alpha val="75000"/>
              </a:schemeClr>
            </a:solidFill>
            <a:prstDash val="solid"/>
          </a:ln>
        </p:spPr>
      </p:sp>
      <p:sp>
        <p:nvSpPr>
          <p:cNvPr id="107" name="2 · Weight particle 24"/>
          <p:cNvSpPr/>
          <p:nvPr/>
        </p:nvSpPr>
        <p:spPr>
          <a:xfrm>
            <a:off x="6186308" y="2608160"/>
            <a:ext cx="73152" cy="73152"/>
          </a:xfrm>
          <a:prstGeom prst="ellipse">
            <a:avLst/>
          </a:prstGeom>
          <a:solidFill>
            <a:schemeClr val="accent3">
              <a:alpha val="75000"/>
            </a:schemeClr>
          </a:solidFill>
          <a:ln w="6350">
            <a:solidFill>
              <a:schemeClr val="accent3">
                <a:alpha val="75000"/>
              </a:schemeClr>
            </a:solidFill>
            <a:prstDash val="solid"/>
          </a:ln>
        </p:spPr>
      </p:sp>
      <p:sp>
        <p:nvSpPr>
          <p:cNvPr id="108" name="2 · Weight particle 25"/>
          <p:cNvSpPr/>
          <p:nvPr/>
        </p:nvSpPr>
        <p:spPr>
          <a:xfrm>
            <a:off x="6064614" y="3486189"/>
            <a:ext cx="170924" cy="170924"/>
          </a:xfrm>
          <a:prstGeom prst="ellipse">
            <a:avLst/>
          </a:prstGeom>
          <a:solidFill>
            <a:schemeClr val="accent3">
              <a:alpha val="75000"/>
            </a:schemeClr>
          </a:solidFill>
          <a:ln w="6350">
            <a:solidFill>
              <a:schemeClr val="accent3">
                <a:alpha val="75000"/>
              </a:schemeClr>
            </a:solidFill>
            <a:prstDash val="solid"/>
          </a:ln>
        </p:spPr>
      </p:sp>
      <p:sp>
        <p:nvSpPr>
          <p:cNvPr id="109" name="2 · Weight particle 26"/>
          <p:cNvSpPr/>
          <p:nvPr/>
        </p:nvSpPr>
        <p:spPr>
          <a:xfrm>
            <a:off x="5768028" y="2884221"/>
            <a:ext cx="73770" cy="73770"/>
          </a:xfrm>
          <a:prstGeom prst="ellipse">
            <a:avLst/>
          </a:prstGeom>
          <a:solidFill>
            <a:schemeClr val="accent3">
              <a:alpha val="75000"/>
            </a:schemeClr>
          </a:solidFill>
          <a:ln w="6350">
            <a:solidFill>
              <a:schemeClr val="accent3">
                <a:alpha val="75000"/>
              </a:schemeClr>
            </a:solidFill>
            <a:prstDash val="solid"/>
          </a:ln>
        </p:spPr>
      </p:sp>
      <p:sp>
        <p:nvSpPr>
          <p:cNvPr id="110" name="2 · Weight particle 27"/>
          <p:cNvSpPr/>
          <p:nvPr/>
        </p:nvSpPr>
        <p:spPr>
          <a:xfrm>
            <a:off x="5357312" y="3654523"/>
            <a:ext cx="74895" cy="74895"/>
          </a:xfrm>
          <a:prstGeom prst="ellipse">
            <a:avLst/>
          </a:prstGeom>
          <a:solidFill>
            <a:schemeClr val="accent3">
              <a:alpha val="75000"/>
            </a:schemeClr>
          </a:solidFill>
          <a:ln w="6350">
            <a:solidFill>
              <a:schemeClr val="accent3">
                <a:alpha val="75000"/>
              </a:schemeClr>
            </a:solidFill>
            <a:prstDash val="solid"/>
          </a:ln>
        </p:spPr>
      </p:sp>
      <p:sp>
        <p:nvSpPr>
          <p:cNvPr id="111" name="2 · Weight particle 28"/>
          <p:cNvSpPr/>
          <p:nvPr/>
        </p:nvSpPr>
        <p:spPr>
          <a:xfrm>
            <a:off x="6255907" y="3646167"/>
            <a:ext cx="91259" cy="91259"/>
          </a:xfrm>
          <a:prstGeom prst="ellipse">
            <a:avLst/>
          </a:prstGeom>
          <a:solidFill>
            <a:schemeClr val="accent3">
              <a:alpha val="75000"/>
            </a:schemeClr>
          </a:solidFill>
          <a:ln w="6350">
            <a:solidFill>
              <a:schemeClr val="accent3">
                <a:alpha val="75000"/>
              </a:schemeClr>
            </a:solidFill>
            <a:prstDash val="solid"/>
          </a:ln>
        </p:spPr>
      </p:sp>
      <p:sp>
        <p:nvSpPr>
          <p:cNvPr id="112" name="2 · Weight particle 29"/>
          <p:cNvSpPr/>
          <p:nvPr/>
        </p:nvSpPr>
        <p:spPr>
          <a:xfrm>
            <a:off x="6361269" y="3338056"/>
            <a:ext cx="78677" cy="78677"/>
          </a:xfrm>
          <a:prstGeom prst="ellipse">
            <a:avLst/>
          </a:prstGeom>
          <a:solidFill>
            <a:schemeClr val="accent3">
              <a:alpha val="75000"/>
            </a:schemeClr>
          </a:solidFill>
          <a:ln w="6350">
            <a:solidFill>
              <a:schemeClr val="accent3">
                <a:alpha val="75000"/>
              </a:schemeClr>
            </a:solidFill>
            <a:prstDash val="solid"/>
          </a:ln>
        </p:spPr>
      </p:sp>
      <p:sp>
        <p:nvSpPr>
          <p:cNvPr id="113" name="2 · Weight particle 30"/>
          <p:cNvSpPr/>
          <p:nvPr/>
        </p:nvSpPr>
        <p:spPr>
          <a:xfrm>
            <a:off x="5751478" y="3746501"/>
            <a:ext cx="123704" cy="123704"/>
          </a:xfrm>
          <a:prstGeom prst="ellipse">
            <a:avLst/>
          </a:prstGeom>
          <a:solidFill>
            <a:schemeClr val="accent3">
              <a:alpha val="75000"/>
            </a:schemeClr>
          </a:solidFill>
          <a:ln w="6350">
            <a:solidFill>
              <a:schemeClr val="accent3">
                <a:alpha val="75000"/>
              </a:schemeClr>
            </a:solidFill>
            <a:prstDash val="solid"/>
          </a:ln>
        </p:spPr>
      </p:sp>
      <p:sp>
        <p:nvSpPr>
          <p:cNvPr id="114" name="2 · Weight particle 31"/>
          <p:cNvSpPr/>
          <p:nvPr/>
        </p:nvSpPr>
        <p:spPr>
          <a:xfrm>
            <a:off x="5946579" y="3073153"/>
            <a:ext cx="88264" cy="88264"/>
          </a:xfrm>
          <a:prstGeom prst="ellipse">
            <a:avLst/>
          </a:prstGeom>
          <a:solidFill>
            <a:schemeClr val="accent3">
              <a:alpha val="75000"/>
            </a:schemeClr>
          </a:solidFill>
          <a:ln w="6350">
            <a:solidFill>
              <a:schemeClr val="accent3">
                <a:alpha val="75000"/>
              </a:schemeClr>
            </a:solidFill>
            <a:prstDash val="solid"/>
          </a:ln>
        </p:spPr>
      </p:sp>
      <p:sp>
        <p:nvSpPr>
          <p:cNvPr id="115" name="2 · Weight particle 32"/>
          <p:cNvSpPr/>
          <p:nvPr/>
        </p:nvSpPr>
        <p:spPr>
          <a:xfrm>
            <a:off x="6782360" y="3404136"/>
            <a:ext cx="73153" cy="73153"/>
          </a:xfrm>
          <a:prstGeom prst="ellipse">
            <a:avLst/>
          </a:prstGeom>
          <a:solidFill>
            <a:schemeClr val="accent3">
              <a:alpha val="75000"/>
            </a:schemeClr>
          </a:solidFill>
          <a:ln w="6350">
            <a:solidFill>
              <a:schemeClr val="accent3">
                <a:alpha val="75000"/>
              </a:schemeClr>
            </a:solidFill>
            <a:prstDash val="solid"/>
          </a:ln>
        </p:spPr>
      </p:sp>
      <p:sp>
        <p:nvSpPr>
          <p:cNvPr id="116" name="2 · Weight particle 33"/>
          <p:cNvSpPr/>
          <p:nvPr/>
        </p:nvSpPr>
        <p:spPr>
          <a:xfrm>
            <a:off x="5771588" y="4089722"/>
            <a:ext cx="73921" cy="73921"/>
          </a:xfrm>
          <a:prstGeom prst="ellipse">
            <a:avLst/>
          </a:prstGeom>
          <a:solidFill>
            <a:schemeClr val="accent3">
              <a:alpha val="75000"/>
            </a:schemeClr>
          </a:solidFill>
          <a:ln w="6350">
            <a:solidFill>
              <a:schemeClr val="accent3">
                <a:alpha val="75000"/>
              </a:schemeClr>
            </a:solidFill>
            <a:prstDash val="solid"/>
          </a:ln>
        </p:spPr>
      </p:sp>
      <p:sp>
        <p:nvSpPr>
          <p:cNvPr id="117" name="2 · Weight particle 34"/>
          <p:cNvSpPr/>
          <p:nvPr/>
        </p:nvSpPr>
        <p:spPr>
          <a:xfrm>
            <a:off x="6771157" y="3926578"/>
            <a:ext cx="73152" cy="73152"/>
          </a:xfrm>
          <a:prstGeom prst="ellipse">
            <a:avLst/>
          </a:prstGeom>
          <a:solidFill>
            <a:schemeClr val="accent3">
              <a:alpha val="75000"/>
            </a:schemeClr>
          </a:solidFill>
          <a:ln w="6350">
            <a:solidFill>
              <a:schemeClr val="accent3">
                <a:alpha val="75000"/>
              </a:schemeClr>
            </a:solidFill>
            <a:prstDash val="solid"/>
          </a:ln>
        </p:spPr>
      </p:sp>
      <p:sp>
        <p:nvSpPr>
          <p:cNvPr id="118" name="2 · Weight particle 35"/>
          <p:cNvSpPr/>
          <p:nvPr/>
        </p:nvSpPr>
        <p:spPr>
          <a:xfrm>
            <a:off x="6350648" y="3372604"/>
            <a:ext cx="80439" cy="80439"/>
          </a:xfrm>
          <a:prstGeom prst="ellipse">
            <a:avLst/>
          </a:prstGeom>
          <a:solidFill>
            <a:schemeClr val="accent3">
              <a:alpha val="75000"/>
            </a:schemeClr>
          </a:solidFill>
          <a:ln w="6350">
            <a:solidFill>
              <a:schemeClr val="accent3">
                <a:alpha val="75000"/>
              </a:schemeClr>
            </a:solidFill>
            <a:prstDash val="solid"/>
          </a:ln>
        </p:spPr>
      </p:sp>
      <p:sp>
        <p:nvSpPr>
          <p:cNvPr id="119" name="2 · Weight particle 36"/>
          <p:cNvSpPr/>
          <p:nvPr/>
        </p:nvSpPr>
        <p:spPr>
          <a:xfrm>
            <a:off x="5269360" y="3280694"/>
            <a:ext cx="73432" cy="73432"/>
          </a:xfrm>
          <a:prstGeom prst="ellipse">
            <a:avLst/>
          </a:prstGeom>
          <a:solidFill>
            <a:schemeClr val="accent3">
              <a:alpha val="75000"/>
            </a:schemeClr>
          </a:solidFill>
          <a:ln w="6350">
            <a:solidFill>
              <a:schemeClr val="accent3">
                <a:alpha val="75000"/>
              </a:schemeClr>
            </a:solidFill>
            <a:prstDash val="solid"/>
          </a:ln>
        </p:spPr>
      </p:sp>
      <p:sp>
        <p:nvSpPr>
          <p:cNvPr id="120" name="2 · Weight particle 37"/>
          <p:cNvSpPr/>
          <p:nvPr/>
        </p:nvSpPr>
        <p:spPr>
          <a:xfrm>
            <a:off x="5532425" y="3388745"/>
            <a:ext cx="101273" cy="101273"/>
          </a:xfrm>
          <a:prstGeom prst="ellipse">
            <a:avLst/>
          </a:prstGeom>
          <a:solidFill>
            <a:schemeClr val="accent3">
              <a:alpha val="75000"/>
            </a:schemeClr>
          </a:solidFill>
          <a:ln w="6350">
            <a:solidFill>
              <a:schemeClr val="accent3">
                <a:alpha val="75000"/>
              </a:schemeClr>
            </a:solidFill>
            <a:prstDash val="solid"/>
          </a:ln>
        </p:spPr>
      </p:sp>
      <p:sp>
        <p:nvSpPr>
          <p:cNvPr id="121" name="2 · Weight particle 38"/>
          <p:cNvSpPr/>
          <p:nvPr/>
        </p:nvSpPr>
        <p:spPr>
          <a:xfrm>
            <a:off x="5440095" y="3109450"/>
            <a:ext cx="74136" cy="74136"/>
          </a:xfrm>
          <a:prstGeom prst="ellipse">
            <a:avLst/>
          </a:prstGeom>
          <a:solidFill>
            <a:schemeClr val="accent3">
              <a:alpha val="75000"/>
            </a:schemeClr>
          </a:solidFill>
          <a:ln w="6350">
            <a:solidFill>
              <a:schemeClr val="accent3">
                <a:alpha val="75000"/>
              </a:schemeClr>
            </a:solidFill>
            <a:prstDash val="solid"/>
          </a:ln>
        </p:spPr>
      </p:sp>
      <p:sp>
        <p:nvSpPr>
          <p:cNvPr id="122" name="2 · Weight particle 39"/>
          <p:cNvSpPr/>
          <p:nvPr/>
        </p:nvSpPr>
        <p:spPr>
          <a:xfrm>
            <a:off x="5504436" y="3215271"/>
            <a:ext cx="79863" cy="79863"/>
          </a:xfrm>
          <a:prstGeom prst="ellipse">
            <a:avLst/>
          </a:prstGeom>
          <a:solidFill>
            <a:schemeClr val="accent3">
              <a:alpha val="75000"/>
            </a:schemeClr>
          </a:solidFill>
          <a:ln w="6350">
            <a:solidFill>
              <a:schemeClr val="accent3">
                <a:alpha val="75000"/>
              </a:schemeClr>
            </a:solidFill>
            <a:prstDash val="solid"/>
          </a:ln>
        </p:spPr>
      </p:sp>
      <p:sp>
        <p:nvSpPr>
          <p:cNvPr id="123" name="2 · Weight particle 40"/>
          <p:cNvSpPr/>
          <p:nvPr/>
        </p:nvSpPr>
        <p:spPr>
          <a:xfrm>
            <a:off x="5947443" y="3197841"/>
            <a:ext cx="137965" cy="137965"/>
          </a:xfrm>
          <a:prstGeom prst="ellipse">
            <a:avLst/>
          </a:prstGeom>
          <a:solidFill>
            <a:schemeClr val="accent3">
              <a:alpha val="75000"/>
            </a:schemeClr>
          </a:solidFill>
          <a:ln w="6350">
            <a:solidFill>
              <a:schemeClr val="accent3">
                <a:alpha val="75000"/>
              </a:schemeClr>
            </a:solidFill>
            <a:prstDash val="solid"/>
          </a:ln>
        </p:spPr>
      </p:sp>
      <p:sp>
        <p:nvSpPr>
          <p:cNvPr id="124" name="2 · Weight particle 41"/>
          <p:cNvSpPr/>
          <p:nvPr/>
        </p:nvSpPr>
        <p:spPr>
          <a:xfrm>
            <a:off x="6439285" y="4097368"/>
            <a:ext cx="73163" cy="73163"/>
          </a:xfrm>
          <a:prstGeom prst="ellipse">
            <a:avLst/>
          </a:prstGeom>
          <a:solidFill>
            <a:schemeClr val="accent3">
              <a:alpha val="75000"/>
            </a:schemeClr>
          </a:solidFill>
          <a:ln w="6350">
            <a:solidFill>
              <a:schemeClr val="accent3">
                <a:alpha val="75000"/>
              </a:schemeClr>
            </a:solidFill>
            <a:prstDash val="solid"/>
          </a:ln>
        </p:spPr>
      </p:sp>
      <p:sp>
        <p:nvSpPr>
          <p:cNvPr id="125" name="2 · Weight particle 42"/>
          <p:cNvSpPr/>
          <p:nvPr/>
        </p:nvSpPr>
        <p:spPr>
          <a:xfrm>
            <a:off x="6025744" y="3119934"/>
            <a:ext cx="94336" cy="94336"/>
          </a:xfrm>
          <a:prstGeom prst="ellipse">
            <a:avLst/>
          </a:prstGeom>
          <a:solidFill>
            <a:schemeClr val="accent3">
              <a:alpha val="75000"/>
            </a:schemeClr>
          </a:solidFill>
          <a:ln w="6350">
            <a:solidFill>
              <a:schemeClr val="accent3">
                <a:alpha val="75000"/>
              </a:schemeClr>
            </a:solidFill>
            <a:prstDash val="solid"/>
          </a:ln>
        </p:spPr>
      </p:sp>
      <p:sp>
        <p:nvSpPr>
          <p:cNvPr id="126" name="2 · Weight particle 43"/>
          <p:cNvSpPr/>
          <p:nvPr/>
        </p:nvSpPr>
        <p:spPr>
          <a:xfrm>
            <a:off x="6245210" y="3240026"/>
            <a:ext cx="85643" cy="85643"/>
          </a:xfrm>
          <a:prstGeom prst="ellipse">
            <a:avLst/>
          </a:prstGeom>
          <a:solidFill>
            <a:schemeClr val="accent3">
              <a:alpha val="75000"/>
            </a:schemeClr>
          </a:solidFill>
          <a:ln w="6350">
            <a:solidFill>
              <a:schemeClr val="accent3">
                <a:alpha val="75000"/>
              </a:schemeClr>
            </a:solidFill>
            <a:prstDash val="solid"/>
          </a:ln>
        </p:spPr>
      </p:sp>
      <p:sp>
        <p:nvSpPr>
          <p:cNvPr id="127" name="2 · Weight particle 44"/>
          <p:cNvSpPr/>
          <p:nvPr/>
        </p:nvSpPr>
        <p:spPr>
          <a:xfrm>
            <a:off x="6552956" y="3743917"/>
            <a:ext cx="73280" cy="73280"/>
          </a:xfrm>
          <a:prstGeom prst="ellipse">
            <a:avLst/>
          </a:prstGeom>
          <a:solidFill>
            <a:schemeClr val="accent3">
              <a:alpha val="75000"/>
            </a:schemeClr>
          </a:solidFill>
          <a:ln w="6350">
            <a:solidFill>
              <a:schemeClr val="accent3">
                <a:alpha val="75000"/>
              </a:schemeClr>
            </a:solidFill>
            <a:prstDash val="solid"/>
          </a:ln>
        </p:spPr>
      </p:sp>
      <p:sp>
        <p:nvSpPr>
          <p:cNvPr id="128" name="2 · Weight particle 45"/>
          <p:cNvSpPr/>
          <p:nvPr/>
        </p:nvSpPr>
        <p:spPr>
          <a:xfrm>
            <a:off x="5671732" y="2900620"/>
            <a:ext cx="73648" cy="73648"/>
          </a:xfrm>
          <a:prstGeom prst="ellipse">
            <a:avLst/>
          </a:prstGeom>
          <a:solidFill>
            <a:schemeClr val="accent3">
              <a:alpha val="75000"/>
            </a:schemeClr>
          </a:solidFill>
          <a:ln w="6350">
            <a:solidFill>
              <a:schemeClr val="accent3">
                <a:alpha val="75000"/>
              </a:schemeClr>
            </a:solidFill>
            <a:prstDash val="solid"/>
          </a:ln>
        </p:spPr>
      </p:sp>
      <p:sp>
        <p:nvSpPr>
          <p:cNvPr id="129" name="2 · Weight particle 46"/>
          <p:cNvSpPr/>
          <p:nvPr/>
        </p:nvSpPr>
        <p:spPr>
          <a:xfrm>
            <a:off x="5981703" y="2950031"/>
            <a:ext cx="75393" cy="75393"/>
          </a:xfrm>
          <a:prstGeom prst="ellipse">
            <a:avLst/>
          </a:prstGeom>
          <a:solidFill>
            <a:schemeClr val="accent3">
              <a:alpha val="75000"/>
            </a:schemeClr>
          </a:solidFill>
          <a:ln w="6350">
            <a:solidFill>
              <a:schemeClr val="accent3">
                <a:alpha val="75000"/>
              </a:schemeClr>
            </a:solidFill>
            <a:prstDash val="solid"/>
          </a:ln>
        </p:spPr>
      </p:sp>
      <p:sp>
        <p:nvSpPr>
          <p:cNvPr id="130" name="2 · Weight particle 47"/>
          <p:cNvSpPr/>
          <p:nvPr/>
        </p:nvSpPr>
        <p:spPr>
          <a:xfrm>
            <a:off x="5738337" y="3547419"/>
            <a:ext cx="214623" cy="214623"/>
          </a:xfrm>
          <a:prstGeom prst="ellipse">
            <a:avLst/>
          </a:prstGeom>
          <a:solidFill>
            <a:schemeClr val="accent3">
              <a:alpha val="75000"/>
            </a:schemeClr>
          </a:solidFill>
          <a:ln w="6350">
            <a:solidFill>
              <a:schemeClr val="accent3">
                <a:alpha val="75000"/>
              </a:schemeClr>
            </a:solidFill>
            <a:prstDash val="solid"/>
          </a:ln>
        </p:spPr>
      </p:sp>
      <p:sp>
        <p:nvSpPr>
          <p:cNvPr id="131" name="2 · Weight particle 48"/>
          <p:cNvSpPr/>
          <p:nvPr/>
        </p:nvSpPr>
        <p:spPr>
          <a:xfrm>
            <a:off x="6262715" y="3954070"/>
            <a:ext cx="74282" cy="74282"/>
          </a:xfrm>
          <a:prstGeom prst="ellipse">
            <a:avLst/>
          </a:prstGeom>
          <a:solidFill>
            <a:schemeClr val="accent3">
              <a:alpha val="75000"/>
            </a:schemeClr>
          </a:solidFill>
          <a:ln w="6350">
            <a:solidFill>
              <a:schemeClr val="accent3">
                <a:alpha val="75000"/>
              </a:schemeClr>
            </a:solidFill>
            <a:prstDash val="solid"/>
          </a:ln>
        </p:spPr>
      </p:sp>
      <p:sp>
        <p:nvSpPr>
          <p:cNvPr id="132" name="2 · Weight particle 49"/>
          <p:cNvSpPr/>
          <p:nvPr/>
        </p:nvSpPr>
        <p:spPr>
          <a:xfrm>
            <a:off x="5627890" y="3787684"/>
            <a:ext cx="91453" cy="91453"/>
          </a:xfrm>
          <a:prstGeom prst="ellipse">
            <a:avLst/>
          </a:prstGeom>
          <a:solidFill>
            <a:schemeClr val="accent3">
              <a:alpha val="75000"/>
            </a:schemeClr>
          </a:solidFill>
          <a:ln w="6350">
            <a:solidFill>
              <a:schemeClr val="accent3">
                <a:alpha val="75000"/>
              </a:schemeClr>
            </a:solidFill>
            <a:prstDash val="solid"/>
          </a:ln>
        </p:spPr>
      </p:sp>
      <p:sp>
        <p:nvSpPr>
          <p:cNvPr id="133" name="2 · Weight particle 50"/>
          <p:cNvSpPr/>
          <p:nvPr/>
        </p:nvSpPr>
        <p:spPr>
          <a:xfrm>
            <a:off x="5644878" y="3605152"/>
            <a:ext cx="144794" cy="144794"/>
          </a:xfrm>
          <a:prstGeom prst="ellipse">
            <a:avLst/>
          </a:prstGeom>
          <a:solidFill>
            <a:schemeClr val="accent3">
              <a:alpha val="75000"/>
            </a:schemeClr>
          </a:solidFill>
          <a:ln w="6350">
            <a:solidFill>
              <a:schemeClr val="accent3">
                <a:alpha val="75000"/>
              </a:schemeClr>
            </a:solidFill>
            <a:prstDash val="solid"/>
          </a:ln>
        </p:spPr>
      </p:sp>
      <p:sp>
        <p:nvSpPr>
          <p:cNvPr id="134" name="2 · Weight particle 51"/>
          <p:cNvSpPr/>
          <p:nvPr/>
        </p:nvSpPr>
        <p:spPr>
          <a:xfrm>
            <a:off x="5592923" y="3866972"/>
            <a:ext cx="79302" cy="79302"/>
          </a:xfrm>
          <a:prstGeom prst="ellipse">
            <a:avLst/>
          </a:prstGeom>
          <a:solidFill>
            <a:schemeClr val="accent3">
              <a:alpha val="75000"/>
            </a:schemeClr>
          </a:solidFill>
          <a:ln w="6350">
            <a:solidFill>
              <a:schemeClr val="accent3">
                <a:alpha val="75000"/>
              </a:schemeClr>
            </a:solidFill>
            <a:prstDash val="solid"/>
          </a:ln>
        </p:spPr>
      </p:sp>
      <p:sp>
        <p:nvSpPr>
          <p:cNvPr id="135" name="2 · Weight particle 52"/>
          <p:cNvSpPr/>
          <p:nvPr/>
        </p:nvSpPr>
        <p:spPr>
          <a:xfrm>
            <a:off x="5608656" y="3357342"/>
            <a:ext cx="136710" cy="136710"/>
          </a:xfrm>
          <a:prstGeom prst="ellipse">
            <a:avLst/>
          </a:prstGeom>
          <a:solidFill>
            <a:schemeClr val="accent3">
              <a:alpha val="75000"/>
            </a:schemeClr>
          </a:solidFill>
          <a:ln w="6350">
            <a:solidFill>
              <a:schemeClr val="accent3">
                <a:alpha val="75000"/>
              </a:schemeClr>
            </a:solidFill>
            <a:prstDash val="solid"/>
          </a:ln>
        </p:spPr>
      </p:sp>
      <p:sp>
        <p:nvSpPr>
          <p:cNvPr id="136" name="2 · Weight particle 53"/>
          <p:cNvSpPr/>
          <p:nvPr/>
        </p:nvSpPr>
        <p:spPr>
          <a:xfrm>
            <a:off x="6317807" y="2961511"/>
            <a:ext cx="73363" cy="73363"/>
          </a:xfrm>
          <a:prstGeom prst="ellipse">
            <a:avLst/>
          </a:prstGeom>
          <a:solidFill>
            <a:schemeClr val="accent3">
              <a:alpha val="75000"/>
            </a:schemeClr>
          </a:solidFill>
          <a:ln w="6350">
            <a:solidFill>
              <a:schemeClr val="accent3">
                <a:alpha val="75000"/>
              </a:schemeClr>
            </a:solidFill>
            <a:prstDash val="solid"/>
          </a:ln>
        </p:spPr>
      </p:sp>
      <p:sp>
        <p:nvSpPr>
          <p:cNvPr id="137" name="2 · Weight particle 54"/>
          <p:cNvSpPr/>
          <p:nvPr/>
        </p:nvSpPr>
        <p:spPr>
          <a:xfrm>
            <a:off x="7106687" y="3436260"/>
            <a:ext cx="73152" cy="73152"/>
          </a:xfrm>
          <a:prstGeom prst="ellipse">
            <a:avLst/>
          </a:prstGeom>
          <a:solidFill>
            <a:schemeClr val="accent3">
              <a:alpha val="75000"/>
            </a:schemeClr>
          </a:solidFill>
          <a:ln w="6350">
            <a:solidFill>
              <a:schemeClr val="accent3">
                <a:alpha val="75000"/>
              </a:schemeClr>
            </a:solidFill>
            <a:prstDash val="solid"/>
          </a:ln>
        </p:spPr>
      </p:sp>
      <p:sp>
        <p:nvSpPr>
          <p:cNvPr id="138" name="2 · Weight particle 55"/>
          <p:cNvSpPr/>
          <p:nvPr/>
        </p:nvSpPr>
        <p:spPr>
          <a:xfrm>
            <a:off x="5943399" y="3294619"/>
            <a:ext cx="201528" cy="201528"/>
          </a:xfrm>
          <a:prstGeom prst="ellipse">
            <a:avLst/>
          </a:prstGeom>
          <a:solidFill>
            <a:schemeClr val="accent3">
              <a:alpha val="75000"/>
            </a:schemeClr>
          </a:solidFill>
          <a:ln w="6350">
            <a:solidFill>
              <a:schemeClr val="accent3">
                <a:alpha val="75000"/>
              </a:schemeClr>
            </a:solidFill>
            <a:prstDash val="solid"/>
          </a:ln>
        </p:spPr>
      </p:sp>
      <p:sp>
        <p:nvSpPr>
          <p:cNvPr id="139" name="2 · Weight particle 56"/>
          <p:cNvSpPr/>
          <p:nvPr/>
        </p:nvSpPr>
        <p:spPr>
          <a:xfrm>
            <a:off x="5754958" y="4273844"/>
            <a:ext cx="73168" cy="73168"/>
          </a:xfrm>
          <a:prstGeom prst="ellipse">
            <a:avLst/>
          </a:prstGeom>
          <a:solidFill>
            <a:schemeClr val="accent3">
              <a:alpha val="75000"/>
            </a:schemeClr>
          </a:solidFill>
          <a:ln w="6350">
            <a:solidFill>
              <a:schemeClr val="accent3">
                <a:alpha val="75000"/>
              </a:schemeClr>
            </a:solidFill>
            <a:prstDash val="solid"/>
          </a:ln>
        </p:spPr>
      </p:sp>
      <p:sp>
        <p:nvSpPr>
          <p:cNvPr id="140" name="2 · Weight particle 57"/>
          <p:cNvSpPr/>
          <p:nvPr/>
        </p:nvSpPr>
        <p:spPr>
          <a:xfrm>
            <a:off x="5161326" y="3401302"/>
            <a:ext cx="73205" cy="73205"/>
          </a:xfrm>
          <a:prstGeom prst="ellipse">
            <a:avLst/>
          </a:prstGeom>
          <a:solidFill>
            <a:schemeClr val="accent3">
              <a:alpha val="75000"/>
            </a:schemeClr>
          </a:solidFill>
          <a:ln w="6350">
            <a:solidFill>
              <a:schemeClr val="accent3">
                <a:alpha val="75000"/>
              </a:schemeClr>
            </a:solidFill>
            <a:prstDash val="solid"/>
          </a:ln>
        </p:spPr>
      </p:sp>
      <p:sp>
        <p:nvSpPr>
          <p:cNvPr id="141" name="2 · Weight particle 58"/>
          <p:cNvSpPr/>
          <p:nvPr/>
        </p:nvSpPr>
        <p:spPr>
          <a:xfrm>
            <a:off x="5960436" y="3108671"/>
            <a:ext cx="96371" cy="96371"/>
          </a:xfrm>
          <a:prstGeom prst="ellipse">
            <a:avLst/>
          </a:prstGeom>
          <a:solidFill>
            <a:schemeClr val="accent3">
              <a:alpha val="75000"/>
            </a:schemeClr>
          </a:solidFill>
          <a:ln w="6350">
            <a:solidFill>
              <a:schemeClr val="accent3">
                <a:alpha val="75000"/>
              </a:schemeClr>
            </a:solidFill>
            <a:prstDash val="solid"/>
          </a:ln>
        </p:spPr>
      </p:sp>
      <p:sp>
        <p:nvSpPr>
          <p:cNvPr id="142" name="2 · Weight particle 59"/>
          <p:cNvSpPr/>
          <p:nvPr/>
        </p:nvSpPr>
        <p:spPr>
          <a:xfrm>
            <a:off x="5356764" y="3003297"/>
            <a:ext cx="73222" cy="73222"/>
          </a:xfrm>
          <a:prstGeom prst="ellipse">
            <a:avLst/>
          </a:prstGeom>
          <a:solidFill>
            <a:schemeClr val="accent3">
              <a:alpha val="75000"/>
            </a:schemeClr>
          </a:solidFill>
          <a:ln w="6350">
            <a:solidFill>
              <a:schemeClr val="accent3">
                <a:alpha val="75000"/>
              </a:schemeClr>
            </a:solidFill>
            <a:prstDash val="solid"/>
          </a:ln>
        </p:spPr>
      </p:sp>
      <p:sp>
        <p:nvSpPr>
          <p:cNvPr id="143" name="2 · Weight particle 60"/>
          <p:cNvSpPr/>
          <p:nvPr/>
        </p:nvSpPr>
        <p:spPr>
          <a:xfrm>
            <a:off x="5571564" y="3869472"/>
            <a:ext cx="78054" cy="78054"/>
          </a:xfrm>
          <a:prstGeom prst="ellipse">
            <a:avLst/>
          </a:prstGeom>
          <a:solidFill>
            <a:schemeClr val="accent3">
              <a:alpha val="75000"/>
            </a:schemeClr>
          </a:solidFill>
          <a:ln w="6350">
            <a:solidFill>
              <a:schemeClr val="accent3">
                <a:alpha val="75000"/>
              </a:schemeClr>
            </a:solidFill>
            <a:prstDash val="solid"/>
          </a:ln>
        </p:spPr>
      </p:sp>
      <p:sp>
        <p:nvSpPr>
          <p:cNvPr id="144" name="2 · Weight particle 61"/>
          <p:cNvSpPr/>
          <p:nvPr/>
        </p:nvSpPr>
        <p:spPr>
          <a:xfrm>
            <a:off x="5828630" y="3045526"/>
            <a:ext cx="83292" cy="83292"/>
          </a:xfrm>
          <a:prstGeom prst="ellipse">
            <a:avLst/>
          </a:prstGeom>
          <a:solidFill>
            <a:schemeClr val="accent3">
              <a:alpha val="75000"/>
            </a:schemeClr>
          </a:solidFill>
          <a:ln w="6350">
            <a:solidFill>
              <a:schemeClr val="accent3">
                <a:alpha val="75000"/>
              </a:schemeClr>
            </a:solidFill>
            <a:prstDash val="solid"/>
          </a:ln>
        </p:spPr>
      </p:sp>
      <p:sp>
        <p:nvSpPr>
          <p:cNvPr id="145" name="2 · Weight particle 62"/>
          <p:cNvSpPr/>
          <p:nvPr/>
        </p:nvSpPr>
        <p:spPr>
          <a:xfrm>
            <a:off x="5464930" y="4316514"/>
            <a:ext cx="73152" cy="73152"/>
          </a:xfrm>
          <a:prstGeom prst="ellipse">
            <a:avLst/>
          </a:prstGeom>
          <a:solidFill>
            <a:schemeClr val="accent3">
              <a:alpha val="75000"/>
            </a:schemeClr>
          </a:solidFill>
          <a:ln w="6350">
            <a:solidFill>
              <a:schemeClr val="accent3">
                <a:alpha val="75000"/>
              </a:schemeClr>
            </a:solidFill>
            <a:prstDash val="solid"/>
          </a:ln>
        </p:spPr>
      </p:sp>
      <p:sp>
        <p:nvSpPr>
          <p:cNvPr id="146" name="2 · Weight particle 63"/>
          <p:cNvSpPr/>
          <p:nvPr/>
        </p:nvSpPr>
        <p:spPr>
          <a:xfrm>
            <a:off x="6818821" y="4146688"/>
            <a:ext cx="73152" cy="73152"/>
          </a:xfrm>
          <a:prstGeom prst="ellipse">
            <a:avLst/>
          </a:prstGeom>
          <a:solidFill>
            <a:schemeClr val="accent3">
              <a:alpha val="75000"/>
            </a:schemeClr>
          </a:solidFill>
          <a:ln w="6350">
            <a:solidFill>
              <a:schemeClr val="accent3">
                <a:alpha val="75000"/>
              </a:schemeClr>
            </a:solidFill>
            <a:prstDash val="solid"/>
          </a:ln>
        </p:spPr>
      </p:sp>
      <p:sp>
        <p:nvSpPr>
          <p:cNvPr id="147" name="2 · Weight particle 64"/>
          <p:cNvSpPr/>
          <p:nvPr/>
        </p:nvSpPr>
        <p:spPr>
          <a:xfrm>
            <a:off x="5244901" y="3878343"/>
            <a:ext cx="73189" cy="73189"/>
          </a:xfrm>
          <a:prstGeom prst="ellipse">
            <a:avLst/>
          </a:prstGeom>
          <a:solidFill>
            <a:schemeClr val="accent3">
              <a:alpha val="75000"/>
            </a:schemeClr>
          </a:solidFill>
          <a:ln w="6350">
            <a:solidFill>
              <a:schemeClr val="accent3">
                <a:alpha val="75000"/>
              </a:schemeClr>
            </a:solidFill>
            <a:prstDash val="solid"/>
          </a:ln>
        </p:spPr>
      </p:sp>
      <p:sp>
        <p:nvSpPr>
          <p:cNvPr id="148" name="2 · Weight particle 65"/>
          <p:cNvSpPr/>
          <p:nvPr/>
        </p:nvSpPr>
        <p:spPr>
          <a:xfrm>
            <a:off x="5069782" y="3286604"/>
            <a:ext cx="73156" cy="73156"/>
          </a:xfrm>
          <a:prstGeom prst="ellipse">
            <a:avLst/>
          </a:prstGeom>
          <a:solidFill>
            <a:schemeClr val="accent3">
              <a:alpha val="75000"/>
            </a:schemeClr>
          </a:solidFill>
          <a:ln w="6350">
            <a:solidFill>
              <a:schemeClr val="accent3">
                <a:alpha val="75000"/>
              </a:schemeClr>
            </a:solidFill>
            <a:prstDash val="solid"/>
          </a:ln>
        </p:spPr>
      </p:sp>
      <p:sp>
        <p:nvSpPr>
          <p:cNvPr id="149" name="2 · Weight particle 66"/>
          <p:cNvSpPr/>
          <p:nvPr/>
        </p:nvSpPr>
        <p:spPr>
          <a:xfrm>
            <a:off x="6338591" y="3487931"/>
            <a:ext cx="83453" cy="83453"/>
          </a:xfrm>
          <a:prstGeom prst="ellipse">
            <a:avLst/>
          </a:prstGeom>
          <a:solidFill>
            <a:schemeClr val="accent3">
              <a:alpha val="75000"/>
            </a:schemeClr>
          </a:solidFill>
          <a:ln w="6350">
            <a:solidFill>
              <a:schemeClr val="accent3">
                <a:alpha val="75000"/>
              </a:schemeClr>
            </a:solidFill>
            <a:prstDash val="solid"/>
          </a:ln>
        </p:spPr>
      </p:sp>
      <p:sp>
        <p:nvSpPr>
          <p:cNvPr id="150" name="2 · Weight particle 67"/>
          <p:cNvSpPr/>
          <p:nvPr/>
        </p:nvSpPr>
        <p:spPr>
          <a:xfrm>
            <a:off x="5974392" y="3590353"/>
            <a:ext cx="183011" cy="183011"/>
          </a:xfrm>
          <a:prstGeom prst="ellipse">
            <a:avLst/>
          </a:prstGeom>
          <a:solidFill>
            <a:schemeClr val="accent3">
              <a:alpha val="75000"/>
            </a:schemeClr>
          </a:solidFill>
          <a:ln w="6350">
            <a:solidFill>
              <a:schemeClr val="accent3">
                <a:alpha val="75000"/>
              </a:schemeClr>
            </a:solidFill>
            <a:prstDash val="solid"/>
          </a:ln>
        </p:spPr>
      </p:sp>
      <p:sp>
        <p:nvSpPr>
          <p:cNvPr id="151" name="2 · Weight particle 68"/>
          <p:cNvSpPr/>
          <p:nvPr/>
        </p:nvSpPr>
        <p:spPr>
          <a:xfrm>
            <a:off x="6150425" y="4258673"/>
            <a:ext cx="73164" cy="73164"/>
          </a:xfrm>
          <a:prstGeom prst="ellipse">
            <a:avLst/>
          </a:prstGeom>
          <a:solidFill>
            <a:schemeClr val="accent3">
              <a:alpha val="75000"/>
            </a:schemeClr>
          </a:solidFill>
          <a:ln w="6350">
            <a:solidFill>
              <a:schemeClr val="accent3">
                <a:alpha val="75000"/>
              </a:schemeClr>
            </a:solidFill>
            <a:prstDash val="solid"/>
          </a:ln>
        </p:spPr>
      </p:sp>
      <p:sp>
        <p:nvSpPr>
          <p:cNvPr id="152" name="2 · Weight particle 69"/>
          <p:cNvSpPr/>
          <p:nvPr/>
        </p:nvSpPr>
        <p:spPr>
          <a:xfrm>
            <a:off x="5748076" y="3258985"/>
            <a:ext cx="181209" cy="181209"/>
          </a:xfrm>
          <a:prstGeom prst="ellipse">
            <a:avLst/>
          </a:prstGeom>
          <a:solidFill>
            <a:schemeClr val="accent3">
              <a:alpha val="75000"/>
            </a:schemeClr>
          </a:solidFill>
          <a:ln w="6350">
            <a:solidFill>
              <a:schemeClr val="accent3">
                <a:alpha val="75000"/>
              </a:schemeClr>
            </a:solidFill>
            <a:prstDash val="solid"/>
          </a:ln>
        </p:spPr>
      </p:sp>
      <p:sp>
        <p:nvSpPr>
          <p:cNvPr id="153" name="2 · Weight text"/>
          <p:cNvSpPr txBox="1"/>
          <p:nvPr/>
        </p:nvSpPr>
        <p:spPr>
          <a:xfrm>
            <a:off x="4311396" y="4937760"/>
            <a:ext cx="3566160" cy="1097280"/>
          </a:xfrm>
          <a:prstGeom prst="rect">
            <a:avLst/>
          </a:prstGeom>
          <a:noFill/>
          <a:ln/>
        </p:spPr>
        <p:txBody>
          <a:bodyPr wrap="square" lIns="0" tIns="0" rIns="0" bIns="0" rtlCol="0" anchor="t"/>
          <a:lstStyle/>
          <a:p>
            <a:pPr algn="l" indent="0" marL="0">
              <a:buNone/>
            </a:pPr>
            <a:r>
              <a:rPr lang="en-US" sz="1500" dirty="0">
                <a:solidFill>
                  <a:schemeClr val="tx1"/>
                </a:solidFill>
              </a:rPr>
              <a:t>Compare the real scan with what each particle would see. Good match → heavy particle.</a:t>
            </a:r>
            <a:endParaRPr lang="en-US" sz="1500" dirty="0"/>
          </a:p>
        </p:txBody>
      </p:sp>
      <p:sp>
        <p:nvSpPr>
          <p:cNvPr id="154" name="3 · Resample panel"/>
          <p:cNvSpPr/>
          <p:nvPr/>
        </p:nvSpPr>
        <p:spPr>
          <a:xfrm>
            <a:off x="8074152" y="1417320"/>
            <a:ext cx="3566160" cy="3337560"/>
          </a:xfrm>
          <a:prstGeom prst="roundRect">
            <a:avLst>
              <a:gd name="adj" fmla="val 2740"/>
            </a:avLst>
          </a:prstGeom>
          <a:solidFill>
            <a:schemeClr val="bg2"/>
          </a:solidFill>
          <a:ln w="6350">
            <a:solidFill>
              <a:schemeClr val="bg2"/>
            </a:solidFill>
            <a:prstDash val="solid"/>
          </a:ln>
        </p:spPr>
      </p:sp>
      <p:sp>
        <p:nvSpPr>
          <p:cNvPr id="155" name="3 · Resample title"/>
          <p:cNvSpPr txBox="1"/>
          <p:nvPr/>
        </p:nvSpPr>
        <p:spPr>
          <a:xfrm>
            <a:off x="8257032" y="1508760"/>
            <a:ext cx="3200400" cy="411480"/>
          </a:xfrm>
          <a:prstGeom prst="rect">
            <a:avLst/>
          </a:prstGeom>
          <a:noFill/>
          <a:ln/>
        </p:spPr>
        <p:txBody>
          <a:bodyPr wrap="square" lIns="0" tIns="0" rIns="0" bIns="0" rtlCol="0" anchor="ctr"/>
          <a:lstStyle/>
          <a:p>
            <a:pPr algn="l" indent="0" marL="0">
              <a:buNone/>
            </a:pPr>
            <a:r>
              <a:rPr lang="en-US" sz="1700" b="1" dirty="0">
                <a:solidFill>
                  <a:schemeClr val="tx1"/>
                </a:solidFill>
              </a:rPr>
              <a:t>3 · Resample</a:t>
            </a:r>
            <a:endParaRPr lang="en-US" sz="1700" dirty="0"/>
          </a:p>
        </p:txBody>
      </p:sp>
      <p:sp>
        <p:nvSpPr>
          <p:cNvPr id="156" name="3 · Resample map"/>
          <p:cNvSpPr/>
          <p:nvPr/>
        </p:nvSpPr>
        <p:spPr>
          <a:xfrm>
            <a:off x="8257032" y="1965960"/>
            <a:ext cx="3200400" cy="2606040"/>
          </a:xfrm>
          <a:prstGeom prst="rect">
            <a:avLst/>
          </a:prstGeom>
          <a:solidFill>
            <a:schemeClr val="bg1"/>
          </a:solidFill>
          <a:ln w="38100">
            <a:solidFill>
              <a:schemeClr val="tx1"/>
            </a:solidFill>
            <a:prstDash val="solid"/>
          </a:ln>
        </p:spPr>
      </p:sp>
      <p:sp>
        <p:nvSpPr>
          <p:cNvPr id="157" name="3 · Resample table"/>
          <p:cNvSpPr/>
          <p:nvPr/>
        </p:nvSpPr>
        <p:spPr>
          <a:xfrm>
            <a:off x="10451592" y="2286000"/>
            <a:ext cx="640080" cy="457200"/>
          </a:xfrm>
          <a:prstGeom prst="rect">
            <a:avLst/>
          </a:prstGeom>
          <a:solidFill>
            <a:schemeClr val="tx2"/>
          </a:solidFill>
          <a:ln w="12700">
            <a:solidFill>
              <a:schemeClr val="tx2"/>
            </a:solidFill>
            <a:prstDash val="solid"/>
          </a:ln>
        </p:spPr>
      </p:sp>
      <p:sp>
        <p:nvSpPr>
          <p:cNvPr id="158" name="3 · Resample particle 0"/>
          <p:cNvSpPr/>
          <p:nvPr/>
        </p:nvSpPr>
        <p:spPr>
          <a:xfrm>
            <a:off x="9725892" y="3279954"/>
            <a:ext cx="137160" cy="137160"/>
          </a:xfrm>
          <a:prstGeom prst="ellipse">
            <a:avLst/>
          </a:prstGeom>
          <a:solidFill>
            <a:schemeClr val="accent3">
              <a:alpha val="75000"/>
            </a:schemeClr>
          </a:solidFill>
          <a:ln w="6350">
            <a:solidFill>
              <a:schemeClr val="accent3">
                <a:alpha val="75000"/>
              </a:schemeClr>
            </a:solidFill>
            <a:prstDash val="solid"/>
          </a:ln>
        </p:spPr>
      </p:sp>
      <p:sp>
        <p:nvSpPr>
          <p:cNvPr id="159" name="3 · Resample particle 1"/>
          <p:cNvSpPr/>
          <p:nvPr/>
        </p:nvSpPr>
        <p:spPr>
          <a:xfrm>
            <a:off x="9599964" y="3412586"/>
            <a:ext cx="137160" cy="137160"/>
          </a:xfrm>
          <a:prstGeom prst="ellipse">
            <a:avLst/>
          </a:prstGeom>
          <a:solidFill>
            <a:schemeClr val="accent3">
              <a:alpha val="75000"/>
            </a:schemeClr>
          </a:solidFill>
          <a:ln w="6350">
            <a:solidFill>
              <a:schemeClr val="accent3">
                <a:alpha val="75000"/>
              </a:schemeClr>
            </a:solidFill>
            <a:prstDash val="solid"/>
          </a:ln>
        </p:spPr>
      </p:sp>
      <p:sp>
        <p:nvSpPr>
          <p:cNvPr id="160" name="3 · Resample particle 2"/>
          <p:cNvSpPr/>
          <p:nvPr/>
        </p:nvSpPr>
        <p:spPr>
          <a:xfrm>
            <a:off x="9781562" y="3458375"/>
            <a:ext cx="137160" cy="137160"/>
          </a:xfrm>
          <a:prstGeom prst="ellipse">
            <a:avLst/>
          </a:prstGeom>
          <a:solidFill>
            <a:schemeClr val="accent3">
              <a:alpha val="75000"/>
            </a:schemeClr>
          </a:solidFill>
          <a:ln w="6350">
            <a:solidFill>
              <a:schemeClr val="accent3">
                <a:alpha val="75000"/>
              </a:schemeClr>
            </a:solidFill>
            <a:prstDash val="solid"/>
          </a:ln>
        </p:spPr>
      </p:sp>
      <p:sp>
        <p:nvSpPr>
          <p:cNvPr id="161" name="3 · Resample particle 3"/>
          <p:cNvSpPr/>
          <p:nvPr/>
        </p:nvSpPr>
        <p:spPr>
          <a:xfrm>
            <a:off x="9695458" y="3449051"/>
            <a:ext cx="137160" cy="137160"/>
          </a:xfrm>
          <a:prstGeom prst="ellipse">
            <a:avLst/>
          </a:prstGeom>
          <a:solidFill>
            <a:schemeClr val="accent3">
              <a:alpha val="75000"/>
            </a:schemeClr>
          </a:solidFill>
          <a:ln w="6350">
            <a:solidFill>
              <a:schemeClr val="accent3">
                <a:alpha val="75000"/>
              </a:schemeClr>
            </a:solidFill>
            <a:prstDash val="solid"/>
          </a:ln>
        </p:spPr>
      </p:sp>
      <p:sp>
        <p:nvSpPr>
          <p:cNvPr id="162" name="3 · Resample particle 4"/>
          <p:cNvSpPr/>
          <p:nvPr/>
        </p:nvSpPr>
        <p:spPr>
          <a:xfrm>
            <a:off x="9664358" y="3335482"/>
            <a:ext cx="137160" cy="137160"/>
          </a:xfrm>
          <a:prstGeom prst="ellipse">
            <a:avLst/>
          </a:prstGeom>
          <a:solidFill>
            <a:schemeClr val="accent3">
              <a:alpha val="75000"/>
            </a:schemeClr>
          </a:solidFill>
          <a:ln w="6350">
            <a:solidFill>
              <a:schemeClr val="accent3">
                <a:alpha val="75000"/>
              </a:schemeClr>
            </a:solidFill>
            <a:prstDash val="solid"/>
          </a:ln>
        </p:spPr>
      </p:sp>
      <p:sp>
        <p:nvSpPr>
          <p:cNvPr id="163" name="3 · Resample particle 5"/>
          <p:cNvSpPr/>
          <p:nvPr/>
        </p:nvSpPr>
        <p:spPr>
          <a:xfrm>
            <a:off x="9562669" y="3393838"/>
            <a:ext cx="137160" cy="137160"/>
          </a:xfrm>
          <a:prstGeom prst="ellipse">
            <a:avLst/>
          </a:prstGeom>
          <a:solidFill>
            <a:schemeClr val="accent3">
              <a:alpha val="75000"/>
            </a:schemeClr>
          </a:solidFill>
          <a:ln w="6350">
            <a:solidFill>
              <a:schemeClr val="accent3">
                <a:alpha val="75000"/>
              </a:schemeClr>
            </a:solidFill>
            <a:prstDash val="solid"/>
          </a:ln>
        </p:spPr>
      </p:sp>
      <p:sp>
        <p:nvSpPr>
          <p:cNvPr id="164" name="3 · Resample particle 6"/>
          <p:cNvSpPr/>
          <p:nvPr/>
        </p:nvSpPr>
        <p:spPr>
          <a:xfrm>
            <a:off x="9727067" y="3462524"/>
            <a:ext cx="137160" cy="137160"/>
          </a:xfrm>
          <a:prstGeom prst="ellipse">
            <a:avLst/>
          </a:prstGeom>
          <a:solidFill>
            <a:schemeClr val="accent3">
              <a:alpha val="75000"/>
            </a:schemeClr>
          </a:solidFill>
          <a:ln w="6350">
            <a:solidFill>
              <a:schemeClr val="accent3">
                <a:alpha val="75000"/>
              </a:schemeClr>
            </a:solidFill>
            <a:prstDash val="solid"/>
          </a:ln>
        </p:spPr>
      </p:sp>
      <p:sp>
        <p:nvSpPr>
          <p:cNvPr id="165" name="3 · Resample particle 7"/>
          <p:cNvSpPr/>
          <p:nvPr/>
        </p:nvSpPr>
        <p:spPr>
          <a:xfrm>
            <a:off x="9533665" y="3509790"/>
            <a:ext cx="137160" cy="137160"/>
          </a:xfrm>
          <a:prstGeom prst="ellipse">
            <a:avLst/>
          </a:prstGeom>
          <a:solidFill>
            <a:schemeClr val="accent3">
              <a:alpha val="75000"/>
            </a:schemeClr>
          </a:solidFill>
          <a:ln w="6350">
            <a:solidFill>
              <a:schemeClr val="accent3">
                <a:alpha val="75000"/>
              </a:schemeClr>
            </a:solidFill>
            <a:prstDash val="solid"/>
          </a:ln>
        </p:spPr>
      </p:sp>
      <p:sp>
        <p:nvSpPr>
          <p:cNvPr id="166" name="3 · Resample particle 8"/>
          <p:cNvSpPr/>
          <p:nvPr/>
        </p:nvSpPr>
        <p:spPr>
          <a:xfrm>
            <a:off x="9719369" y="3551877"/>
            <a:ext cx="137160" cy="137160"/>
          </a:xfrm>
          <a:prstGeom prst="ellipse">
            <a:avLst/>
          </a:prstGeom>
          <a:solidFill>
            <a:schemeClr val="accent3">
              <a:alpha val="75000"/>
            </a:schemeClr>
          </a:solidFill>
          <a:ln w="6350">
            <a:solidFill>
              <a:schemeClr val="accent3">
                <a:alpha val="75000"/>
              </a:schemeClr>
            </a:solidFill>
            <a:prstDash val="solid"/>
          </a:ln>
        </p:spPr>
      </p:sp>
      <p:sp>
        <p:nvSpPr>
          <p:cNvPr id="167" name="3 · Resample particle 9"/>
          <p:cNvSpPr/>
          <p:nvPr/>
        </p:nvSpPr>
        <p:spPr>
          <a:xfrm>
            <a:off x="9563722" y="3508884"/>
            <a:ext cx="137160" cy="137160"/>
          </a:xfrm>
          <a:prstGeom prst="ellipse">
            <a:avLst/>
          </a:prstGeom>
          <a:solidFill>
            <a:schemeClr val="accent3">
              <a:alpha val="75000"/>
            </a:schemeClr>
          </a:solidFill>
          <a:ln w="6350">
            <a:solidFill>
              <a:schemeClr val="accent3">
                <a:alpha val="75000"/>
              </a:schemeClr>
            </a:solidFill>
            <a:prstDash val="solid"/>
          </a:ln>
        </p:spPr>
      </p:sp>
      <p:sp>
        <p:nvSpPr>
          <p:cNvPr id="168" name="3 · Resample particle 10"/>
          <p:cNvSpPr/>
          <p:nvPr/>
        </p:nvSpPr>
        <p:spPr>
          <a:xfrm>
            <a:off x="9689120" y="3502242"/>
            <a:ext cx="137160" cy="137160"/>
          </a:xfrm>
          <a:prstGeom prst="ellipse">
            <a:avLst/>
          </a:prstGeom>
          <a:solidFill>
            <a:schemeClr val="accent3">
              <a:alpha val="75000"/>
            </a:schemeClr>
          </a:solidFill>
          <a:ln w="6350">
            <a:solidFill>
              <a:schemeClr val="accent3">
                <a:alpha val="75000"/>
              </a:schemeClr>
            </a:solidFill>
            <a:prstDash val="solid"/>
          </a:ln>
        </p:spPr>
      </p:sp>
      <p:sp>
        <p:nvSpPr>
          <p:cNvPr id="169" name="3 · Resample particle 11"/>
          <p:cNvSpPr/>
          <p:nvPr/>
        </p:nvSpPr>
        <p:spPr>
          <a:xfrm>
            <a:off x="9768943" y="3445658"/>
            <a:ext cx="137160" cy="137160"/>
          </a:xfrm>
          <a:prstGeom prst="ellipse">
            <a:avLst/>
          </a:prstGeom>
          <a:solidFill>
            <a:schemeClr val="accent3">
              <a:alpha val="75000"/>
            </a:schemeClr>
          </a:solidFill>
          <a:ln w="6350">
            <a:solidFill>
              <a:schemeClr val="accent3">
                <a:alpha val="75000"/>
              </a:schemeClr>
            </a:solidFill>
            <a:prstDash val="solid"/>
          </a:ln>
        </p:spPr>
      </p:sp>
      <p:sp>
        <p:nvSpPr>
          <p:cNvPr id="170" name="3 · Resample particle 12"/>
          <p:cNvSpPr/>
          <p:nvPr/>
        </p:nvSpPr>
        <p:spPr>
          <a:xfrm>
            <a:off x="9640296" y="3446953"/>
            <a:ext cx="137160" cy="137160"/>
          </a:xfrm>
          <a:prstGeom prst="ellipse">
            <a:avLst/>
          </a:prstGeom>
          <a:solidFill>
            <a:schemeClr val="accent3">
              <a:alpha val="75000"/>
            </a:schemeClr>
          </a:solidFill>
          <a:ln w="6350">
            <a:solidFill>
              <a:schemeClr val="accent3">
                <a:alpha val="75000"/>
              </a:schemeClr>
            </a:solidFill>
            <a:prstDash val="solid"/>
          </a:ln>
        </p:spPr>
      </p:sp>
      <p:sp>
        <p:nvSpPr>
          <p:cNvPr id="171" name="3 · Resample particle 13"/>
          <p:cNvSpPr/>
          <p:nvPr/>
        </p:nvSpPr>
        <p:spPr>
          <a:xfrm>
            <a:off x="9724421" y="3425201"/>
            <a:ext cx="137160" cy="137160"/>
          </a:xfrm>
          <a:prstGeom prst="ellipse">
            <a:avLst/>
          </a:prstGeom>
          <a:solidFill>
            <a:schemeClr val="accent3">
              <a:alpha val="75000"/>
            </a:schemeClr>
          </a:solidFill>
          <a:ln w="6350">
            <a:solidFill>
              <a:schemeClr val="accent3">
                <a:alpha val="75000"/>
              </a:schemeClr>
            </a:solidFill>
            <a:prstDash val="solid"/>
          </a:ln>
        </p:spPr>
      </p:sp>
      <p:sp>
        <p:nvSpPr>
          <p:cNvPr id="172" name="3 · Resample particle 14"/>
          <p:cNvSpPr/>
          <p:nvPr/>
        </p:nvSpPr>
        <p:spPr>
          <a:xfrm>
            <a:off x="9729347" y="3536906"/>
            <a:ext cx="137160" cy="137160"/>
          </a:xfrm>
          <a:prstGeom prst="ellipse">
            <a:avLst/>
          </a:prstGeom>
          <a:solidFill>
            <a:schemeClr val="accent3">
              <a:alpha val="75000"/>
            </a:schemeClr>
          </a:solidFill>
          <a:ln w="6350">
            <a:solidFill>
              <a:schemeClr val="accent3">
                <a:alpha val="75000"/>
              </a:schemeClr>
            </a:solidFill>
            <a:prstDash val="solid"/>
          </a:ln>
        </p:spPr>
      </p:sp>
      <p:sp>
        <p:nvSpPr>
          <p:cNvPr id="173" name="3 · Resample particle 15"/>
          <p:cNvSpPr/>
          <p:nvPr/>
        </p:nvSpPr>
        <p:spPr>
          <a:xfrm>
            <a:off x="9557348" y="3382584"/>
            <a:ext cx="137160" cy="137160"/>
          </a:xfrm>
          <a:prstGeom prst="ellipse">
            <a:avLst/>
          </a:prstGeom>
          <a:solidFill>
            <a:schemeClr val="accent3">
              <a:alpha val="75000"/>
            </a:schemeClr>
          </a:solidFill>
          <a:ln w="6350">
            <a:solidFill>
              <a:schemeClr val="accent3">
                <a:alpha val="75000"/>
              </a:schemeClr>
            </a:solidFill>
            <a:prstDash val="solid"/>
          </a:ln>
        </p:spPr>
      </p:sp>
      <p:sp>
        <p:nvSpPr>
          <p:cNvPr id="174" name="3 · Resample particle 16"/>
          <p:cNvSpPr/>
          <p:nvPr/>
        </p:nvSpPr>
        <p:spPr>
          <a:xfrm>
            <a:off x="9554557" y="3563067"/>
            <a:ext cx="137160" cy="137160"/>
          </a:xfrm>
          <a:prstGeom prst="ellipse">
            <a:avLst/>
          </a:prstGeom>
          <a:solidFill>
            <a:schemeClr val="accent3">
              <a:alpha val="75000"/>
            </a:schemeClr>
          </a:solidFill>
          <a:ln w="6350">
            <a:solidFill>
              <a:schemeClr val="accent3">
                <a:alpha val="75000"/>
              </a:schemeClr>
            </a:solidFill>
            <a:prstDash val="solid"/>
          </a:ln>
        </p:spPr>
      </p:sp>
      <p:sp>
        <p:nvSpPr>
          <p:cNvPr id="175" name="3 · Resample particle 17"/>
          <p:cNvSpPr/>
          <p:nvPr/>
        </p:nvSpPr>
        <p:spPr>
          <a:xfrm>
            <a:off x="9771459" y="3515346"/>
            <a:ext cx="137160" cy="137160"/>
          </a:xfrm>
          <a:prstGeom prst="ellipse">
            <a:avLst/>
          </a:prstGeom>
          <a:solidFill>
            <a:schemeClr val="accent3">
              <a:alpha val="75000"/>
            </a:schemeClr>
          </a:solidFill>
          <a:ln w="6350">
            <a:solidFill>
              <a:schemeClr val="accent3">
                <a:alpha val="75000"/>
              </a:schemeClr>
            </a:solidFill>
            <a:prstDash val="solid"/>
          </a:ln>
        </p:spPr>
      </p:sp>
      <p:sp>
        <p:nvSpPr>
          <p:cNvPr id="176" name="3 · Resample particle 18"/>
          <p:cNvSpPr/>
          <p:nvPr/>
        </p:nvSpPr>
        <p:spPr>
          <a:xfrm>
            <a:off x="9606514" y="3639972"/>
            <a:ext cx="137160" cy="137160"/>
          </a:xfrm>
          <a:prstGeom prst="ellipse">
            <a:avLst/>
          </a:prstGeom>
          <a:solidFill>
            <a:schemeClr val="accent3">
              <a:alpha val="75000"/>
            </a:schemeClr>
          </a:solidFill>
          <a:ln w="6350">
            <a:solidFill>
              <a:schemeClr val="accent3">
                <a:alpha val="75000"/>
              </a:schemeClr>
            </a:solidFill>
            <a:prstDash val="solid"/>
          </a:ln>
        </p:spPr>
      </p:sp>
      <p:sp>
        <p:nvSpPr>
          <p:cNvPr id="177" name="3 · Resample particle 19"/>
          <p:cNvSpPr/>
          <p:nvPr/>
        </p:nvSpPr>
        <p:spPr>
          <a:xfrm>
            <a:off x="9582944" y="3543369"/>
            <a:ext cx="137160" cy="137160"/>
          </a:xfrm>
          <a:prstGeom prst="ellipse">
            <a:avLst/>
          </a:prstGeom>
          <a:solidFill>
            <a:schemeClr val="accent3">
              <a:alpha val="75000"/>
            </a:schemeClr>
          </a:solidFill>
          <a:ln w="6350">
            <a:solidFill>
              <a:schemeClr val="accent3">
                <a:alpha val="75000"/>
              </a:schemeClr>
            </a:solidFill>
            <a:prstDash val="solid"/>
          </a:ln>
        </p:spPr>
      </p:sp>
      <p:sp>
        <p:nvSpPr>
          <p:cNvPr id="178" name="3 · Resample particle 20"/>
          <p:cNvSpPr/>
          <p:nvPr/>
        </p:nvSpPr>
        <p:spPr>
          <a:xfrm>
            <a:off x="9703031" y="3438456"/>
            <a:ext cx="137160" cy="137160"/>
          </a:xfrm>
          <a:prstGeom prst="ellipse">
            <a:avLst/>
          </a:prstGeom>
          <a:solidFill>
            <a:schemeClr val="accent3">
              <a:alpha val="75000"/>
            </a:schemeClr>
          </a:solidFill>
          <a:ln w="6350">
            <a:solidFill>
              <a:schemeClr val="accent3">
                <a:alpha val="75000"/>
              </a:schemeClr>
            </a:solidFill>
            <a:prstDash val="solid"/>
          </a:ln>
        </p:spPr>
      </p:sp>
      <p:sp>
        <p:nvSpPr>
          <p:cNvPr id="179" name="3 · Resample particle 21"/>
          <p:cNvSpPr/>
          <p:nvPr/>
        </p:nvSpPr>
        <p:spPr>
          <a:xfrm>
            <a:off x="9491762" y="3323006"/>
            <a:ext cx="137160" cy="137160"/>
          </a:xfrm>
          <a:prstGeom prst="ellipse">
            <a:avLst/>
          </a:prstGeom>
          <a:solidFill>
            <a:schemeClr val="accent3">
              <a:alpha val="75000"/>
            </a:schemeClr>
          </a:solidFill>
          <a:ln w="6350">
            <a:solidFill>
              <a:schemeClr val="accent3">
                <a:alpha val="75000"/>
              </a:schemeClr>
            </a:solidFill>
            <a:prstDash val="solid"/>
          </a:ln>
        </p:spPr>
      </p:sp>
      <p:sp>
        <p:nvSpPr>
          <p:cNvPr id="180" name="3 · Resample particle 22"/>
          <p:cNvSpPr/>
          <p:nvPr/>
        </p:nvSpPr>
        <p:spPr>
          <a:xfrm>
            <a:off x="9619335" y="3394839"/>
            <a:ext cx="137160" cy="137160"/>
          </a:xfrm>
          <a:prstGeom prst="ellipse">
            <a:avLst/>
          </a:prstGeom>
          <a:solidFill>
            <a:schemeClr val="accent3">
              <a:alpha val="75000"/>
            </a:schemeClr>
          </a:solidFill>
          <a:ln w="6350">
            <a:solidFill>
              <a:schemeClr val="accent3">
                <a:alpha val="75000"/>
              </a:schemeClr>
            </a:solidFill>
            <a:prstDash val="solid"/>
          </a:ln>
        </p:spPr>
      </p:sp>
      <p:sp>
        <p:nvSpPr>
          <p:cNvPr id="181" name="3 · Resample particle 23"/>
          <p:cNvSpPr/>
          <p:nvPr/>
        </p:nvSpPr>
        <p:spPr>
          <a:xfrm>
            <a:off x="9536881" y="3495536"/>
            <a:ext cx="137160" cy="137160"/>
          </a:xfrm>
          <a:prstGeom prst="ellipse">
            <a:avLst/>
          </a:prstGeom>
          <a:solidFill>
            <a:schemeClr val="accent3">
              <a:alpha val="75000"/>
            </a:schemeClr>
          </a:solidFill>
          <a:ln w="6350">
            <a:solidFill>
              <a:schemeClr val="accent3">
                <a:alpha val="75000"/>
              </a:schemeClr>
            </a:solidFill>
            <a:prstDash val="solid"/>
          </a:ln>
        </p:spPr>
      </p:sp>
      <p:sp>
        <p:nvSpPr>
          <p:cNvPr id="182" name="3 · Resample particle 24"/>
          <p:cNvSpPr/>
          <p:nvPr/>
        </p:nvSpPr>
        <p:spPr>
          <a:xfrm>
            <a:off x="9697450" y="3620111"/>
            <a:ext cx="137160" cy="137160"/>
          </a:xfrm>
          <a:prstGeom prst="ellipse">
            <a:avLst/>
          </a:prstGeom>
          <a:solidFill>
            <a:schemeClr val="accent3">
              <a:alpha val="75000"/>
            </a:schemeClr>
          </a:solidFill>
          <a:ln w="6350">
            <a:solidFill>
              <a:schemeClr val="accent3">
                <a:alpha val="75000"/>
              </a:schemeClr>
            </a:solidFill>
            <a:prstDash val="solid"/>
          </a:ln>
        </p:spPr>
      </p:sp>
      <p:sp>
        <p:nvSpPr>
          <p:cNvPr id="183" name="3 · Resample particle 25"/>
          <p:cNvSpPr/>
          <p:nvPr/>
        </p:nvSpPr>
        <p:spPr>
          <a:xfrm>
            <a:off x="9500087" y="3478488"/>
            <a:ext cx="137160" cy="137160"/>
          </a:xfrm>
          <a:prstGeom prst="ellipse">
            <a:avLst/>
          </a:prstGeom>
          <a:solidFill>
            <a:schemeClr val="accent3">
              <a:alpha val="75000"/>
            </a:schemeClr>
          </a:solidFill>
          <a:ln w="6350">
            <a:solidFill>
              <a:schemeClr val="accent3">
                <a:alpha val="75000"/>
              </a:schemeClr>
            </a:solidFill>
            <a:prstDash val="solid"/>
          </a:ln>
        </p:spPr>
      </p:sp>
      <p:sp>
        <p:nvSpPr>
          <p:cNvPr id="184" name="3 · Resample particle 26"/>
          <p:cNvSpPr/>
          <p:nvPr/>
        </p:nvSpPr>
        <p:spPr>
          <a:xfrm>
            <a:off x="9617540" y="3434550"/>
            <a:ext cx="137160" cy="137160"/>
          </a:xfrm>
          <a:prstGeom prst="ellipse">
            <a:avLst/>
          </a:prstGeom>
          <a:solidFill>
            <a:schemeClr val="accent3">
              <a:alpha val="75000"/>
            </a:schemeClr>
          </a:solidFill>
          <a:ln w="6350">
            <a:solidFill>
              <a:schemeClr val="accent3">
                <a:alpha val="75000"/>
              </a:schemeClr>
            </a:solidFill>
            <a:prstDash val="solid"/>
          </a:ln>
        </p:spPr>
      </p:sp>
      <p:sp>
        <p:nvSpPr>
          <p:cNvPr id="185" name="3 · Resample particle 27"/>
          <p:cNvSpPr/>
          <p:nvPr/>
        </p:nvSpPr>
        <p:spPr>
          <a:xfrm>
            <a:off x="9711916" y="3480438"/>
            <a:ext cx="137160" cy="137160"/>
          </a:xfrm>
          <a:prstGeom prst="ellipse">
            <a:avLst/>
          </a:prstGeom>
          <a:solidFill>
            <a:schemeClr val="accent3">
              <a:alpha val="75000"/>
            </a:schemeClr>
          </a:solidFill>
          <a:ln w="6350">
            <a:solidFill>
              <a:schemeClr val="accent3">
                <a:alpha val="75000"/>
              </a:schemeClr>
            </a:solidFill>
            <a:prstDash val="solid"/>
          </a:ln>
        </p:spPr>
      </p:sp>
      <p:sp>
        <p:nvSpPr>
          <p:cNvPr id="186" name="3 · Resample particle 28"/>
          <p:cNvSpPr/>
          <p:nvPr/>
        </p:nvSpPr>
        <p:spPr>
          <a:xfrm>
            <a:off x="9664754" y="3403844"/>
            <a:ext cx="137160" cy="137160"/>
          </a:xfrm>
          <a:prstGeom prst="ellipse">
            <a:avLst/>
          </a:prstGeom>
          <a:solidFill>
            <a:schemeClr val="accent3">
              <a:alpha val="75000"/>
            </a:schemeClr>
          </a:solidFill>
          <a:ln w="6350">
            <a:solidFill>
              <a:schemeClr val="accent3">
                <a:alpha val="75000"/>
              </a:schemeClr>
            </a:solidFill>
            <a:prstDash val="solid"/>
          </a:ln>
        </p:spPr>
      </p:sp>
      <p:sp>
        <p:nvSpPr>
          <p:cNvPr id="187" name="3 · Resample particle 29"/>
          <p:cNvSpPr/>
          <p:nvPr/>
        </p:nvSpPr>
        <p:spPr>
          <a:xfrm>
            <a:off x="9786685" y="3407254"/>
            <a:ext cx="137160" cy="137160"/>
          </a:xfrm>
          <a:prstGeom prst="ellipse">
            <a:avLst/>
          </a:prstGeom>
          <a:solidFill>
            <a:schemeClr val="accent3">
              <a:alpha val="75000"/>
            </a:schemeClr>
          </a:solidFill>
          <a:ln w="6350">
            <a:solidFill>
              <a:schemeClr val="accent3">
                <a:alpha val="75000"/>
              </a:schemeClr>
            </a:solidFill>
            <a:prstDash val="solid"/>
          </a:ln>
        </p:spPr>
      </p:sp>
      <p:sp>
        <p:nvSpPr>
          <p:cNvPr id="188" name="3 · Resample particle 30"/>
          <p:cNvSpPr/>
          <p:nvPr/>
        </p:nvSpPr>
        <p:spPr>
          <a:xfrm>
            <a:off x="9641236" y="3554316"/>
            <a:ext cx="137160" cy="137160"/>
          </a:xfrm>
          <a:prstGeom prst="ellipse">
            <a:avLst/>
          </a:prstGeom>
          <a:solidFill>
            <a:schemeClr val="accent3">
              <a:alpha val="75000"/>
            </a:schemeClr>
          </a:solidFill>
          <a:ln w="6350">
            <a:solidFill>
              <a:schemeClr val="accent3">
                <a:alpha val="75000"/>
              </a:schemeClr>
            </a:solidFill>
            <a:prstDash val="solid"/>
          </a:ln>
        </p:spPr>
      </p:sp>
      <p:sp>
        <p:nvSpPr>
          <p:cNvPr id="189" name="3 · Resample particle 31"/>
          <p:cNvSpPr/>
          <p:nvPr/>
        </p:nvSpPr>
        <p:spPr>
          <a:xfrm>
            <a:off x="9732776" y="3420090"/>
            <a:ext cx="137160" cy="137160"/>
          </a:xfrm>
          <a:prstGeom prst="ellipse">
            <a:avLst/>
          </a:prstGeom>
          <a:solidFill>
            <a:schemeClr val="accent3">
              <a:alpha val="75000"/>
            </a:schemeClr>
          </a:solidFill>
          <a:ln w="6350">
            <a:solidFill>
              <a:schemeClr val="accent3">
                <a:alpha val="75000"/>
              </a:schemeClr>
            </a:solidFill>
            <a:prstDash val="solid"/>
          </a:ln>
        </p:spPr>
      </p:sp>
      <p:sp>
        <p:nvSpPr>
          <p:cNvPr id="190" name="3 · Resample particle 32"/>
          <p:cNvSpPr/>
          <p:nvPr/>
        </p:nvSpPr>
        <p:spPr>
          <a:xfrm>
            <a:off x="9649153" y="3552776"/>
            <a:ext cx="137160" cy="137160"/>
          </a:xfrm>
          <a:prstGeom prst="ellipse">
            <a:avLst/>
          </a:prstGeom>
          <a:solidFill>
            <a:schemeClr val="accent3">
              <a:alpha val="75000"/>
            </a:schemeClr>
          </a:solidFill>
          <a:ln w="6350">
            <a:solidFill>
              <a:schemeClr val="accent3">
                <a:alpha val="75000"/>
              </a:schemeClr>
            </a:solidFill>
            <a:prstDash val="solid"/>
          </a:ln>
        </p:spPr>
      </p:sp>
      <p:sp>
        <p:nvSpPr>
          <p:cNvPr id="191" name="3 · Resample particle 33"/>
          <p:cNvSpPr/>
          <p:nvPr/>
        </p:nvSpPr>
        <p:spPr>
          <a:xfrm>
            <a:off x="9562049" y="3485724"/>
            <a:ext cx="137160" cy="137160"/>
          </a:xfrm>
          <a:prstGeom prst="ellipse">
            <a:avLst/>
          </a:prstGeom>
          <a:solidFill>
            <a:schemeClr val="accent3">
              <a:alpha val="75000"/>
            </a:schemeClr>
          </a:solidFill>
          <a:ln w="6350">
            <a:solidFill>
              <a:schemeClr val="accent3">
                <a:alpha val="75000"/>
              </a:schemeClr>
            </a:solidFill>
            <a:prstDash val="solid"/>
          </a:ln>
        </p:spPr>
      </p:sp>
      <p:sp>
        <p:nvSpPr>
          <p:cNvPr id="192" name="3 · Resample particle 34"/>
          <p:cNvSpPr/>
          <p:nvPr/>
        </p:nvSpPr>
        <p:spPr>
          <a:xfrm>
            <a:off x="9592133" y="3521062"/>
            <a:ext cx="137160" cy="137160"/>
          </a:xfrm>
          <a:prstGeom prst="ellipse">
            <a:avLst/>
          </a:prstGeom>
          <a:solidFill>
            <a:schemeClr val="accent3">
              <a:alpha val="75000"/>
            </a:schemeClr>
          </a:solidFill>
          <a:ln w="6350">
            <a:solidFill>
              <a:schemeClr val="accent3">
                <a:alpha val="75000"/>
              </a:schemeClr>
            </a:solidFill>
            <a:prstDash val="solid"/>
          </a:ln>
        </p:spPr>
      </p:sp>
      <p:sp>
        <p:nvSpPr>
          <p:cNvPr id="193" name="3 · Resample particle 35"/>
          <p:cNvSpPr/>
          <p:nvPr/>
        </p:nvSpPr>
        <p:spPr>
          <a:xfrm>
            <a:off x="9605052" y="3585923"/>
            <a:ext cx="137160" cy="137160"/>
          </a:xfrm>
          <a:prstGeom prst="ellipse">
            <a:avLst/>
          </a:prstGeom>
          <a:solidFill>
            <a:schemeClr val="accent3">
              <a:alpha val="75000"/>
            </a:schemeClr>
          </a:solidFill>
          <a:ln w="6350">
            <a:solidFill>
              <a:schemeClr val="accent3">
                <a:alpha val="75000"/>
              </a:schemeClr>
            </a:solidFill>
            <a:prstDash val="solid"/>
          </a:ln>
        </p:spPr>
      </p:sp>
      <p:sp>
        <p:nvSpPr>
          <p:cNvPr id="194" name="3 · Resample particle 36"/>
          <p:cNvSpPr/>
          <p:nvPr/>
        </p:nvSpPr>
        <p:spPr>
          <a:xfrm>
            <a:off x="9596225" y="3460608"/>
            <a:ext cx="137160" cy="137160"/>
          </a:xfrm>
          <a:prstGeom prst="ellipse">
            <a:avLst/>
          </a:prstGeom>
          <a:solidFill>
            <a:schemeClr val="accent3">
              <a:alpha val="75000"/>
            </a:schemeClr>
          </a:solidFill>
          <a:ln w="6350">
            <a:solidFill>
              <a:schemeClr val="accent3">
                <a:alpha val="75000"/>
              </a:schemeClr>
            </a:solidFill>
            <a:prstDash val="solid"/>
          </a:ln>
        </p:spPr>
      </p:sp>
      <p:sp>
        <p:nvSpPr>
          <p:cNvPr id="195" name="3 · Resample particle 37"/>
          <p:cNvSpPr/>
          <p:nvPr/>
        </p:nvSpPr>
        <p:spPr>
          <a:xfrm>
            <a:off x="9580853" y="3366237"/>
            <a:ext cx="137160" cy="137160"/>
          </a:xfrm>
          <a:prstGeom prst="ellipse">
            <a:avLst/>
          </a:prstGeom>
          <a:solidFill>
            <a:schemeClr val="accent3">
              <a:alpha val="75000"/>
            </a:schemeClr>
          </a:solidFill>
          <a:ln w="6350">
            <a:solidFill>
              <a:schemeClr val="accent3">
                <a:alpha val="75000"/>
              </a:schemeClr>
            </a:solidFill>
            <a:prstDash val="solid"/>
          </a:ln>
        </p:spPr>
      </p:sp>
      <p:sp>
        <p:nvSpPr>
          <p:cNvPr id="196" name="3 · Resample particle 38"/>
          <p:cNvSpPr/>
          <p:nvPr/>
        </p:nvSpPr>
        <p:spPr>
          <a:xfrm>
            <a:off x="9668841" y="3500652"/>
            <a:ext cx="137160" cy="137160"/>
          </a:xfrm>
          <a:prstGeom prst="ellipse">
            <a:avLst/>
          </a:prstGeom>
          <a:solidFill>
            <a:schemeClr val="accent3">
              <a:alpha val="75000"/>
            </a:schemeClr>
          </a:solidFill>
          <a:ln w="6350">
            <a:solidFill>
              <a:schemeClr val="accent3">
                <a:alpha val="75000"/>
              </a:schemeClr>
            </a:solidFill>
            <a:prstDash val="solid"/>
          </a:ln>
        </p:spPr>
      </p:sp>
      <p:sp>
        <p:nvSpPr>
          <p:cNvPr id="197" name="3 · Resample particle 39"/>
          <p:cNvSpPr/>
          <p:nvPr/>
        </p:nvSpPr>
        <p:spPr>
          <a:xfrm>
            <a:off x="9811080" y="3318283"/>
            <a:ext cx="137160" cy="137160"/>
          </a:xfrm>
          <a:prstGeom prst="ellipse">
            <a:avLst/>
          </a:prstGeom>
          <a:solidFill>
            <a:schemeClr val="accent3">
              <a:alpha val="75000"/>
            </a:schemeClr>
          </a:solidFill>
          <a:ln w="6350">
            <a:solidFill>
              <a:schemeClr val="accent3">
                <a:alpha val="75000"/>
              </a:schemeClr>
            </a:solidFill>
            <a:prstDash val="solid"/>
          </a:ln>
        </p:spPr>
      </p:sp>
      <p:sp>
        <p:nvSpPr>
          <p:cNvPr id="198" name="3 · Resample particle 40"/>
          <p:cNvSpPr/>
          <p:nvPr/>
        </p:nvSpPr>
        <p:spPr>
          <a:xfrm>
            <a:off x="9550964" y="3415622"/>
            <a:ext cx="137160" cy="137160"/>
          </a:xfrm>
          <a:prstGeom prst="ellipse">
            <a:avLst/>
          </a:prstGeom>
          <a:solidFill>
            <a:schemeClr val="accent3">
              <a:alpha val="75000"/>
            </a:schemeClr>
          </a:solidFill>
          <a:ln w="6350">
            <a:solidFill>
              <a:schemeClr val="accent3">
                <a:alpha val="75000"/>
              </a:schemeClr>
            </a:solidFill>
            <a:prstDash val="solid"/>
          </a:ln>
        </p:spPr>
      </p:sp>
      <p:sp>
        <p:nvSpPr>
          <p:cNvPr id="199" name="3 · Resample particle 41"/>
          <p:cNvSpPr/>
          <p:nvPr/>
        </p:nvSpPr>
        <p:spPr>
          <a:xfrm>
            <a:off x="9802662" y="3432356"/>
            <a:ext cx="137160" cy="137160"/>
          </a:xfrm>
          <a:prstGeom prst="ellipse">
            <a:avLst/>
          </a:prstGeom>
          <a:solidFill>
            <a:schemeClr val="accent3">
              <a:alpha val="75000"/>
            </a:schemeClr>
          </a:solidFill>
          <a:ln w="6350">
            <a:solidFill>
              <a:schemeClr val="accent3">
                <a:alpha val="75000"/>
              </a:schemeClr>
            </a:solidFill>
            <a:prstDash val="solid"/>
          </a:ln>
        </p:spPr>
      </p:sp>
      <p:sp>
        <p:nvSpPr>
          <p:cNvPr id="200" name="3 · Resample particle 42"/>
          <p:cNvSpPr/>
          <p:nvPr/>
        </p:nvSpPr>
        <p:spPr>
          <a:xfrm>
            <a:off x="9466862" y="3403819"/>
            <a:ext cx="137160" cy="137160"/>
          </a:xfrm>
          <a:prstGeom prst="ellipse">
            <a:avLst/>
          </a:prstGeom>
          <a:solidFill>
            <a:schemeClr val="accent3">
              <a:alpha val="75000"/>
            </a:schemeClr>
          </a:solidFill>
          <a:ln w="6350">
            <a:solidFill>
              <a:schemeClr val="accent3">
                <a:alpha val="75000"/>
              </a:schemeClr>
            </a:solidFill>
            <a:prstDash val="solid"/>
          </a:ln>
        </p:spPr>
      </p:sp>
      <p:sp>
        <p:nvSpPr>
          <p:cNvPr id="201" name="3 · Resample particle 43"/>
          <p:cNvSpPr/>
          <p:nvPr/>
        </p:nvSpPr>
        <p:spPr>
          <a:xfrm>
            <a:off x="9627122" y="3555681"/>
            <a:ext cx="137160" cy="137160"/>
          </a:xfrm>
          <a:prstGeom prst="ellipse">
            <a:avLst/>
          </a:prstGeom>
          <a:solidFill>
            <a:schemeClr val="accent3">
              <a:alpha val="75000"/>
            </a:schemeClr>
          </a:solidFill>
          <a:ln w="6350">
            <a:solidFill>
              <a:schemeClr val="accent3">
                <a:alpha val="75000"/>
              </a:schemeClr>
            </a:solidFill>
            <a:prstDash val="solid"/>
          </a:ln>
        </p:spPr>
      </p:sp>
      <p:sp>
        <p:nvSpPr>
          <p:cNvPr id="202" name="3 · Resample particle 44"/>
          <p:cNvSpPr/>
          <p:nvPr/>
        </p:nvSpPr>
        <p:spPr>
          <a:xfrm>
            <a:off x="9595968" y="3459963"/>
            <a:ext cx="137160" cy="137160"/>
          </a:xfrm>
          <a:prstGeom prst="ellipse">
            <a:avLst/>
          </a:prstGeom>
          <a:solidFill>
            <a:schemeClr val="accent3">
              <a:alpha val="75000"/>
            </a:schemeClr>
          </a:solidFill>
          <a:ln w="6350">
            <a:solidFill>
              <a:schemeClr val="accent3">
                <a:alpha val="75000"/>
              </a:schemeClr>
            </a:solidFill>
            <a:prstDash val="solid"/>
          </a:ln>
        </p:spPr>
      </p:sp>
      <p:sp>
        <p:nvSpPr>
          <p:cNvPr id="203" name="3 · Resample particle 45"/>
          <p:cNvSpPr/>
          <p:nvPr/>
        </p:nvSpPr>
        <p:spPr>
          <a:xfrm>
            <a:off x="9732150" y="3529164"/>
            <a:ext cx="137160" cy="137160"/>
          </a:xfrm>
          <a:prstGeom prst="ellipse">
            <a:avLst/>
          </a:prstGeom>
          <a:solidFill>
            <a:schemeClr val="accent3">
              <a:alpha val="75000"/>
            </a:schemeClr>
          </a:solidFill>
          <a:ln w="6350">
            <a:solidFill>
              <a:schemeClr val="accent3">
                <a:alpha val="75000"/>
              </a:schemeClr>
            </a:solidFill>
            <a:prstDash val="solid"/>
          </a:ln>
        </p:spPr>
      </p:sp>
      <p:sp>
        <p:nvSpPr>
          <p:cNvPr id="204" name="3 · Resample particle 46"/>
          <p:cNvSpPr/>
          <p:nvPr/>
        </p:nvSpPr>
        <p:spPr>
          <a:xfrm>
            <a:off x="9632085" y="3488759"/>
            <a:ext cx="137160" cy="137160"/>
          </a:xfrm>
          <a:prstGeom prst="ellipse">
            <a:avLst/>
          </a:prstGeom>
          <a:solidFill>
            <a:schemeClr val="accent3">
              <a:alpha val="75000"/>
            </a:schemeClr>
          </a:solidFill>
          <a:ln w="6350">
            <a:solidFill>
              <a:schemeClr val="accent3">
                <a:alpha val="75000"/>
              </a:schemeClr>
            </a:solidFill>
            <a:prstDash val="solid"/>
          </a:ln>
        </p:spPr>
      </p:sp>
      <p:sp>
        <p:nvSpPr>
          <p:cNvPr id="205" name="3 · Resample particle 47"/>
          <p:cNvSpPr/>
          <p:nvPr/>
        </p:nvSpPr>
        <p:spPr>
          <a:xfrm>
            <a:off x="9439517" y="3371468"/>
            <a:ext cx="137160" cy="137160"/>
          </a:xfrm>
          <a:prstGeom prst="ellipse">
            <a:avLst/>
          </a:prstGeom>
          <a:solidFill>
            <a:schemeClr val="accent3">
              <a:alpha val="75000"/>
            </a:schemeClr>
          </a:solidFill>
          <a:ln w="6350">
            <a:solidFill>
              <a:schemeClr val="accent3">
                <a:alpha val="75000"/>
              </a:schemeClr>
            </a:solidFill>
            <a:prstDash val="solid"/>
          </a:ln>
        </p:spPr>
      </p:sp>
      <p:sp>
        <p:nvSpPr>
          <p:cNvPr id="206" name="3 · Resample particle 48"/>
          <p:cNvSpPr/>
          <p:nvPr/>
        </p:nvSpPr>
        <p:spPr>
          <a:xfrm>
            <a:off x="9524159" y="3369066"/>
            <a:ext cx="137160" cy="137160"/>
          </a:xfrm>
          <a:prstGeom prst="ellipse">
            <a:avLst/>
          </a:prstGeom>
          <a:solidFill>
            <a:schemeClr val="accent3">
              <a:alpha val="75000"/>
            </a:schemeClr>
          </a:solidFill>
          <a:ln w="6350">
            <a:solidFill>
              <a:schemeClr val="accent3">
                <a:alpha val="75000"/>
              </a:schemeClr>
            </a:solidFill>
            <a:prstDash val="solid"/>
          </a:ln>
        </p:spPr>
      </p:sp>
      <p:sp>
        <p:nvSpPr>
          <p:cNvPr id="207" name="3 · Resample particle 49"/>
          <p:cNvSpPr/>
          <p:nvPr/>
        </p:nvSpPr>
        <p:spPr>
          <a:xfrm>
            <a:off x="9560645" y="3361409"/>
            <a:ext cx="137160" cy="137160"/>
          </a:xfrm>
          <a:prstGeom prst="ellipse">
            <a:avLst/>
          </a:prstGeom>
          <a:solidFill>
            <a:schemeClr val="accent3">
              <a:alpha val="75000"/>
            </a:schemeClr>
          </a:solidFill>
          <a:ln w="6350">
            <a:solidFill>
              <a:schemeClr val="accent3">
                <a:alpha val="75000"/>
              </a:schemeClr>
            </a:solidFill>
            <a:prstDash val="solid"/>
          </a:ln>
        </p:spPr>
      </p:sp>
      <p:sp>
        <p:nvSpPr>
          <p:cNvPr id="208" name="3 · Resample particle 50"/>
          <p:cNvSpPr/>
          <p:nvPr/>
        </p:nvSpPr>
        <p:spPr>
          <a:xfrm>
            <a:off x="9514089" y="3520819"/>
            <a:ext cx="137160" cy="137160"/>
          </a:xfrm>
          <a:prstGeom prst="ellipse">
            <a:avLst/>
          </a:prstGeom>
          <a:solidFill>
            <a:schemeClr val="accent3">
              <a:alpha val="75000"/>
            </a:schemeClr>
          </a:solidFill>
          <a:ln w="6350">
            <a:solidFill>
              <a:schemeClr val="accent3">
                <a:alpha val="75000"/>
              </a:schemeClr>
            </a:solidFill>
            <a:prstDash val="solid"/>
          </a:ln>
        </p:spPr>
      </p:sp>
      <p:sp>
        <p:nvSpPr>
          <p:cNvPr id="209" name="3 · Resample particle 51"/>
          <p:cNvSpPr/>
          <p:nvPr/>
        </p:nvSpPr>
        <p:spPr>
          <a:xfrm>
            <a:off x="9520943" y="3424802"/>
            <a:ext cx="137160" cy="137160"/>
          </a:xfrm>
          <a:prstGeom prst="ellipse">
            <a:avLst/>
          </a:prstGeom>
          <a:solidFill>
            <a:schemeClr val="accent3">
              <a:alpha val="75000"/>
            </a:schemeClr>
          </a:solidFill>
          <a:ln w="6350">
            <a:solidFill>
              <a:schemeClr val="accent3">
                <a:alpha val="75000"/>
              </a:schemeClr>
            </a:solidFill>
            <a:prstDash val="solid"/>
          </a:ln>
        </p:spPr>
      </p:sp>
      <p:sp>
        <p:nvSpPr>
          <p:cNvPr id="210" name="3 · Resample particle 52"/>
          <p:cNvSpPr/>
          <p:nvPr/>
        </p:nvSpPr>
        <p:spPr>
          <a:xfrm>
            <a:off x="9421490" y="3369803"/>
            <a:ext cx="137160" cy="137160"/>
          </a:xfrm>
          <a:prstGeom prst="ellipse">
            <a:avLst/>
          </a:prstGeom>
          <a:solidFill>
            <a:schemeClr val="accent3">
              <a:alpha val="75000"/>
            </a:schemeClr>
          </a:solidFill>
          <a:ln w="6350">
            <a:solidFill>
              <a:schemeClr val="accent3">
                <a:alpha val="75000"/>
              </a:schemeClr>
            </a:solidFill>
            <a:prstDash val="solid"/>
          </a:ln>
        </p:spPr>
      </p:sp>
      <p:sp>
        <p:nvSpPr>
          <p:cNvPr id="211" name="3 · Resample particle 53"/>
          <p:cNvSpPr/>
          <p:nvPr/>
        </p:nvSpPr>
        <p:spPr>
          <a:xfrm>
            <a:off x="9631326" y="3423975"/>
            <a:ext cx="137160" cy="137160"/>
          </a:xfrm>
          <a:prstGeom prst="ellipse">
            <a:avLst/>
          </a:prstGeom>
          <a:solidFill>
            <a:schemeClr val="accent3">
              <a:alpha val="75000"/>
            </a:schemeClr>
          </a:solidFill>
          <a:ln w="6350">
            <a:solidFill>
              <a:schemeClr val="accent3">
                <a:alpha val="75000"/>
              </a:schemeClr>
            </a:solidFill>
            <a:prstDash val="solid"/>
          </a:ln>
        </p:spPr>
      </p:sp>
      <p:sp>
        <p:nvSpPr>
          <p:cNvPr id="212" name="3 · Resample particle 54"/>
          <p:cNvSpPr/>
          <p:nvPr/>
        </p:nvSpPr>
        <p:spPr>
          <a:xfrm>
            <a:off x="9716406" y="3411695"/>
            <a:ext cx="137160" cy="137160"/>
          </a:xfrm>
          <a:prstGeom prst="ellipse">
            <a:avLst/>
          </a:prstGeom>
          <a:solidFill>
            <a:schemeClr val="accent3">
              <a:alpha val="75000"/>
            </a:schemeClr>
          </a:solidFill>
          <a:ln w="6350">
            <a:solidFill>
              <a:schemeClr val="accent3">
                <a:alpha val="75000"/>
              </a:schemeClr>
            </a:solidFill>
            <a:prstDash val="solid"/>
          </a:ln>
        </p:spPr>
      </p:sp>
      <p:sp>
        <p:nvSpPr>
          <p:cNvPr id="213" name="3 · Resample particle 55"/>
          <p:cNvSpPr/>
          <p:nvPr/>
        </p:nvSpPr>
        <p:spPr>
          <a:xfrm>
            <a:off x="9868230" y="3268054"/>
            <a:ext cx="137160" cy="137160"/>
          </a:xfrm>
          <a:prstGeom prst="ellipse">
            <a:avLst/>
          </a:prstGeom>
          <a:solidFill>
            <a:schemeClr val="accent3">
              <a:alpha val="75000"/>
            </a:schemeClr>
          </a:solidFill>
          <a:ln w="6350">
            <a:solidFill>
              <a:schemeClr val="accent3">
                <a:alpha val="75000"/>
              </a:schemeClr>
            </a:solidFill>
            <a:prstDash val="solid"/>
          </a:ln>
        </p:spPr>
      </p:sp>
      <p:sp>
        <p:nvSpPr>
          <p:cNvPr id="214" name="3 · Resample particle 56"/>
          <p:cNvSpPr/>
          <p:nvPr/>
        </p:nvSpPr>
        <p:spPr>
          <a:xfrm>
            <a:off x="9583098" y="3392251"/>
            <a:ext cx="137160" cy="137160"/>
          </a:xfrm>
          <a:prstGeom prst="ellipse">
            <a:avLst/>
          </a:prstGeom>
          <a:solidFill>
            <a:schemeClr val="accent3">
              <a:alpha val="75000"/>
            </a:schemeClr>
          </a:solidFill>
          <a:ln w="6350">
            <a:solidFill>
              <a:schemeClr val="accent3">
                <a:alpha val="75000"/>
              </a:schemeClr>
            </a:solidFill>
            <a:prstDash val="solid"/>
          </a:ln>
        </p:spPr>
      </p:sp>
      <p:sp>
        <p:nvSpPr>
          <p:cNvPr id="215" name="3 · Resample particle 57"/>
          <p:cNvSpPr/>
          <p:nvPr/>
        </p:nvSpPr>
        <p:spPr>
          <a:xfrm>
            <a:off x="9602082" y="3475561"/>
            <a:ext cx="137160" cy="137160"/>
          </a:xfrm>
          <a:prstGeom prst="ellipse">
            <a:avLst/>
          </a:prstGeom>
          <a:solidFill>
            <a:schemeClr val="accent3">
              <a:alpha val="75000"/>
            </a:schemeClr>
          </a:solidFill>
          <a:ln w="6350">
            <a:solidFill>
              <a:schemeClr val="accent3">
                <a:alpha val="75000"/>
              </a:schemeClr>
            </a:solidFill>
            <a:prstDash val="solid"/>
          </a:ln>
        </p:spPr>
      </p:sp>
      <p:sp>
        <p:nvSpPr>
          <p:cNvPr id="216" name="3 · Resample particle 58"/>
          <p:cNvSpPr/>
          <p:nvPr/>
        </p:nvSpPr>
        <p:spPr>
          <a:xfrm>
            <a:off x="9637564" y="3470118"/>
            <a:ext cx="137160" cy="137160"/>
          </a:xfrm>
          <a:prstGeom prst="ellipse">
            <a:avLst/>
          </a:prstGeom>
          <a:solidFill>
            <a:schemeClr val="accent3">
              <a:alpha val="75000"/>
            </a:schemeClr>
          </a:solidFill>
          <a:ln w="6350">
            <a:solidFill>
              <a:schemeClr val="accent3">
                <a:alpha val="75000"/>
              </a:schemeClr>
            </a:solidFill>
            <a:prstDash val="solid"/>
          </a:ln>
        </p:spPr>
      </p:sp>
      <p:sp>
        <p:nvSpPr>
          <p:cNvPr id="217" name="3 · Resample particle 59"/>
          <p:cNvSpPr/>
          <p:nvPr/>
        </p:nvSpPr>
        <p:spPr>
          <a:xfrm>
            <a:off x="9777055" y="3470558"/>
            <a:ext cx="137160" cy="137160"/>
          </a:xfrm>
          <a:prstGeom prst="ellipse">
            <a:avLst/>
          </a:prstGeom>
          <a:solidFill>
            <a:schemeClr val="accent3">
              <a:alpha val="75000"/>
            </a:schemeClr>
          </a:solidFill>
          <a:ln w="6350">
            <a:solidFill>
              <a:schemeClr val="accent3">
                <a:alpha val="75000"/>
              </a:schemeClr>
            </a:solidFill>
            <a:prstDash val="solid"/>
          </a:ln>
        </p:spPr>
      </p:sp>
      <p:sp>
        <p:nvSpPr>
          <p:cNvPr id="218" name="3 · Resample particle 60"/>
          <p:cNvSpPr/>
          <p:nvPr/>
        </p:nvSpPr>
        <p:spPr>
          <a:xfrm>
            <a:off x="9705389" y="3472817"/>
            <a:ext cx="137160" cy="137160"/>
          </a:xfrm>
          <a:prstGeom prst="ellipse">
            <a:avLst/>
          </a:prstGeom>
          <a:solidFill>
            <a:schemeClr val="accent3">
              <a:alpha val="75000"/>
            </a:schemeClr>
          </a:solidFill>
          <a:ln w="6350">
            <a:solidFill>
              <a:schemeClr val="accent3">
                <a:alpha val="75000"/>
              </a:schemeClr>
            </a:solidFill>
            <a:prstDash val="solid"/>
          </a:ln>
        </p:spPr>
      </p:sp>
      <p:sp>
        <p:nvSpPr>
          <p:cNvPr id="219" name="3 · Resample particle 61"/>
          <p:cNvSpPr/>
          <p:nvPr/>
        </p:nvSpPr>
        <p:spPr>
          <a:xfrm>
            <a:off x="9702254" y="3552617"/>
            <a:ext cx="137160" cy="137160"/>
          </a:xfrm>
          <a:prstGeom prst="ellipse">
            <a:avLst/>
          </a:prstGeom>
          <a:solidFill>
            <a:schemeClr val="accent3">
              <a:alpha val="75000"/>
            </a:schemeClr>
          </a:solidFill>
          <a:ln w="6350">
            <a:solidFill>
              <a:schemeClr val="accent3">
                <a:alpha val="75000"/>
              </a:schemeClr>
            </a:solidFill>
            <a:prstDash val="solid"/>
          </a:ln>
        </p:spPr>
      </p:sp>
      <p:sp>
        <p:nvSpPr>
          <p:cNvPr id="220" name="3 · Resample particle 62"/>
          <p:cNvSpPr/>
          <p:nvPr/>
        </p:nvSpPr>
        <p:spPr>
          <a:xfrm>
            <a:off x="9628350" y="3349238"/>
            <a:ext cx="137160" cy="137160"/>
          </a:xfrm>
          <a:prstGeom prst="ellipse">
            <a:avLst/>
          </a:prstGeom>
          <a:solidFill>
            <a:schemeClr val="accent3">
              <a:alpha val="75000"/>
            </a:schemeClr>
          </a:solidFill>
          <a:ln w="6350">
            <a:solidFill>
              <a:schemeClr val="accent3">
                <a:alpha val="75000"/>
              </a:schemeClr>
            </a:solidFill>
            <a:prstDash val="solid"/>
          </a:ln>
        </p:spPr>
      </p:sp>
      <p:sp>
        <p:nvSpPr>
          <p:cNvPr id="221" name="3 · Resample particle 63"/>
          <p:cNvSpPr/>
          <p:nvPr/>
        </p:nvSpPr>
        <p:spPr>
          <a:xfrm>
            <a:off x="9698377" y="3471925"/>
            <a:ext cx="137160" cy="137160"/>
          </a:xfrm>
          <a:prstGeom prst="ellipse">
            <a:avLst/>
          </a:prstGeom>
          <a:solidFill>
            <a:schemeClr val="accent3">
              <a:alpha val="75000"/>
            </a:schemeClr>
          </a:solidFill>
          <a:ln w="6350">
            <a:solidFill>
              <a:schemeClr val="accent3">
                <a:alpha val="75000"/>
              </a:schemeClr>
            </a:solidFill>
            <a:prstDash val="solid"/>
          </a:ln>
        </p:spPr>
      </p:sp>
      <p:sp>
        <p:nvSpPr>
          <p:cNvPr id="222" name="3 · Resample particle 64"/>
          <p:cNvSpPr/>
          <p:nvPr/>
        </p:nvSpPr>
        <p:spPr>
          <a:xfrm>
            <a:off x="9565793" y="3538369"/>
            <a:ext cx="137160" cy="137160"/>
          </a:xfrm>
          <a:prstGeom prst="ellipse">
            <a:avLst/>
          </a:prstGeom>
          <a:solidFill>
            <a:schemeClr val="accent3">
              <a:alpha val="75000"/>
            </a:schemeClr>
          </a:solidFill>
          <a:ln w="6350">
            <a:solidFill>
              <a:schemeClr val="accent3">
                <a:alpha val="75000"/>
              </a:schemeClr>
            </a:solidFill>
            <a:prstDash val="solid"/>
          </a:ln>
        </p:spPr>
      </p:sp>
      <p:sp>
        <p:nvSpPr>
          <p:cNvPr id="223" name="3 · Resample particle 65"/>
          <p:cNvSpPr/>
          <p:nvPr/>
        </p:nvSpPr>
        <p:spPr>
          <a:xfrm>
            <a:off x="9660911" y="3524618"/>
            <a:ext cx="137160" cy="137160"/>
          </a:xfrm>
          <a:prstGeom prst="ellipse">
            <a:avLst/>
          </a:prstGeom>
          <a:solidFill>
            <a:schemeClr val="accent3">
              <a:alpha val="75000"/>
            </a:schemeClr>
          </a:solidFill>
          <a:ln w="6350">
            <a:solidFill>
              <a:schemeClr val="accent3">
                <a:alpha val="75000"/>
              </a:schemeClr>
            </a:solidFill>
            <a:prstDash val="solid"/>
          </a:ln>
        </p:spPr>
      </p:sp>
      <p:sp>
        <p:nvSpPr>
          <p:cNvPr id="224" name="3 · Resample particle 66"/>
          <p:cNvSpPr/>
          <p:nvPr/>
        </p:nvSpPr>
        <p:spPr>
          <a:xfrm>
            <a:off x="9685069" y="3347157"/>
            <a:ext cx="137160" cy="137160"/>
          </a:xfrm>
          <a:prstGeom prst="ellipse">
            <a:avLst/>
          </a:prstGeom>
          <a:solidFill>
            <a:schemeClr val="accent3">
              <a:alpha val="75000"/>
            </a:schemeClr>
          </a:solidFill>
          <a:ln w="6350">
            <a:solidFill>
              <a:schemeClr val="accent3">
                <a:alpha val="75000"/>
              </a:schemeClr>
            </a:solidFill>
            <a:prstDash val="solid"/>
          </a:ln>
        </p:spPr>
      </p:sp>
      <p:sp>
        <p:nvSpPr>
          <p:cNvPr id="225" name="3 · Resample particle 67"/>
          <p:cNvSpPr/>
          <p:nvPr/>
        </p:nvSpPr>
        <p:spPr>
          <a:xfrm>
            <a:off x="9587445" y="3523415"/>
            <a:ext cx="137160" cy="137160"/>
          </a:xfrm>
          <a:prstGeom prst="ellipse">
            <a:avLst/>
          </a:prstGeom>
          <a:solidFill>
            <a:schemeClr val="accent3">
              <a:alpha val="75000"/>
            </a:schemeClr>
          </a:solidFill>
          <a:ln w="6350">
            <a:solidFill>
              <a:schemeClr val="accent3">
                <a:alpha val="75000"/>
              </a:schemeClr>
            </a:solidFill>
            <a:prstDash val="solid"/>
          </a:ln>
        </p:spPr>
      </p:sp>
      <p:sp>
        <p:nvSpPr>
          <p:cNvPr id="226" name="3 · Resample particle 68"/>
          <p:cNvSpPr/>
          <p:nvPr/>
        </p:nvSpPr>
        <p:spPr>
          <a:xfrm>
            <a:off x="9593738" y="3360834"/>
            <a:ext cx="137160" cy="137160"/>
          </a:xfrm>
          <a:prstGeom prst="ellipse">
            <a:avLst/>
          </a:prstGeom>
          <a:solidFill>
            <a:schemeClr val="accent3">
              <a:alpha val="75000"/>
            </a:schemeClr>
          </a:solidFill>
          <a:ln w="6350">
            <a:solidFill>
              <a:schemeClr val="accent3">
                <a:alpha val="75000"/>
              </a:schemeClr>
            </a:solidFill>
            <a:prstDash val="solid"/>
          </a:ln>
        </p:spPr>
      </p:sp>
      <p:sp>
        <p:nvSpPr>
          <p:cNvPr id="227" name="3 · Resample particle 69"/>
          <p:cNvSpPr/>
          <p:nvPr/>
        </p:nvSpPr>
        <p:spPr>
          <a:xfrm>
            <a:off x="9632527" y="3535882"/>
            <a:ext cx="137160" cy="137160"/>
          </a:xfrm>
          <a:prstGeom prst="ellipse">
            <a:avLst/>
          </a:prstGeom>
          <a:solidFill>
            <a:schemeClr val="accent3">
              <a:alpha val="75000"/>
            </a:schemeClr>
          </a:solidFill>
          <a:ln w="6350">
            <a:solidFill>
              <a:schemeClr val="accent3">
                <a:alpha val="75000"/>
              </a:schemeClr>
            </a:solidFill>
            <a:prstDash val="solid"/>
          </a:ln>
        </p:spPr>
      </p:sp>
      <p:sp>
        <p:nvSpPr>
          <p:cNvPr id="228" name="Pose estimate"/>
          <p:cNvSpPr/>
          <p:nvPr/>
        </p:nvSpPr>
        <p:spPr>
          <a:xfrm>
            <a:off x="9541764" y="3374136"/>
            <a:ext cx="310896" cy="310896"/>
          </a:xfrm>
          <a:prstGeom prst="ellipse">
            <a:avLst/>
          </a:prstGeom>
          <a:ln w="31750">
            <a:solidFill>
              <a:schemeClr val="accent1"/>
            </a:solidFill>
            <a:prstDash val="solid"/>
          </a:ln>
        </p:spPr>
      </p:sp>
      <p:sp>
        <p:nvSpPr>
          <p:cNvPr id="229" name="Pose estimate heading"/>
          <p:cNvSpPr/>
          <p:nvPr/>
        </p:nvSpPr>
        <p:spPr>
          <a:xfrm flipV="1">
            <a:off x="9697212" y="3209544"/>
            <a:ext cx="502920" cy="320040"/>
          </a:xfrm>
          <a:prstGeom prst="line">
            <a:avLst/>
          </a:prstGeom>
          <a:noFill/>
          <a:ln w="31750">
            <a:solidFill>
              <a:schemeClr val="accent1"/>
            </a:solidFill>
            <a:prstDash val="solid"/>
            <a:tailEnd type="triangle"/>
          </a:ln>
        </p:spPr>
      </p:sp>
      <p:sp>
        <p:nvSpPr>
          <p:cNvPr id="230" name="3 · Resample text"/>
          <p:cNvSpPr txBox="1"/>
          <p:nvPr/>
        </p:nvSpPr>
        <p:spPr>
          <a:xfrm>
            <a:off x="8074152" y="4937760"/>
            <a:ext cx="3566160" cy="1097280"/>
          </a:xfrm>
          <a:prstGeom prst="rect">
            <a:avLst/>
          </a:prstGeom>
          <a:noFill/>
          <a:ln/>
        </p:spPr>
        <p:txBody>
          <a:bodyPr wrap="square" lIns="0" tIns="0" rIns="0" bIns="0" rtlCol="0" anchor="t"/>
          <a:lstStyle/>
          <a:p>
            <a:pPr algn="l" indent="0" marL="0">
              <a:buNone/>
            </a:pPr>
            <a:r>
              <a:rPr lang="en-US" sz="1500" dirty="0">
                <a:solidFill>
                  <a:schemeClr val="tx1"/>
                </a:solidFill>
              </a:rPr>
              <a:t>Keep heavy particles, drop light ones. The cluster is the pose → map → odom.</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Costmaps: the map, live obstacles and a safety margin in one grid</a:t>
            </a:r>
            <a:endParaRPr lang="en-US" sz="2800" dirty="0"/>
          </a:p>
        </p:txBody>
      </p:sp>
      <p:sp>
        <p:nvSpPr>
          <p:cNvPr id="4" name="Static layer"/>
          <p:cNvSpPr/>
          <p:nvPr/>
        </p:nvSpPr>
        <p:spPr>
          <a:xfrm>
            <a:off x="548640" y="1463040"/>
            <a:ext cx="4572000" cy="777240"/>
          </a:xfrm>
          <a:prstGeom prst="roundRect">
            <a:avLst>
              <a:gd name="adj" fmla="val 9412"/>
            </a:avLst>
          </a:prstGeom>
          <a:solidFill>
            <a:schemeClr val="accent6">
              <a:alpha val="20000"/>
            </a:schemeClr>
          </a:solidFill>
          <a:ln w="6350">
            <a:solidFill>
              <a:schemeClr val="accent6">
                <a:alpha val="20000"/>
              </a:schemeClr>
            </a:solidFill>
          </a:ln>
        </p:spPr>
        <p:txBody>
          <a:bodyPr wrap="square" lIns="76200" tIns="76200" rIns="76200" bIns="76200" rtlCol="0" anchor="ctr"/>
          <a:lstStyle/>
          <a:p>
            <a:pPr algn="ctr" indent="0" marL="0">
              <a:buNone/>
            </a:pPr>
            <a:r>
              <a:rPr lang="en-US" sz="1600" b="1" dirty="0">
                <a:solidFill>
                  <a:schemeClr val="tx1"/>
                </a:solidFill>
              </a:rPr>
              <a:t>Static layer</a:t>
            </a:r>
            <a:endParaRPr lang="en-US" sz="1600" dirty="0"/>
          </a:p>
          <a:p>
            <a:pPr algn="ctr" indent="0" marL="0">
              <a:buNone/>
            </a:pPr>
            <a:r>
              <a:rPr lang="en-US" sz="1400" dirty="0">
                <a:solidFill>
                  <a:schemeClr val="tx1"/>
                </a:solidFill>
              </a:rPr>
              <a:t>walls from /map</a:t>
            </a:r>
            <a:endParaRPr lang="en-US" sz="1600" dirty="0"/>
          </a:p>
        </p:txBody>
      </p:sp>
      <p:sp>
        <p:nvSpPr>
          <p:cNvPr id="5" name="Operator 0"/>
          <p:cNvSpPr txBox="1"/>
          <p:nvPr/>
        </p:nvSpPr>
        <p:spPr>
          <a:xfrm>
            <a:off x="2606040" y="2240280"/>
            <a:ext cx="457200" cy="365760"/>
          </a:xfrm>
          <a:prstGeom prst="rect">
            <a:avLst/>
          </a:prstGeom>
          <a:noFill/>
          <a:ln/>
        </p:spPr>
        <p:txBody>
          <a:bodyPr wrap="square" lIns="0" tIns="0" rIns="0" bIns="0" rtlCol="0" anchor="ctr"/>
          <a:lstStyle/>
          <a:p>
            <a:pPr algn="ctr" indent="0" marL="0">
              <a:buNone/>
            </a:pPr>
            <a:r>
              <a:rPr lang="en-US" sz="2000" b="1" dirty="0">
                <a:solidFill>
                  <a:schemeClr val="accent6"/>
                </a:solidFill>
              </a:rPr>
              <a:t>+</a:t>
            </a:r>
            <a:endParaRPr lang="en-US" sz="2000" dirty="0"/>
          </a:p>
        </p:txBody>
      </p:sp>
      <p:sp>
        <p:nvSpPr>
          <p:cNvPr id="6" name="Obstacle / voxel layer"/>
          <p:cNvSpPr/>
          <p:nvPr/>
        </p:nvSpPr>
        <p:spPr>
          <a:xfrm>
            <a:off x="548640" y="2606040"/>
            <a:ext cx="4572000" cy="777240"/>
          </a:xfrm>
          <a:prstGeom prst="roundRect">
            <a:avLst>
              <a:gd name="adj" fmla="val 9412"/>
            </a:avLst>
          </a:prstGeom>
          <a:solidFill>
            <a:schemeClr val="accent3">
              <a:alpha val="20000"/>
            </a:schemeClr>
          </a:solidFill>
          <a:ln w="6350">
            <a:solidFill>
              <a:schemeClr val="accent3">
                <a:alpha val="20000"/>
              </a:schemeClr>
            </a:solidFill>
          </a:ln>
        </p:spPr>
        <p:txBody>
          <a:bodyPr wrap="square" lIns="76200" tIns="76200" rIns="76200" bIns="76200" rtlCol="0" anchor="ctr"/>
          <a:lstStyle/>
          <a:p>
            <a:pPr algn="ctr" indent="0" marL="0">
              <a:buNone/>
            </a:pPr>
            <a:r>
              <a:rPr lang="en-US" sz="1600" b="1" dirty="0">
                <a:solidFill>
                  <a:schemeClr val="tx1"/>
                </a:solidFill>
              </a:rPr>
              <a:t>Obstacle / voxel layer</a:t>
            </a:r>
            <a:endParaRPr lang="en-US" sz="1600" dirty="0"/>
          </a:p>
          <a:p>
            <a:pPr algn="ctr" indent="0" marL="0">
              <a:buNone/>
            </a:pPr>
            <a:r>
              <a:rPr lang="en-US" sz="1400" dirty="0">
                <a:solidFill>
                  <a:schemeClr val="tx1"/>
                </a:solidFill>
              </a:rPr>
              <a:t>what the LiDAR sees now</a:t>
            </a:r>
            <a:endParaRPr lang="en-US" sz="1600" dirty="0"/>
          </a:p>
        </p:txBody>
      </p:sp>
      <p:sp>
        <p:nvSpPr>
          <p:cNvPr id="7" name="Operator 1"/>
          <p:cNvSpPr txBox="1"/>
          <p:nvPr/>
        </p:nvSpPr>
        <p:spPr>
          <a:xfrm>
            <a:off x="2606040" y="3383280"/>
            <a:ext cx="457200" cy="365760"/>
          </a:xfrm>
          <a:prstGeom prst="rect">
            <a:avLst/>
          </a:prstGeom>
          <a:noFill/>
          <a:ln/>
        </p:spPr>
        <p:txBody>
          <a:bodyPr wrap="square" lIns="0" tIns="0" rIns="0" bIns="0" rtlCol="0" anchor="ctr"/>
          <a:lstStyle/>
          <a:p>
            <a:pPr algn="ctr" indent="0" marL="0">
              <a:buNone/>
            </a:pPr>
            <a:r>
              <a:rPr lang="en-US" sz="2000" b="1" dirty="0">
                <a:solidFill>
                  <a:schemeClr val="accent6"/>
                </a:solidFill>
              </a:rPr>
              <a:t>+</a:t>
            </a:r>
            <a:endParaRPr lang="en-US" sz="2000" dirty="0"/>
          </a:p>
        </p:txBody>
      </p:sp>
      <p:sp>
        <p:nvSpPr>
          <p:cNvPr id="8" name="Inflation layer"/>
          <p:cNvSpPr/>
          <p:nvPr/>
        </p:nvSpPr>
        <p:spPr>
          <a:xfrm>
            <a:off x="548640" y="3749040"/>
            <a:ext cx="4572000" cy="777240"/>
          </a:xfrm>
          <a:prstGeom prst="roundRect">
            <a:avLst>
              <a:gd name="adj" fmla="val 9412"/>
            </a:avLst>
          </a:prstGeom>
          <a:solidFill>
            <a:schemeClr val="accent1">
              <a:alpha val="20000"/>
            </a:schemeClr>
          </a:solidFill>
          <a:ln w="6350">
            <a:solidFill>
              <a:schemeClr val="accent1">
                <a:alpha val="20000"/>
              </a:schemeClr>
            </a:solidFill>
          </a:ln>
        </p:spPr>
        <p:txBody>
          <a:bodyPr wrap="square" lIns="76200" tIns="76200" rIns="76200" bIns="76200" rtlCol="0" anchor="ctr"/>
          <a:lstStyle/>
          <a:p>
            <a:pPr algn="ctr" indent="0" marL="0">
              <a:buNone/>
            </a:pPr>
            <a:r>
              <a:rPr lang="en-US" sz="1600" b="1" dirty="0">
                <a:solidFill>
                  <a:schemeClr val="tx1"/>
                </a:solidFill>
              </a:rPr>
              <a:t>Inflation layer</a:t>
            </a:r>
            <a:endParaRPr lang="en-US" sz="1600" dirty="0"/>
          </a:p>
          <a:p>
            <a:pPr algn="ctr" indent="0" marL="0">
              <a:buNone/>
            </a:pPr>
            <a:r>
              <a:rPr lang="en-US" sz="1400" dirty="0">
                <a:solidFill>
                  <a:schemeClr val="tx1"/>
                </a:solidFill>
              </a:rPr>
              <a:t>safety margin around obstacles</a:t>
            </a:r>
            <a:endParaRPr lang="en-US" sz="1600" dirty="0"/>
          </a:p>
        </p:txBody>
      </p:sp>
      <p:sp>
        <p:nvSpPr>
          <p:cNvPr id="9" name="Operator 2"/>
          <p:cNvSpPr txBox="1"/>
          <p:nvPr/>
        </p:nvSpPr>
        <p:spPr>
          <a:xfrm>
            <a:off x="2606040" y="4526280"/>
            <a:ext cx="457200" cy="365760"/>
          </a:xfrm>
          <a:prstGeom prst="rect">
            <a:avLst/>
          </a:prstGeom>
          <a:noFill/>
          <a:ln/>
        </p:spPr>
        <p:txBody>
          <a:bodyPr wrap="square" lIns="0" tIns="0" rIns="0" bIns="0" rtlCol="0" anchor="ctr"/>
          <a:lstStyle/>
          <a:p>
            <a:pPr algn="ctr" indent="0" marL="0">
              <a:buNone/>
            </a:pPr>
            <a:r>
              <a:rPr lang="en-US" sz="2000" b="1" dirty="0">
                <a:solidFill>
                  <a:schemeClr val="accent6"/>
                </a:solidFill>
              </a:rPr>
              <a:t>=</a:t>
            </a:r>
            <a:endParaRPr lang="en-US" sz="2000" dirty="0"/>
          </a:p>
        </p:txBody>
      </p:sp>
      <p:sp>
        <p:nvSpPr>
          <p:cNvPr id="10" name="Combined costmap"/>
          <p:cNvSpPr/>
          <p:nvPr/>
        </p:nvSpPr>
        <p:spPr>
          <a:xfrm>
            <a:off x="548640" y="4892040"/>
            <a:ext cx="4572000" cy="777240"/>
          </a:xfrm>
          <a:prstGeom prst="roundRect">
            <a:avLst>
              <a:gd name="adj" fmla="val 9412"/>
            </a:avLst>
          </a:prstGeom>
          <a:solidFill>
            <a:schemeClr val="tx1"/>
          </a:solidFill>
          <a:ln w="6350">
            <a:solidFill>
              <a:schemeClr val="tx1"/>
            </a:solidFill>
          </a:ln>
        </p:spPr>
        <p:txBody>
          <a:bodyPr wrap="square" lIns="76200" tIns="76200" rIns="76200" bIns="76200" rtlCol="0" anchor="ctr"/>
          <a:lstStyle/>
          <a:p>
            <a:pPr algn="ctr" indent="0" marL="0">
              <a:buNone/>
            </a:pPr>
            <a:r>
              <a:rPr lang="en-US" sz="1600" b="1" dirty="0">
                <a:solidFill>
                  <a:schemeClr val="bg1"/>
                </a:solidFill>
              </a:rPr>
              <a:t>Costmap</a:t>
            </a:r>
            <a:endParaRPr lang="en-US" sz="1600" dirty="0"/>
          </a:p>
          <a:p>
            <a:pPr algn="ctr" indent="0" marL="0">
              <a:buNone/>
            </a:pPr>
            <a:r>
              <a:rPr lang="en-US" sz="1400" dirty="0">
                <a:solidFill>
                  <a:schemeClr val="bg1"/>
                </a:solidFill>
              </a:rPr>
              <a:t>what the planner and controller use</a:t>
            </a:r>
            <a:endParaRPr lang="en-US" sz="1600" dirty="0"/>
          </a:p>
        </p:txBody>
      </p:sp>
      <p:sp>
        <p:nvSpPr>
          <p:cNvPr id="11" name="Global costmap card"/>
          <p:cNvSpPr/>
          <p:nvPr/>
        </p:nvSpPr>
        <p:spPr>
          <a:xfrm>
            <a:off x="5577840" y="1463040"/>
            <a:ext cx="2962656" cy="2651760"/>
          </a:xfrm>
          <a:prstGeom prst="roundRect">
            <a:avLst>
              <a:gd name="adj" fmla="val 3448"/>
            </a:avLst>
          </a:prstGeom>
          <a:solidFill>
            <a:schemeClr val="bg2"/>
          </a:solidFill>
          <a:ln w="6350">
            <a:solidFill>
              <a:schemeClr val="bg2"/>
            </a:solidFill>
            <a:prstDash val="solid"/>
          </a:ln>
        </p:spPr>
      </p:sp>
      <p:sp>
        <p:nvSpPr>
          <p:cNvPr id="12" name="Global costmap title"/>
          <p:cNvSpPr txBox="1"/>
          <p:nvPr/>
        </p:nvSpPr>
        <p:spPr>
          <a:xfrm>
            <a:off x="5760720" y="1600200"/>
            <a:ext cx="2596896" cy="411480"/>
          </a:xfrm>
          <a:prstGeom prst="rect">
            <a:avLst/>
          </a:prstGeom>
          <a:noFill/>
          <a:ln/>
        </p:spPr>
        <p:txBody>
          <a:bodyPr wrap="square" lIns="0" tIns="0" rIns="0" bIns="0" rtlCol="0" anchor="t"/>
          <a:lstStyle/>
          <a:p>
            <a:pPr algn="l" indent="0" marL="0">
              <a:buNone/>
            </a:pPr>
            <a:r>
              <a:rPr lang="en-US" sz="1700" b="1" dirty="0">
                <a:solidFill>
                  <a:schemeClr val="accent2"/>
                </a:solidFill>
              </a:rPr>
              <a:t>Global costmap</a:t>
            </a:r>
            <a:endParaRPr lang="en-US" sz="1700" dirty="0"/>
          </a:p>
        </p:txBody>
      </p:sp>
      <p:sp>
        <p:nvSpPr>
          <p:cNvPr id="13" name="Global costmap list"/>
          <p:cNvSpPr txBox="1"/>
          <p:nvPr/>
        </p:nvSpPr>
        <p:spPr>
          <a:xfrm>
            <a:off x="5760720" y="2103120"/>
            <a:ext cx="2596896" cy="18745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frame: map — the whole map</a:t>
            </a:r>
            <a:endParaRPr lang="en-US" sz="1400" dirty="0"/>
          </a:p>
          <a:p>
            <a:pPr algn="l" marL="342900" indent="-342900">
              <a:spcAft>
                <a:spcPts val="600"/>
              </a:spcAft>
              <a:buSzPct val="100000"/>
              <a:buChar char="•"/>
            </a:pPr>
            <a:r>
              <a:rPr lang="en-US" sz="1400" dirty="0">
                <a:solidFill>
                  <a:schemeClr val="tx1"/>
                </a:solidFill>
              </a:rPr>
              <a:t>layers: static + obstacle + inflation</a:t>
            </a:r>
            <a:endParaRPr lang="en-US" sz="1400" dirty="0"/>
          </a:p>
          <a:p>
            <a:pPr algn="l" marL="342900" indent="-342900">
              <a:spcAft>
                <a:spcPts val="600"/>
              </a:spcAft>
              <a:buSzPct val="100000"/>
              <a:buChar char="•"/>
            </a:pPr>
            <a:r>
              <a:rPr lang="en-US" sz="1400" dirty="0">
                <a:solidFill>
                  <a:schemeClr val="tx1"/>
                </a:solidFill>
              </a:rPr>
              <a:t>used by the planner · updates 1 Hz</a:t>
            </a:r>
            <a:endParaRPr lang="en-US" sz="1400" dirty="0"/>
          </a:p>
        </p:txBody>
      </p:sp>
      <p:sp>
        <p:nvSpPr>
          <p:cNvPr id="14" name="Local costmap card"/>
          <p:cNvSpPr/>
          <p:nvPr/>
        </p:nvSpPr>
        <p:spPr>
          <a:xfrm>
            <a:off x="8677656" y="1463040"/>
            <a:ext cx="2962656" cy="2651760"/>
          </a:xfrm>
          <a:prstGeom prst="roundRect">
            <a:avLst>
              <a:gd name="adj" fmla="val 3448"/>
            </a:avLst>
          </a:prstGeom>
          <a:solidFill>
            <a:schemeClr val="bg2"/>
          </a:solidFill>
          <a:ln w="6350">
            <a:solidFill>
              <a:schemeClr val="bg2"/>
            </a:solidFill>
            <a:prstDash val="solid"/>
          </a:ln>
        </p:spPr>
      </p:sp>
      <p:sp>
        <p:nvSpPr>
          <p:cNvPr id="15" name="Local costmap title"/>
          <p:cNvSpPr txBox="1"/>
          <p:nvPr/>
        </p:nvSpPr>
        <p:spPr>
          <a:xfrm>
            <a:off x="8860536" y="1600200"/>
            <a:ext cx="2596896" cy="411480"/>
          </a:xfrm>
          <a:prstGeom prst="rect">
            <a:avLst/>
          </a:prstGeom>
          <a:noFill/>
          <a:ln/>
        </p:spPr>
        <p:txBody>
          <a:bodyPr wrap="square" lIns="0" tIns="0" rIns="0" bIns="0" rtlCol="0" anchor="t"/>
          <a:lstStyle/>
          <a:p>
            <a:pPr algn="l" indent="0" marL="0">
              <a:buNone/>
            </a:pPr>
            <a:r>
              <a:rPr lang="en-US" sz="1700" b="1" dirty="0">
                <a:solidFill>
                  <a:schemeClr val="accent2"/>
                </a:solidFill>
              </a:rPr>
              <a:t>Local costmap</a:t>
            </a:r>
            <a:endParaRPr lang="en-US" sz="1700" dirty="0"/>
          </a:p>
        </p:txBody>
      </p:sp>
      <p:sp>
        <p:nvSpPr>
          <p:cNvPr id="16" name="Local costmap list"/>
          <p:cNvSpPr txBox="1"/>
          <p:nvPr/>
        </p:nvSpPr>
        <p:spPr>
          <a:xfrm>
            <a:off x="8860536" y="2103120"/>
            <a:ext cx="2596896" cy="18745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frame: odom — 3 × 3 m around the robot</a:t>
            </a:r>
            <a:endParaRPr lang="en-US" sz="1400" dirty="0"/>
          </a:p>
          <a:p>
            <a:pPr algn="l" marL="342900" indent="-342900">
              <a:spcAft>
                <a:spcPts val="600"/>
              </a:spcAft>
              <a:buSzPct val="100000"/>
              <a:buChar char="•"/>
            </a:pPr>
            <a:r>
              <a:rPr lang="en-US" sz="1400" dirty="0">
                <a:solidFill>
                  <a:schemeClr val="tx1"/>
                </a:solidFill>
              </a:rPr>
              <a:t>layers: voxel + inflation</a:t>
            </a:r>
            <a:endParaRPr lang="en-US" sz="1400" dirty="0"/>
          </a:p>
          <a:p>
            <a:pPr algn="l" marL="342900" indent="-342900">
              <a:spcAft>
                <a:spcPts val="600"/>
              </a:spcAft>
              <a:buSzPct val="100000"/>
              <a:buChar char="•"/>
            </a:pPr>
            <a:r>
              <a:rPr lang="en-US" sz="1400" dirty="0">
                <a:solidFill>
                  <a:schemeClr val="tx1"/>
                </a:solidFill>
              </a:rPr>
              <a:t>used by the controller · updates 5 Hz</a:t>
            </a:r>
            <a:endParaRPr lang="en-US" sz="1400" dirty="0"/>
          </a:p>
        </p:txBody>
      </p:sp>
      <p:sp>
        <p:nvSpPr>
          <p:cNvPr id="17" name="Cost scale title"/>
          <p:cNvSpPr txBox="1"/>
          <p:nvPr/>
        </p:nvSpPr>
        <p:spPr>
          <a:xfrm>
            <a:off x="5577840" y="4343400"/>
            <a:ext cx="6062472" cy="320040"/>
          </a:xfrm>
          <a:prstGeom prst="rect">
            <a:avLst/>
          </a:prstGeom>
          <a:noFill/>
          <a:ln/>
        </p:spPr>
        <p:txBody>
          <a:bodyPr wrap="square" lIns="0" tIns="0" rIns="0" bIns="0" rtlCol="0" anchor="t"/>
          <a:lstStyle/>
          <a:p>
            <a:pPr algn="l" indent="0" marL="0">
              <a:buNone/>
            </a:pPr>
            <a:r>
              <a:rPr lang="en-US" sz="1400" b="1" dirty="0">
                <a:solidFill>
                  <a:schemeClr val="tx1"/>
                </a:solidFill>
              </a:rPr>
              <a:t>Cost value of a cell</a:t>
            </a:r>
            <a:endParaRPr lang="en-US" sz="1400" dirty="0"/>
          </a:p>
        </p:txBody>
      </p:sp>
      <p:sp>
        <p:nvSpPr>
          <p:cNvPr id="18" name="Cost 0"/>
          <p:cNvSpPr/>
          <p:nvPr/>
        </p:nvSpPr>
        <p:spPr>
          <a:xfrm>
            <a:off x="5577840" y="4709160"/>
            <a:ext cx="1212494" cy="960120"/>
          </a:xfrm>
          <a:prstGeom prst="rect">
            <a:avLst/>
          </a:prstGeom>
          <a:solidFill>
            <a:schemeClr val="bg1"/>
          </a:solidFill>
          <a:ln w="9525">
            <a:solidFill>
              <a:schemeClr val="accent6"/>
            </a:solidFill>
          </a:ln>
        </p:spPr>
        <p:txBody>
          <a:bodyPr wrap="square" lIns="76200" tIns="76200" rIns="76200" bIns="76200" rtlCol="0" anchor="ctr"/>
          <a:lstStyle/>
          <a:p>
            <a:pPr algn="ctr" indent="0" marL="0">
              <a:buNone/>
            </a:pPr>
            <a:r>
              <a:rPr lang="en-US" sz="1400" b="1" dirty="0">
                <a:solidFill>
                  <a:schemeClr val="tx1"/>
                </a:solidFill>
              </a:rPr>
              <a:t>0</a:t>
            </a:r>
            <a:endParaRPr lang="en-US" sz="1400" dirty="0"/>
          </a:p>
          <a:p>
            <a:pPr algn="ctr" indent="0" marL="0">
              <a:buNone/>
            </a:pPr>
            <a:r>
              <a:rPr lang="en-US" sz="1400" dirty="0">
                <a:solidFill>
                  <a:schemeClr val="tx1"/>
                </a:solidFill>
              </a:rPr>
              <a:t>free</a:t>
            </a:r>
            <a:endParaRPr lang="en-US" sz="1400" dirty="0"/>
          </a:p>
        </p:txBody>
      </p:sp>
      <p:sp>
        <p:nvSpPr>
          <p:cNvPr id="19" name="Cost 1–252"/>
          <p:cNvSpPr/>
          <p:nvPr/>
        </p:nvSpPr>
        <p:spPr>
          <a:xfrm>
            <a:off x="6790334" y="4709160"/>
            <a:ext cx="1212494" cy="960120"/>
          </a:xfrm>
          <a:prstGeom prst="rect">
            <a:avLst/>
          </a:prstGeom>
          <a:solidFill>
            <a:schemeClr val="accent1">
              <a:alpha val="40000"/>
            </a:schemeClr>
          </a:solidFill>
          <a:ln w="9525">
            <a:solidFill>
              <a:schemeClr val="accent6"/>
            </a:solidFill>
          </a:ln>
        </p:spPr>
        <p:txBody>
          <a:bodyPr wrap="square" lIns="76200" tIns="76200" rIns="76200" bIns="76200" rtlCol="0" anchor="ctr"/>
          <a:lstStyle/>
          <a:p>
            <a:pPr algn="ctr" indent="0" marL="0">
              <a:buNone/>
            </a:pPr>
            <a:r>
              <a:rPr lang="en-US" sz="1400" b="1" dirty="0">
                <a:solidFill>
                  <a:schemeClr val="tx1"/>
                </a:solidFill>
              </a:rPr>
              <a:t>1–252</a:t>
            </a:r>
            <a:endParaRPr lang="en-US" sz="1400" dirty="0"/>
          </a:p>
          <a:p>
            <a:pPr algn="ctr" indent="0" marL="0">
              <a:buNone/>
            </a:pPr>
            <a:r>
              <a:rPr lang="en-US" sz="1400" dirty="0">
                <a:solidFill>
                  <a:schemeClr val="tx1"/>
                </a:solidFill>
              </a:rPr>
              <a:t>inflated</a:t>
            </a:r>
            <a:endParaRPr lang="en-US" sz="1400" dirty="0"/>
          </a:p>
        </p:txBody>
      </p:sp>
      <p:sp>
        <p:nvSpPr>
          <p:cNvPr id="20" name="Cost 253"/>
          <p:cNvSpPr/>
          <p:nvPr/>
        </p:nvSpPr>
        <p:spPr>
          <a:xfrm>
            <a:off x="8002829" y="4709160"/>
            <a:ext cx="1212494" cy="960120"/>
          </a:xfrm>
          <a:prstGeom prst="rect">
            <a:avLst/>
          </a:prstGeom>
          <a:solidFill>
            <a:schemeClr val="accent5">
              <a:alpha val="55000"/>
            </a:schemeClr>
          </a:solidFill>
          <a:ln w="9525">
            <a:solidFill>
              <a:schemeClr val="accent6"/>
            </a:solidFill>
          </a:ln>
        </p:spPr>
        <p:txBody>
          <a:bodyPr wrap="square" lIns="76200" tIns="76200" rIns="76200" bIns="76200" rtlCol="0" anchor="ctr"/>
          <a:lstStyle/>
          <a:p>
            <a:pPr algn="ctr" indent="0" marL="0">
              <a:buNone/>
            </a:pPr>
            <a:r>
              <a:rPr lang="en-US" sz="1400" b="1" dirty="0">
                <a:solidFill>
                  <a:schemeClr val="tx1"/>
                </a:solidFill>
              </a:rPr>
              <a:t>253</a:t>
            </a:r>
            <a:endParaRPr lang="en-US" sz="1400" dirty="0"/>
          </a:p>
          <a:p>
            <a:pPr algn="ctr" indent="0" marL="0">
              <a:buNone/>
            </a:pPr>
            <a:r>
              <a:rPr lang="en-US" sz="1400" dirty="0">
                <a:solidFill>
                  <a:schemeClr val="tx1"/>
                </a:solidFill>
              </a:rPr>
              <a:t>inscribed</a:t>
            </a:r>
            <a:endParaRPr lang="en-US" sz="1400" dirty="0"/>
          </a:p>
        </p:txBody>
      </p:sp>
      <p:sp>
        <p:nvSpPr>
          <p:cNvPr id="21" name="Cost 254"/>
          <p:cNvSpPr/>
          <p:nvPr/>
        </p:nvSpPr>
        <p:spPr>
          <a:xfrm>
            <a:off x="9215323" y="4709160"/>
            <a:ext cx="1212494" cy="960120"/>
          </a:xfrm>
          <a:prstGeom prst="rect">
            <a:avLst/>
          </a:prstGeom>
          <a:solidFill>
            <a:schemeClr val="accent5"/>
          </a:solidFill>
          <a:ln w="9525">
            <a:solidFill>
              <a:schemeClr val="accent6"/>
            </a:solidFill>
          </a:ln>
        </p:spPr>
        <p:txBody>
          <a:bodyPr wrap="square" lIns="76200" tIns="76200" rIns="76200" bIns="76200" rtlCol="0" anchor="ctr"/>
          <a:lstStyle/>
          <a:p>
            <a:pPr algn="ctr" indent="0" marL="0">
              <a:buNone/>
            </a:pPr>
            <a:r>
              <a:rPr lang="en-US" sz="1400" b="1" dirty="0">
                <a:solidFill>
                  <a:schemeClr val="bg1"/>
                </a:solidFill>
              </a:rPr>
              <a:t>254</a:t>
            </a:r>
            <a:endParaRPr lang="en-US" sz="1400" dirty="0"/>
          </a:p>
          <a:p>
            <a:pPr algn="ctr" indent="0" marL="0">
              <a:buNone/>
            </a:pPr>
            <a:r>
              <a:rPr lang="en-US" sz="1400" dirty="0">
                <a:solidFill>
                  <a:schemeClr val="bg1"/>
                </a:solidFill>
              </a:rPr>
              <a:t>lethal</a:t>
            </a:r>
            <a:endParaRPr lang="en-US" sz="1400" dirty="0"/>
          </a:p>
        </p:txBody>
      </p:sp>
      <p:sp>
        <p:nvSpPr>
          <p:cNvPr id="22" name="Cost 255"/>
          <p:cNvSpPr/>
          <p:nvPr/>
        </p:nvSpPr>
        <p:spPr>
          <a:xfrm>
            <a:off x="10427818" y="4709160"/>
            <a:ext cx="1212494" cy="960120"/>
          </a:xfrm>
          <a:prstGeom prst="rect">
            <a:avLst/>
          </a:prstGeom>
          <a:solidFill>
            <a:schemeClr val="accent6">
              <a:alpha val="50000"/>
            </a:schemeClr>
          </a:solidFill>
          <a:ln w="9525">
            <a:solidFill>
              <a:schemeClr val="accent6"/>
            </a:solidFill>
          </a:ln>
        </p:spPr>
        <p:txBody>
          <a:bodyPr wrap="square" lIns="76200" tIns="76200" rIns="76200" bIns="76200" rtlCol="0" anchor="ctr"/>
          <a:lstStyle/>
          <a:p>
            <a:pPr algn="ctr" indent="0" marL="0">
              <a:buNone/>
            </a:pPr>
            <a:r>
              <a:rPr lang="en-US" sz="1400" b="1" dirty="0">
                <a:solidFill>
                  <a:schemeClr val="tx1"/>
                </a:solidFill>
              </a:rPr>
              <a:t>255</a:t>
            </a:r>
            <a:endParaRPr lang="en-US" sz="1400" dirty="0"/>
          </a:p>
          <a:p>
            <a:pPr algn="ctr" indent="0" marL="0">
              <a:buNone/>
            </a:pPr>
            <a:r>
              <a:rPr lang="en-US" sz="1400" dirty="0">
                <a:solidFill>
                  <a:schemeClr val="tx1"/>
                </a:solidFill>
              </a:rPr>
              <a:t>unknown</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Inflation: cost falls with distance from an obstacle</a:t>
            </a:r>
            <a:endParaRPr lang="en-US" sz="2800" dirty="0"/>
          </a:p>
        </p:txBody>
      </p:sp>
      <p:graphicFrame>
        <p:nvGraphicFramePr>
          <p:cNvPr id="4" name="Inflation chart" descr=""/>
          <p:cNvGraphicFramePr/>
          <p:nvPr/>
        </p:nvGraphicFramePr>
        <p:xfrm>
          <a:off x="548640" y="1371600"/>
          <a:ext cx="7040880" cy="4709160"/>
        </p:xfrm>
        <a:graphic xmlns:a="http://schemas.openxmlformats.org/drawingml/2006/main">
          <a:graphicData uri="http://schemas.openxmlformats.org/drawingml/2006/chart">
            <c:chart xmlns:c="http://schemas.openxmlformats.org/drawingml/2006/chart" r:id="rId1"/>
          </a:graphicData>
        </a:graphic>
      </p:graphicFrame>
      <p:sp>
        <p:nvSpPr>
          <p:cNvPr id="5" name="Inflation notes card"/>
          <p:cNvSpPr/>
          <p:nvPr/>
        </p:nvSpPr>
        <p:spPr>
          <a:xfrm>
            <a:off x="7863840" y="1417320"/>
            <a:ext cx="3776472" cy="4663440"/>
          </a:xfrm>
          <a:prstGeom prst="roundRect">
            <a:avLst>
              <a:gd name="adj" fmla="val 2421"/>
            </a:avLst>
          </a:prstGeom>
          <a:solidFill>
            <a:schemeClr val="bg2"/>
          </a:solidFill>
          <a:ln w="6350">
            <a:solidFill>
              <a:schemeClr val="bg2"/>
            </a:solidFill>
            <a:prstDash val="solid"/>
          </a:ln>
        </p:spPr>
      </p:sp>
      <p:sp>
        <p:nvSpPr>
          <p:cNvPr id="6" name="Inflation formula"/>
          <p:cNvSpPr txBox="1"/>
          <p:nvPr/>
        </p:nvSpPr>
        <p:spPr>
          <a:xfrm>
            <a:off x="8092440" y="1600200"/>
            <a:ext cx="3383280" cy="457200"/>
          </a:xfrm>
          <a:prstGeom prst="rect">
            <a:avLst/>
          </a:prstGeom>
          <a:noFill/>
          <a:ln/>
        </p:spPr>
        <p:txBody>
          <a:bodyPr wrap="square" lIns="0" tIns="0" rIns="0" bIns="0" rtlCol="0" anchor="t"/>
          <a:lstStyle/>
          <a:p>
            <a:pPr algn="l" indent="0" marL="0">
              <a:buNone/>
            </a:pPr>
            <a:r>
              <a:rPr lang="en-US" sz="1800" i="1" dirty="0">
                <a:solidFill>
                  <a:schemeClr val="tx1"/>
                </a:solidFill>
                <a:latin typeface="Cambria" pitchFamily="34" charset="0"/>
                <a:ea typeface="Cambria" pitchFamily="34" charset="-122"/>
                <a:cs typeface="Cambria" pitchFamily="34" charset="-120"/>
              </a:rPr>
              <a:t>cost = 252 · e^(−k·(d − r))</a:t>
            </a:r>
            <a:endParaRPr lang="en-US" sz="1800" dirty="0"/>
          </a:p>
        </p:txBody>
      </p:sp>
      <p:sp>
        <p:nvSpPr>
          <p:cNvPr id="7" name="Formula legend"/>
          <p:cNvSpPr txBox="1"/>
          <p:nvPr/>
        </p:nvSpPr>
        <p:spPr>
          <a:xfrm>
            <a:off x="8092440" y="2057400"/>
            <a:ext cx="3383280" cy="548640"/>
          </a:xfrm>
          <a:prstGeom prst="rect">
            <a:avLst/>
          </a:prstGeom>
          <a:noFill/>
          <a:ln/>
        </p:spPr>
        <p:txBody>
          <a:bodyPr wrap="square" lIns="0" tIns="0" rIns="0" bIns="0" rtlCol="0" anchor="t"/>
          <a:lstStyle/>
          <a:p>
            <a:pPr algn="l" indent="0" marL="0">
              <a:buNone/>
            </a:pPr>
            <a:r>
              <a:rPr lang="en-US" sz="1300" dirty="0">
                <a:solidFill>
                  <a:schemeClr val="tx2"/>
                </a:solidFill>
              </a:rPr>
              <a:t>r = robot_radius 0.22 m, k = cost_scaling_factor</a:t>
            </a:r>
            <a:endParaRPr lang="en-US" sz="1300" dirty="0"/>
          </a:p>
        </p:txBody>
      </p:sp>
      <p:sp>
        <p:nvSpPr>
          <p:cNvPr id="8" name="Inflation points"/>
          <p:cNvSpPr txBox="1"/>
          <p:nvPr/>
        </p:nvSpPr>
        <p:spPr>
          <a:xfrm>
            <a:off x="8092440" y="2743200"/>
            <a:ext cx="3383280" cy="3200400"/>
          </a:xfrm>
          <a:prstGeom prst="rect">
            <a:avLst/>
          </a:prstGeom>
          <a:noFill/>
          <a:ln/>
        </p:spPr>
        <p:txBody>
          <a:bodyPr wrap="square" lIns="0" tIns="0" rIns="0" bIns="0" rtlCol="0" anchor="t"/>
          <a:lstStyle/>
          <a:p>
            <a:pPr algn="l" marL="342900" indent="-342900">
              <a:spcAft>
                <a:spcPts val="800"/>
              </a:spcAft>
              <a:buSzPct val="100000"/>
              <a:buChar char="•"/>
            </a:pPr>
            <a:r>
              <a:rPr lang="en-US" sz="1400" b="1" dirty="0">
                <a:solidFill>
                  <a:schemeClr val="tx1"/>
                </a:solidFill>
              </a:rPr>
              <a:t>d ≤ 0.22 m → 253: </a:t>
            </a:r>
            <a:pPr algn="l" marL="342900" indent="-342900">
              <a:spcAft>
                <a:spcPts val="800"/>
              </a:spcAft>
              <a:buSzPct val="100000"/>
              <a:buChar char="•"/>
            </a:pPr>
            <a:r>
              <a:rPr lang="en-US" sz="1400" dirty="0">
                <a:solidFill>
                  <a:schemeClr val="tx1"/>
                </a:solidFill>
              </a:rPr>
              <a:t>robot would touch, never planned</a:t>
            </a:r>
            <a:endParaRPr lang="en-US" sz="1400" dirty="0"/>
          </a:p>
          <a:p>
            <a:pPr algn="l" marL="342900" indent="-342900">
              <a:spcAft>
                <a:spcPts val="800"/>
              </a:spcAft>
              <a:buSzPct val="100000"/>
              <a:buChar char="•"/>
            </a:pPr>
            <a:r>
              <a:rPr lang="en-US" sz="1400" b="1" dirty="0">
                <a:solidFill>
                  <a:schemeClr val="tx1"/>
                </a:solidFill>
              </a:rPr>
              <a:t>d &gt; 0.55 m → 0: </a:t>
            </a:r>
            <a:pPr algn="l" marL="342900" indent="-342900">
              <a:spcAft>
                <a:spcPts val="800"/>
              </a:spcAft>
              <a:buSzPct val="100000"/>
              <a:buChar char="•"/>
            </a:pPr>
            <a:r>
              <a:rPr lang="en-US" sz="1400" dirty="0">
                <a:solidFill>
                  <a:schemeClr val="tx1"/>
                </a:solidFill>
              </a:rPr>
              <a:t>free (inflation_radius)</a:t>
            </a:r>
            <a:endParaRPr lang="en-US" sz="1400" dirty="0"/>
          </a:p>
          <a:p>
            <a:pPr algn="l" marL="342900" indent="-342900">
              <a:spcAft>
                <a:spcPts val="800"/>
              </a:spcAft>
              <a:buSzPct val="100000"/>
              <a:buChar char="•"/>
            </a:pPr>
            <a:r>
              <a:rPr lang="en-US" sz="1400" b="1" dirty="0">
                <a:solidFill>
                  <a:schemeClr val="tx1"/>
                </a:solidFill>
              </a:rPr>
              <a:t>Higher k: </a:t>
            </a:r>
            <a:pPr algn="l" marL="342900" indent="-342900">
              <a:spcAft>
                <a:spcPts val="800"/>
              </a:spcAft>
              <a:buSzPct val="100000"/>
              <a:buChar char="•"/>
            </a:pPr>
            <a:r>
              <a:rPr lang="en-US" sz="1400" dirty="0">
                <a:solidFill>
                  <a:schemeClr val="tx1"/>
                </a:solidFill>
              </a:rPr>
              <a:t>passes closer to tables — good in narrow rooms</a:t>
            </a:r>
            <a:endParaRPr lang="en-US" sz="1400" dirty="0"/>
          </a:p>
          <a:p>
            <a:pPr algn="l" marL="342900" indent="-342900">
              <a:spcAft>
                <a:spcPts val="800"/>
              </a:spcAft>
              <a:buSzPct val="100000"/>
              <a:buChar char="•"/>
            </a:pPr>
            <a:r>
              <a:rPr lang="en-US" sz="1400" b="1" dirty="0">
                <a:solidFill>
                  <a:schemeClr val="tx1"/>
                </a:solidFill>
              </a:rPr>
              <a:t>Lower k: </a:t>
            </a:r>
            <a:pPr algn="l" marL="342900" indent="-342900">
              <a:spcAft>
                <a:spcPts val="800"/>
              </a:spcAft>
              <a:buSzPct val="100000"/>
              <a:buChar char="•"/>
            </a:pPr>
            <a:r>
              <a:rPr lang="en-US" sz="1400" dirty="0">
                <a:solidFill>
                  <a:schemeClr val="tx1"/>
                </a:solidFill>
              </a:rPr>
              <a:t>keeps away — safer, but may not fit between tables</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Global planner: search the costmap grid for the cheapest path</a:t>
            </a:r>
            <a:endParaRPr lang="en-US" sz="2800" dirty="0"/>
          </a:p>
        </p:txBody>
      </p:sp>
      <p:sp>
        <p:nvSpPr>
          <p:cNvPr id="4" name="Dijkstra  (NavFn default, use_astar: false) label"/>
          <p:cNvSpPr txBox="1"/>
          <p:nvPr/>
        </p:nvSpPr>
        <p:spPr>
          <a:xfrm>
            <a:off x="548640" y="1325880"/>
            <a:ext cx="5120640" cy="548640"/>
          </a:xfrm>
          <a:prstGeom prst="rect">
            <a:avLst/>
          </a:prstGeom>
          <a:noFill/>
          <a:ln/>
        </p:spPr>
        <p:txBody>
          <a:bodyPr wrap="square" lIns="0" tIns="0" rIns="0" bIns="0" rtlCol="0" anchor="t"/>
          <a:lstStyle/>
          <a:p>
            <a:pPr algn="l" indent="0" marL="0">
              <a:buNone/>
            </a:pPr>
            <a:r>
              <a:rPr lang="en-US" sz="1600" b="1" dirty="0">
                <a:solidFill>
                  <a:schemeClr val="tx1"/>
                </a:solidFill>
              </a:rPr>
              <a:t>Dijkstra  (NavFn default, use_astar: false)</a:t>
            </a:r>
            <a:endParaRPr lang="en-US" sz="1600" dirty="0"/>
          </a:p>
          <a:p>
            <a:pPr algn="l" indent="0" marL="0">
              <a:buNone/>
            </a:pPr>
            <a:r>
              <a:rPr lang="en-US" sz="1400" dirty="0">
                <a:solidFill>
                  <a:schemeClr val="tx2"/>
                </a:solidFill>
              </a:rPr>
              <a:t>134 cells expanded · path length 21</a:t>
            </a:r>
            <a:endParaRPr lang="en-US" sz="1600" dirty="0"/>
          </a:p>
        </p:txBody>
      </p:sp>
      <p:sp>
        <p:nvSpPr>
          <p:cNvPr id="5" name="Dijkstra  (NavFn default, use_astar: false) grid"/>
          <p:cNvSpPr/>
          <p:nvPr/>
        </p:nvSpPr>
        <p:spPr>
          <a:xfrm>
            <a:off x="548640" y="1965960"/>
            <a:ext cx="5120640" cy="3200400"/>
          </a:xfrm>
          <a:prstGeom prst="rect">
            <a:avLst/>
          </a:prstGeom>
          <a:solidFill>
            <a:schemeClr val="bg1"/>
          </a:solidFill>
          <a:ln w="9525">
            <a:solidFill>
              <a:schemeClr val="accent6"/>
            </a:solidFill>
            <a:prstDash val="solid"/>
          </a:ln>
        </p:spPr>
      </p:sp>
      <p:sp>
        <p:nvSpPr>
          <p:cNvPr id="6" name="Expanded 2,5"/>
          <p:cNvSpPr/>
          <p:nvPr/>
        </p:nvSpPr>
        <p:spPr>
          <a:xfrm>
            <a:off x="118872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7" name="Expanded 1,6"/>
          <p:cNvSpPr/>
          <p:nvPr/>
        </p:nvSpPr>
        <p:spPr>
          <a:xfrm>
            <a:off x="86868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8" name="Expanded 2,7"/>
          <p:cNvSpPr/>
          <p:nvPr/>
        </p:nvSpPr>
        <p:spPr>
          <a:xfrm>
            <a:off x="118872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9" name="Expanded 3,5"/>
          <p:cNvSpPr/>
          <p:nvPr/>
        </p:nvSpPr>
        <p:spPr>
          <a:xfrm>
            <a:off x="150876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0" name="Expanded 3,7"/>
          <p:cNvSpPr/>
          <p:nvPr/>
        </p:nvSpPr>
        <p:spPr>
          <a:xfrm>
            <a:off x="150876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1" name="Expanded 2,4"/>
          <p:cNvSpPr/>
          <p:nvPr/>
        </p:nvSpPr>
        <p:spPr>
          <a:xfrm>
            <a:off x="118872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2" name="Expanded 1,5"/>
          <p:cNvSpPr/>
          <p:nvPr/>
        </p:nvSpPr>
        <p:spPr>
          <a:xfrm>
            <a:off x="86868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3" name="Expanded 0,6"/>
          <p:cNvSpPr/>
          <p:nvPr/>
        </p:nvSpPr>
        <p:spPr>
          <a:xfrm>
            <a:off x="54864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14" name="Expanded 1,7"/>
          <p:cNvSpPr/>
          <p:nvPr/>
        </p:nvSpPr>
        <p:spPr>
          <a:xfrm>
            <a:off x="86868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5" name="Expanded 2,8"/>
          <p:cNvSpPr/>
          <p:nvPr/>
        </p:nvSpPr>
        <p:spPr>
          <a:xfrm>
            <a:off x="118872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6" name="Expanded 4,5"/>
          <p:cNvSpPr/>
          <p:nvPr/>
        </p:nvSpPr>
        <p:spPr>
          <a:xfrm>
            <a:off x="182880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7" name="Expanded 4,7"/>
          <p:cNvSpPr/>
          <p:nvPr/>
        </p:nvSpPr>
        <p:spPr>
          <a:xfrm>
            <a:off x="182880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 name="Expanded 3,4"/>
          <p:cNvSpPr/>
          <p:nvPr/>
        </p:nvSpPr>
        <p:spPr>
          <a:xfrm>
            <a:off x="150876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9" name="Expanded 3,8"/>
          <p:cNvSpPr/>
          <p:nvPr/>
        </p:nvSpPr>
        <p:spPr>
          <a:xfrm>
            <a:off x="150876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0" name="Expanded 2,3"/>
          <p:cNvSpPr/>
          <p:nvPr/>
        </p:nvSpPr>
        <p:spPr>
          <a:xfrm>
            <a:off x="118872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1" name="Expanded 1,4"/>
          <p:cNvSpPr/>
          <p:nvPr/>
        </p:nvSpPr>
        <p:spPr>
          <a:xfrm>
            <a:off x="86868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2" name="Expanded 0,5"/>
          <p:cNvSpPr/>
          <p:nvPr/>
        </p:nvSpPr>
        <p:spPr>
          <a:xfrm>
            <a:off x="54864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23" name="Expanded 0,7"/>
          <p:cNvSpPr/>
          <p:nvPr/>
        </p:nvSpPr>
        <p:spPr>
          <a:xfrm>
            <a:off x="54864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24" name="Expanded 1,8"/>
          <p:cNvSpPr/>
          <p:nvPr/>
        </p:nvSpPr>
        <p:spPr>
          <a:xfrm>
            <a:off x="86868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5" name="Expanded 2,9"/>
          <p:cNvSpPr/>
          <p:nvPr/>
        </p:nvSpPr>
        <p:spPr>
          <a:xfrm>
            <a:off x="118872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6" name="Expanded 5,5"/>
          <p:cNvSpPr/>
          <p:nvPr/>
        </p:nvSpPr>
        <p:spPr>
          <a:xfrm>
            <a:off x="214884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27" name="Expanded 5,7"/>
          <p:cNvSpPr/>
          <p:nvPr/>
        </p:nvSpPr>
        <p:spPr>
          <a:xfrm>
            <a:off x="214884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28" name="Expanded 4,4"/>
          <p:cNvSpPr/>
          <p:nvPr/>
        </p:nvSpPr>
        <p:spPr>
          <a:xfrm>
            <a:off x="182880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9" name="Expanded 4,8"/>
          <p:cNvSpPr/>
          <p:nvPr/>
        </p:nvSpPr>
        <p:spPr>
          <a:xfrm>
            <a:off x="182880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30" name="Expanded 3,3"/>
          <p:cNvSpPr/>
          <p:nvPr/>
        </p:nvSpPr>
        <p:spPr>
          <a:xfrm>
            <a:off x="150876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31" name="Expanded 3,9"/>
          <p:cNvSpPr/>
          <p:nvPr/>
        </p:nvSpPr>
        <p:spPr>
          <a:xfrm>
            <a:off x="150876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32" name="Expanded 2,2"/>
          <p:cNvSpPr/>
          <p:nvPr/>
        </p:nvSpPr>
        <p:spPr>
          <a:xfrm>
            <a:off x="118872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33" name="Expanded 1,3"/>
          <p:cNvSpPr/>
          <p:nvPr/>
        </p:nvSpPr>
        <p:spPr>
          <a:xfrm>
            <a:off x="86868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34" name="Expanded 0,4"/>
          <p:cNvSpPr/>
          <p:nvPr/>
        </p:nvSpPr>
        <p:spPr>
          <a:xfrm>
            <a:off x="54864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35" name="Expanded 0,8"/>
          <p:cNvSpPr/>
          <p:nvPr/>
        </p:nvSpPr>
        <p:spPr>
          <a:xfrm>
            <a:off x="54864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36" name="Expanded 1,9"/>
          <p:cNvSpPr/>
          <p:nvPr/>
        </p:nvSpPr>
        <p:spPr>
          <a:xfrm>
            <a:off x="86868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37" name="Expanded 6,5"/>
          <p:cNvSpPr/>
          <p:nvPr/>
        </p:nvSpPr>
        <p:spPr>
          <a:xfrm>
            <a:off x="246888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38" name="Expanded 6,7"/>
          <p:cNvSpPr/>
          <p:nvPr/>
        </p:nvSpPr>
        <p:spPr>
          <a:xfrm>
            <a:off x="246888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39" name="Expanded 5,4"/>
          <p:cNvSpPr/>
          <p:nvPr/>
        </p:nvSpPr>
        <p:spPr>
          <a:xfrm>
            <a:off x="214884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40" name="Expanded 5,8"/>
          <p:cNvSpPr/>
          <p:nvPr/>
        </p:nvSpPr>
        <p:spPr>
          <a:xfrm>
            <a:off x="214884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41" name="Expanded 4,3"/>
          <p:cNvSpPr/>
          <p:nvPr/>
        </p:nvSpPr>
        <p:spPr>
          <a:xfrm>
            <a:off x="182880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42" name="Expanded 4,9"/>
          <p:cNvSpPr/>
          <p:nvPr/>
        </p:nvSpPr>
        <p:spPr>
          <a:xfrm>
            <a:off x="182880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43" name="Expanded 3,2"/>
          <p:cNvSpPr/>
          <p:nvPr/>
        </p:nvSpPr>
        <p:spPr>
          <a:xfrm>
            <a:off x="150876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44" name="Expanded 2,1"/>
          <p:cNvSpPr/>
          <p:nvPr/>
        </p:nvSpPr>
        <p:spPr>
          <a:xfrm>
            <a:off x="118872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45" name="Expanded 1,2"/>
          <p:cNvSpPr/>
          <p:nvPr/>
        </p:nvSpPr>
        <p:spPr>
          <a:xfrm>
            <a:off x="86868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46" name="Expanded 0,3"/>
          <p:cNvSpPr/>
          <p:nvPr/>
        </p:nvSpPr>
        <p:spPr>
          <a:xfrm>
            <a:off x="54864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47" name="Expanded 0,9"/>
          <p:cNvSpPr/>
          <p:nvPr/>
        </p:nvSpPr>
        <p:spPr>
          <a:xfrm>
            <a:off x="54864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48" name="Expanded 7,7"/>
          <p:cNvSpPr/>
          <p:nvPr/>
        </p:nvSpPr>
        <p:spPr>
          <a:xfrm>
            <a:off x="278892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49" name="Expanded 6,4"/>
          <p:cNvSpPr/>
          <p:nvPr/>
        </p:nvSpPr>
        <p:spPr>
          <a:xfrm>
            <a:off x="246888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50" name="Expanded 6,8"/>
          <p:cNvSpPr/>
          <p:nvPr/>
        </p:nvSpPr>
        <p:spPr>
          <a:xfrm>
            <a:off x="246888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51" name="Expanded 5,3"/>
          <p:cNvSpPr/>
          <p:nvPr/>
        </p:nvSpPr>
        <p:spPr>
          <a:xfrm>
            <a:off x="214884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52" name="Expanded 5,9"/>
          <p:cNvSpPr/>
          <p:nvPr/>
        </p:nvSpPr>
        <p:spPr>
          <a:xfrm>
            <a:off x="214884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53" name="Expanded 4,2"/>
          <p:cNvSpPr/>
          <p:nvPr/>
        </p:nvSpPr>
        <p:spPr>
          <a:xfrm>
            <a:off x="182880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54" name="Expanded 3,1"/>
          <p:cNvSpPr/>
          <p:nvPr/>
        </p:nvSpPr>
        <p:spPr>
          <a:xfrm>
            <a:off x="150876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55" name="Expanded 2,0"/>
          <p:cNvSpPr/>
          <p:nvPr/>
        </p:nvSpPr>
        <p:spPr>
          <a:xfrm>
            <a:off x="118872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56" name="Expanded 1,1"/>
          <p:cNvSpPr/>
          <p:nvPr/>
        </p:nvSpPr>
        <p:spPr>
          <a:xfrm>
            <a:off x="86868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57" name="Expanded 0,2"/>
          <p:cNvSpPr/>
          <p:nvPr/>
        </p:nvSpPr>
        <p:spPr>
          <a:xfrm>
            <a:off x="54864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58" name="Expanded 7,8"/>
          <p:cNvSpPr/>
          <p:nvPr/>
        </p:nvSpPr>
        <p:spPr>
          <a:xfrm>
            <a:off x="278892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59" name="Expanded 6,3"/>
          <p:cNvSpPr/>
          <p:nvPr/>
        </p:nvSpPr>
        <p:spPr>
          <a:xfrm>
            <a:off x="246888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60" name="Expanded 6,9"/>
          <p:cNvSpPr/>
          <p:nvPr/>
        </p:nvSpPr>
        <p:spPr>
          <a:xfrm>
            <a:off x="246888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61" name="Expanded 5,2"/>
          <p:cNvSpPr/>
          <p:nvPr/>
        </p:nvSpPr>
        <p:spPr>
          <a:xfrm>
            <a:off x="214884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62" name="Expanded 4,1"/>
          <p:cNvSpPr/>
          <p:nvPr/>
        </p:nvSpPr>
        <p:spPr>
          <a:xfrm>
            <a:off x="182880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63" name="Expanded 3,0"/>
          <p:cNvSpPr/>
          <p:nvPr/>
        </p:nvSpPr>
        <p:spPr>
          <a:xfrm>
            <a:off x="150876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64" name="Expanded 1,0"/>
          <p:cNvSpPr/>
          <p:nvPr/>
        </p:nvSpPr>
        <p:spPr>
          <a:xfrm>
            <a:off x="86868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65" name="Expanded 0,1"/>
          <p:cNvSpPr/>
          <p:nvPr/>
        </p:nvSpPr>
        <p:spPr>
          <a:xfrm>
            <a:off x="54864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66" name="Expanded 7,9"/>
          <p:cNvSpPr/>
          <p:nvPr/>
        </p:nvSpPr>
        <p:spPr>
          <a:xfrm>
            <a:off x="278892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67" name="Expanded 6,2"/>
          <p:cNvSpPr/>
          <p:nvPr/>
        </p:nvSpPr>
        <p:spPr>
          <a:xfrm>
            <a:off x="246888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68" name="Expanded 5,1"/>
          <p:cNvSpPr/>
          <p:nvPr/>
        </p:nvSpPr>
        <p:spPr>
          <a:xfrm>
            <a:off x="214884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69" name="Expanded 4,0"/>
          <p:cNvSpPr/>
          <p:nvPr/>
        </p:nvSpPr>
        <p:spPr>
          <a:xfrm>
            <a:off x="182880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0" name="Expanded 0,0"/>
          <p:cNvSpPr/>
          <p:nvPr/>
        </p:nvSpPr>
        <p:spPr>
          <a:xfrm>
            <a:off x="54864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1" name="Expanded 6,1"/>
          <p:cNvSpPr/>
          <p:nvPr/>
        </p:nvSpPr>
        <p:spPr>
          <a:xfrm>
            <a:off x="246888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72" name="Expanded 5,0"/>
          <p:cNvSpPr/>
          <p:nvPr/>
        </p:nvSpPr>
        <p:spPr>
          <a:xfrm>
            <a:off x="214884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3" name="Expanded 6,0"/>
          <p:cNvSpPr/>
          <p:nvPr/>
        </p:nvSpPr>
        <p:spPr>
          <a:xfrm>
            <a:off x="246888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4" name="Expanded 7,0"/>
          <p:cNvSpPr/>
          <p:nvPr/>
        </p:nvSpPr>
        <p:spPr>
          <a:xfrm>
            <a:off x="278892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5" name="Expanded 8,0"/>
          <p:cNvSpPr/>
          <p:nvPr/>
        </p:nvSpPr>
        <p:spPr>
          <a:xfrm>
            <a:off x="310896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6" name="Expanded 9,0"/>
          <p:cNvSpPr/>
          <p:nvPr/>
        </p:nvSpPr>
        <p:spPr>
          <a:xfrm>
            <a:off x="342900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7" name="Expanded 9,2"/>
          <p:cNvSpPr/>
          <p:nvPr/>
        </p:nvSpPr>
        <p:spPr>
          <a:xfrm>
            <a:off x="342900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78" name="Expanded 10,0"/>
          <p:cNvSpPr/>
          <p:nvPr/>
        </p:nvSpPr>
        <p:spPr>
          <a:xfrm>
            <a:off x="374904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79" name="Expanded 10,2"/>
          <p:cNvSpPr/>
          <p:nvPr/>
        </p:nvSpPr>
        <p:spPr>
          <a:xfrm>
            <a:off x="374904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80" name="Expanded 9,3"/>
          <p:cNvSpPr/>
          <p:nvPr/>
        </p:nvSpPr>
        <p:spPr>
          <a:xfrm>
            <a:off x="342900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81" name="Expanded 11,0"/>
          <p:cNvSpPr/>
          <p:nvPr/>
        </p:nvSpPr>
        <p:spPr>
          <a:xfrm>
            <a:off x="406908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82" name="Expanded 11,2"/>
          <p:cNvSpPr/>
          <p:nvPr/>
        </p:nvSpPr>
        <p:spPr>
          <a:xfrm>
            <a:off x="406908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83" name="Expanded 10,3"/>
          <p:cNvSpPr/>
          <p:nvPr/>
        </p:nvSpPr>
        <p:spPr>
          <a:xfrm>
            <a:off x="374904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84" name="Expanded 9,4"/>
          <p:cNvSpPr/>
          <p:nvPr/>
        </p:nvSpPr>
        <p:spPr>
          <a:xfrm>
            <a:off x="342900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85" name="Expanded 12,0"/>
          <p:cNvSpPr/>
          <p:nvPr/>
        </p:nvSpPr>
        <p:spPr>
          <a:xfrm>
            <a:off x="438912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86" name="Expanded 12,2"/>
          <p:cNvSpPr/>
          <p:nvPr/>
        </p:nvSpPr>
        <p:spPr>
          <a:xfrm>
            <a:off x="438912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87" name="Expanded 11,3"/>
          <p:cNvSpPr/>
          <p:nvPr/>
        </p:nvSpPr>
        <p:spPr>
          <a:xfrm>
            <a:off x="406908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88" name="Expanded 10,4"/>
          <p:cNvSpPr/>
          <p:nvPr/>
        </p:nvSpPr>
        <p:spPr>
          <a:xfrm>
            <a:off x="374904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89" name="Expanded 9,5"/>
          <p:cNvSpPr/>
          <p:nvPr/>
        </p:nvSpPr>
        <p:spPr>
          <a:xfrm>
            <a:off x="342900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90" name="Expanded 14,1"/>
          <p:cNvSpPr/>
          <p:nvPr/>
        </p:nvSpPr>
        <p:spPr>
          <a:xfrm>
            <a:off x="502920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91" name="Expanded 13,0"/>
          <p:cNvSpPr/>
          <p:nvPr/>
        </p:nvSpPr>
        <p:spPr>
          <a:xfrm>
            <a:off x="470916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92" name="Expanded 12,3"/>
          <p:cNvSpPr/>
          <p:nvPr/>
        </p:nvSpPr>
        <p:spPr>
          <a:xfrm>
            <a:off x="438912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93" name="Expanded 11,4"/>
          <p:cNvSpPr/>
          <p:nvPr/>
        </p:nvSpPr>
        <p:spPr>
          <a:xfrm>
            <a:off x="406908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94" name="Expanded 10,5"/>
          <p:cNvSpPr/>
          <p:nvPr/>
        </p:nvSpPr>
        <p:spPr>
          <a:xfrm>
            <a:off x="374904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95" name="Expanded 9,6"/>
          <p:cNvSpPr/>
          <p:nvPr/>
        </p:nvSpPr>
        <p:spPr>
          <a:xfrm>
            <a:off x="342900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96" name="Expanded 15,1"/>
          <p:cNvSpPr/>
          <p:nvPr/>
        </p:nvSpPr>
        <p:spPr>
          <a:xfrm>
            <a:off x="5349240" y="2286000"/>
            <a:ext cx="320040" cy="320040"/>
          </a:xfrm>
          <a:prstGeom prst="rect">
            <a:avLst/>
          </a:prstGeom>
          <a:solidFill>
            <a:schemeClr val="accent3">
              <a:alpha val="28000"/>
            </a:schemeClr>
          </a:solidFill>
          <a:ln w="6350">
            <a:solidFill>
              <a:schemeClr val="accent3">
                <a:alpha val="28000"/>
              </a:schemeClr>
            </a:solidFill>
            <a:prstDash val="solid"/>
          </a:ln>
        </p:spPr>
      </p:sp>
      <p:sp>
        <p:nvSpPr>
          <p:cNvPr id="97" name="Expanded 14,0"/>
          <p:cNvSpPr/>
          <p:nvPr/>
        </p:nvSpPr>
        <p:spPr>
          <a:xfrm>
            <a:off x="502920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98" name="Expanded 14,2"/>
          <p:cNvSpPr/>
          <p:nvPr/>
        </p:nvSpPr>
        <p:spPr>
          <a:xfrm>
            <a:off x="502920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99" name="Expanded 12,4"/>
          <p:cNvSpPr/>
          <p:nvPr/>
        </p:nvSpPr>
        <p:spPr>
          <a:xfrm>
            <a:off x="438912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00" name="Expanded 11,5"/>
          <p:cNvSpPr/>
          <p:nvPr/>
        </p:nvSpPr>
        <p:spPr>
          <a:xfrm>
            <a:off x="406908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01" name="Expanded 10,6"/>
          <p:cNvSpPr/>
          <p:nvPr/>
        </p:nvSpPr>
        <p:spPr>
          <a:xfrm>
            <a:off x="374904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102" name="Expanded 9,7"/>
          <p:cNvSpPr/>
          <p:nvPr/>
        </p:nvSpPr>
        <p:spPr>
          <a:xfrm>
            <a:off x="342900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03" name="Expanded 15,0"/>
          <p:cNvSpPr/>
          <p:nvPr/>
        </p:nvSpPr>
        <p:spPr>
          <a:xfrm>
            <a:off x="5349240" y="1965960"/>
            <a:ext cx="320040" cy="320040"/>
          </a:xfrm>
          <a:prstGeom prst="rect">
            <a:avLst/>
          </a:prstGeom>
          <a:solidFill>
            <a:schemeClr val="accent3">
              <a:alpha val="28000"/>
            </a:schemeClr>
          </a:solidFill>
          <a:ln w="6350">
            <a:solidFill>
              <a:schemeClr val="accent3">
                <a:alpha val="28000"/>
              </a:schemeClr>
            </a:solidFill>
            <a:prstDash val="solid"/>
          </a:ln>
        </p:spPr>
      </p:sp>
      <p:sp>
        <p:nvSpPr>
          <p:cNvPr id="104" name="Expanded 15,2"/>
          <p:cNvSpPr/>
          <p:nvPr/>
        </p:nvSpPr>
        <p:spPr>
          <a:xfrm>
            <a:off x="5349240"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105" name="Expanded 14,3"/>
          <p:cNvSpPr/>
          <p:nvPr/>
        </p:nvSpPr>
        <p:spPr>
          <a:xfrm>
            <a:off x="502920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106" name="Expanded 12,5"/>
          <p:cNvSpPr/>
          <p:nvPr/>
        </p:nvSpPr>
        <p:spPr>
          <a:xfrm>
            <a:off x="438912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07" name="Expanded 11,6"/>
          <p:cNvSpPr/>
          <p:nvPr/>
        </p:nvSpPr>
        <p:spPr>
          <a:xfrm>
            <a:off x="406908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108" name="Expanded 10,7"/>
          <p:cNvSpPr/>
          <p:nvPr/>
        </p:nvSpPr>
        <p:spPr>
          <a:xfrm>
            <a:off x="374904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09" name="Expanded 9,8"/>
          <p:cNvSpPr/>
          <p:nvPr/>
        </p:nvSpPr>
        <p:spPr>
          <a:xfrm>
            <a:off x="342900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10" name="Expanded 15,3"/>
          <p:cNvSpPr/>
          <p:nvPr/>
        </p:nvSpPr>
        <p:spPr>
          <a:xfrm>
            <a:off x="5349240"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111" name="Expanded 14,4"/>
          <p:cNvSpPr/>
          <p:nvPr/>
        </p:nvSpPr>
        <p:spPr>
          <a:xfrm>
            <a:off x="502920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12" name="Expanded 12,6"/>
          <p:cNvSpPr/>
          <p:nvPr/>
        </p:nvSpPr>
        <p:spPr>
          <a:xfrm>
            <a:off x="4389120"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113" name="Expanded 11,7"/>
          <p:cNvSpPr/>
          <p:nvPr/>
        </p:nvSpPr>
        <p:spPr>
          <a:xfrm>
            <a:off x="4069080"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14" name="Expanded 10,8"/>
          <p:cNvSpPr/>
          <p:nvPr/>
        </p:nvSpPr>
        <p:spPr>
          <a:xfrm>
            <a:off x="3749040"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15" name="Expanded 9,9"/>
          <p:cNvSpPr/>
          <p:nvPr/>
        </p:nvSpPr>
        <p:spPr>
          <a:xfrm>
            <a:off x="3429000"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116" name="Expanded 15,4"/>
          <p:cNvSpPr/>
          <p:nvPr/>
        </p:nvSpPr>
        <p:spPr>
          <a:xfrm>
            <a:off x="5349240"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17" name="Expanded 14,5"/>
          <p:cNvSpPr/>
          <p:nvPr/>
        </p:nvSpPr>
        <p:spPr>
          <a:xfrm>
            <a:off x="5029200"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18" name="Path 13,6"/>
          <p:cNvSpPr/>
          <p:nvPr/>
        </p:nvSpPr>
        <p:spPr>
          <a:xfrm>
            <a:off x="4709160" y="3886200"/>
            <a:ext cx="320040" cy="320040"/>
          </a:xfrm>
          <a:prstGeom prst="rect">
            <a:avLst/>
          </a:prstGeom>
          <a:solidFill>
            <a:schemeClr val="accent1"/>
          </a:solidFill>
          <a:ln w="6350">
            <a:solidFill>
              <a:schemeClr val="accent1"/>
            </a:solidFill>
            <a:prstDash val="solid"/>
          </a:ln>
        </p:spPr>
      </p:sp>
      <p:sp>
        <p:nvSpPr>
          <p:cNvPr id="119" name="Path 13,5"/>
          <p:cNvSpPr/>
          <p:nvPr/>
        </p:nvSpPr>
        <p:spPr>
          <a:xfrm>
            <a:off x="4709160" y="3566160"/>
            <a:ext cx="320040" cy="320040"/>
          </a:xfrm>
          <a:prstGeom prst="rect">
            <a:avLst/>
          </a:prstGeom>
          <a:solidFill>
            <a:schemeClr val="accent1"/>
          </a:solidFill>
          <a:ln w="6350">
            <a:solidFill>
              <a:schemeClr val="accent1"/>
            </a:solidFill>
            <a:prstDash val="solid"/>
          </a:ln>
        </p:spPr>
      </p:sp>
      <p:sp>
        <p:nvSpPr>
          <p:cNvPr id="120" name="Path 13,4"/>
          <p:cNvSpPr/>
          <p:nvPr/>
        </p:nvSpPr>
        <p:spPr>
          <a:xfrm>
            <a:off x="4709160" y="3246120"/>
            <a:ext cx="320040" cy="320040"/>
          </a:xfrm>
          <a:prstGeom prst="rect">
            <a:avLst/>
          </a:prstGeom>
          <a:solidFill>
            <a:schemeClr val="accent1"/>
          </a:solidFill>
          <a:ln w="6350">
            <a:solidFill>
              <a:schemeClr val="accent1"/>
            </a:solidFill>
            <a:prstDash val="solid"/>
          </a:ln>
        </p:spPr>
      </p:sp>
      <p:sp>
        <p:nvSpPr>
          <p:cNvPr id="121" name="Path 13,3"/>
          <p:cNvSpPr/>
          <p:nvPr/>
        </p:nvSpPr>
        <p:spPr>
          <a:xfrm>
            <a:off x="4709160" y="2926080"/>
            <a:ext cx="320040" cy="320040"/>
          </a:xfrm>
          <a:prstGeom prst="rect">
            <a:avLst/>
          </a:prstGeom>
          <a:solidFill>
            <a:schemeClr val="accent1"/>
          </a:solidFill>
          <a:ln w="6350">
            <a:solidFill>
              <a:schemeClr val="accent1"/>
            </a:solidFill>
            <a:prstDash val="solid"/>
          </a:ln>
        </p:spPr>
      </p:sp>
      <p:sp>
        <p:nvSpPr>
          <p:cNvPr id="122" name="Path 13,2"/>
          <p:cNvSpPr/>
          <p:nvPr/>
        </p:nvSpPr>
        <p:spPr>
          <a:xfrm>
            <a:off x="4709160" y="2606040"/>
            <a:ext cx="320040" cy="320040"/>
          </a:xfrm>
          <a:prstGeom prst="rect">
            <a:avLst/>
          </a:prstGeom>
          <a:solidFill>
            <a:schemeClr val="accent1"/>
          </a:solidFill>
          <a:ln w="6350">
            <a:solidFill>
              <a:schemeClr val="accent1"/>
            </a:solidFill>
            <a:prstDash val="solid"/>
          </a:ln>
        </p:spPr>
      </p:sp>
      <p:sp>
        <p:nvSpPr>
          <p:cNvPr id="123" name="Path 13,1"/>
          <p:cNvSpPr/>
          <p:nvPr/>
        </p:nvSpPr>
        <p:spPr>
          <a:xfrm>
            <a:off x="4709160" y="2286000"/>
            <a:ext cx="320040" cy="320040"/>
          </a:xfrm>
          <a:prstGeom prst="rect">
            <a:avLst/>
          </a:prstGeom>
          <a:solidFill>
            <a:schemeClr val="accent1"/>
          </a:solidFill>
          <a:ln w="6350">
            <a:solidFill>
              <a:schemeClr val="accent1"/>
            </a:solidFill>
            <a:prstDash val="solid"/>
          </a:ln>
        </p:spPr>
      </p:sp>
      <p:sp>
        <p:nvSpPr>
          <p:cNvPr id="124" name="Path 12,1"/>
          <p:cNvSpPr/>
          <p:nvPr/>
        </p:nvSpPr>
        <p:spPr>
          <a:xfrm>
            <a:off x="4389120" y="2286000"/>
            <a:ext cx="320040" cy="320040"/>
          </a:xfrm>
          <a:prstGeom prst="rect">
            <a:avLst/>
          </a:prstGeom>
          <a:solidFill>
            <a:schemeClr val="accent1"/>
          </a:solidFill>
          <a:ln w="6350">
            <a:solidFill>
              <a:schemeClr val="accent1"/>
            </a:solidFill>
            <a:prstDash val="solid"/>
          </a:ln>
        </p:spPr>
      </p:sp>
      <p:sp>
        <p:nvSpPr>
          <p:cNvPr id="125" name="Path 11,1"/>
          <p:cNvSpPr/>
          <p:nvPr/>
        </p:nvSpPr>
        <p:spPr>
          <a:xfrm>
            <a:off x="4069080" y="2286000"/>
            <a:ext cx="320040" cy="320040"/>
          </a:xfrm>
          <a:prstGeom prst="rect">
            <a:avLst/>
          </a:prstGeom>
          <a:solidFill>
            <a:schemeClr val="accent1"/>
          </a:solidFill>
          <a:ln w="6350">
            <a:solidFill>
              <a:schemeClr val="accent1"/>
            </a:solidFill>
            <a:prstDash val="solid"/>
          </a:ln>
        </p:spPr>
      </p:sp>
      <p:sp>
        <p:nvSpPr>
          <p:cNvPr id="126" name="Path 10,1"/>
          <p:cNvSpPr/>
          <p:nvPr/>
        </p:nvSpPr>
        <p:spPr>
          <a:xfrm>
            <a:off x="3749040" y="2286000"/>
            <a:ext cx="320040" cy="320040"/>
          </a:xfrm>
          <a:prstGeom prst="rect">
            <a:avLst/>
          </a:prstGeom>
          <a:solidFill>
            <a:schemeClr val="accent1"/>
          </a:solidFill>
          <a:ln w="6350">
            <a:solidFill>
              <a:schemeClr val="accent1"/>
            </a:solidFill>
            <a:prstDash val="solid"/>
          </a:ln>
        </p:spPr>
      </p:sp>
      <p:sp>
        <p:nvSpPr>
          <p:cNvPr id="127" name="Path 9,1"/>
          <p:cNvSpPr/>
          <p:nvPr/>
        </p:nvSpPr>
        <p:spPr>
          <a:xfrm>
            <a:off x="3429000" y="2286000"/>
            <a:ext cx="320040" cy="320040"/>
          </a:xfrm>
          <a:prstGeom prst="rect">
            <a:avLst/>
          </a:prstGeom>
          <a:solidFill>
            <a:schemeClr val="accent1"/>
          </a:solidFill>
          <a:ln w="6350">
            <a:solidFill>
              <a:schemeClr val="accent1"/>
            </a:solidFill>
            <a:prstDash val="solid"/>
          </a:ln>
        </p:spPr>
      </p:sp>
      <p:sp>
        <p:nvSpPr>
          <p:cNvPr id="128" name="Path 8,1"/>
          <p:cNvSpPr/>
          <p:nvPr/>
        </p:nvSpPr>
        <p:spPr>
          <a:xfrm>
            <a:off x="3108960" y="2286000"/>
            <a:ext cx="320040" cy="320040"/>
          </a:xfrm>
          <a:prstGeom prst="rect">
            <a:avLst/>
          </a:prstGeom>
          <a:solidFill>
            <a:schemeClr val="accent1"/>
          </a:solidFill>
          <a:ln w="6350">
            <a:solidFill>
              <a:schemeClr val="accent1"/>
            </a:solidFill>
            <a:prstDash val="solid"/>
          </a:ln>
        </p:spPr>
      </p:sp>
      <p:sp>
        <p:nvSpPr>
          <p:cNvPr id="129" name="Path 7,1"/>
          <p:cNvSpPr/>
          <p:nvPr/>
        </p:nvSpPr>
        <p:spPr>
          <a:xfrm>
            <a:off x="2788920" y="2286000"/>
            <a:ext cx="320040" cy="320040"/>
          </a:xfrm>
          <a:prstGeom prst="rect">
            <a:avLst/>
          </a:prstGeom>
          <a:solidFill>
            <a:schemeClr val="accent1"/>
          </a:solidFill>
          <a:ln w="6350">
            <a:solidFill>
              <a:schemeClr val="accent1"/>
            </a:solidFill>
            <a:prstDash val="solid"/>
          </a:ln>
        </p:spPr>
      </p:sp>
      <p:sp>
        <p:nvSpPr>
          <p:cNvPr id="130" name="Path 7,2"/>
          <p:cNvSpPr/>
          <p:nvPr/>
        </p:nvSpPr>
        <p:spPr>
          <a:xfrm>
            <a:off x="2788920" y="2606040"/>
            <a:ext cx="320040" cy="320040"/>
          </a:xfrm>
          <a:prstGeom prst="rect">
            <a:avLst/>
          </a:prstGeom>
          <a:solidFill>
            <a:schemeClr val="accent1"/>
          </a:solidFill>
          <a:ln w="6350">
            <a:solidFill>
              <a:schemeClr val="accent1"/>
            </a:solidFill>
            <a:prstDash val="solid"/>
          </a:ln>
        </p:spPr>
      </p:sp>
      <p:sp>
        <p:nvSpPr>
          <p:cNvPr id="131" name="Path 7,3"/>
          <p:cNvSpPr/>
          <p:nvPr/>
        </p:nvSpPr>
        <p:spPr>
          <a:xfrm>
            <a:off x="2788920" y="2926080"/>
            <a:ext cx="320040" cy="320040"/>
          </a:xfrm>
          <a:prstGeom prst="rect">
            <a:avLst/>
          </a:prstGeom>
          <a:solidFill>
            <a:schemeClr val="accent1"/>
          </a:solidFill>
          <a:ln w="6350">
            <a:solidFill>
              <a:schemeClr val="accent1"/>
            </a:solidFill>
            <a:prstDash val="solid"/>
          </a:ln>
        </p:spPr>
      </p:sp>
      <p:sp>
        <p:nvSpPr>
          <p:cNvPr id="132" name="Path 7,4"/>
          <p:cNvSpPr/>
          <p:nvPr/>
        </p:nvSpPr>
        <p:spPr>
          <a:xfrm>
            <a:off x="2788920" y="3246120"/>
            <a:ext cx="320040" cy="320040"/>
          </a:xfrm>
          <a:prstGeom prst="rect">
            <a:avLst/>
          </a:prstGeom>
          <a:solidFill>
            <a:schemeClr val="accent1"/>
          </a:solidFill>
          <a:ln w="6350">
            <a:solidFill>
              <a:schemeClr val="accent1"/>
            </a:solidFill>
            <a:prstDash val="solid"/>
          </a:ln>
        </p:spPr>
      </p:sp>
      <p:sp>
        <p:nvSpPr>
          <p:cNvPr id="133" name="Path 7,5"/>
          <p:cNvSpPr/>
          <p:nvPr/>
        </p:nvSpPr>
        <p:spPr>
          <a:xfrm>
            <a:off x="2788920" y="3566160"/>
            <a:ext cx="320040" cy="320040"/>
          </a:xfrm>
          <a:prstGeom prst="rect">
            <a:avLst/>
          </a:prstGeom>
          <a:solidFill>
            <a:schemeClr val="accent1"/>
          </a:solidFill>
          <a:ln w="6350">
            <a:solidFill>
              <a:schemeClr val="accent1"/>
            </a:solidFill>
            <a:prstDash val="solid"/>
          </a:ln>
        </p:spPr>
      </p:sp>
      <p:sp>
        <p:nvSpPr>
          <p:cNvPr id="134" name="Path 7,6"/>
          <p:cNvSpPr/>
          <p:nvPr/>
        </p:nvSpPr>
        <p:spPr>
          <a:xfrm>
            <a:off x="2788920" y="3886200"/>
            <a:ext cx="320040" cy="320040"/>
          </a:xfrm>
          <a:prstGeom prst="rect">
            <a:avLst/>
          </a:prstGeom>
          <a:solidFill>
            <a:schemeClr val="accent1"/>
          </a:solidFill>
          <a:ln w="6350">
            <a:solidFill>
              <a:schemeClr val="accent1"/>
            </a:solidFill>
            <a:prstDash val="solid"/>
          </a:ln>
        </p:spPr>
      </p:sp>
      <p:sp>
        <p:nvSpPr>
          <p:cNvPr id="135" name="Path 6,6"/>
          <p:cNvSpPr/>
          <p:nvPr/>
        </p:nvSpPr>
        <p:spPr>
          <a:xfrm>
            <a:off x="2468880" y="3886200"/>
            <a:ext cx="320040" cy="320040"/>
          </a:xfrm>
          <a:prstGeom prst="rect">
            <a:avLst/>
          </a:prstGeom>
          <a:solidFill>
            <a:schemeClr val="accent1"/>
          </a:solidFill>
          <a:ln w="6350">
            <a:solidFill>
              <a:schemeClr val="accent1"/>
            </a:solidFill>
            <a:prstDash val="solid"/>
          </a:ln>
        </p:spPr>
      </p:sp>
      <p:sp>
        <p:nvSpPr>
          <p:cNvPr id="136" name="Path 5,6"/>
          <p:cNvSpPr/>
          <p:nvPr/>
        </p:nvSpPr>
        <p:spPr>
          <a:xfrm>
            <a:off x="2148840" y="3886200"/>
            <a:ext cx="320040" cy="320040"/>
          </a:xfrm>
          <a:prstGeom prst="rect">
            <a:avLst/>
          </a:prstGeom>
          <a:solidFill>
            <a:schemeClr val="accent1"/>
          </a:solidFill>
          <a:ln w="6350">
            <a:solidFill>
              <a:schemeClr val="accent1"/>
            </a:solidFill>
            <a:prstDash val="solid"/>
          </a:ln>
        </p:spPr>
      </p:sp>
      <p:sp>
        <p:nvSpPr>
          <p:cNvPr id="137" name="Path 4,6"/>
          <p:cNvSpPr/>
          <p:nvPr/>
        </p:nvSpPr>
        <p:spPr>
          <a:xfrm>
            <a:off x="1828800" y="3886200"/>
            <a:ext cx="320040" cy="320040"/>
          </a:xfrm>
          <a:prstGeom prst="rect">
            <a:avLst/>
          </a:prstGeom>
          <a:solidFill>
            <a:schemeClr val="accent1"/>
          </a:solidFill>
          <a:ln w="6350">
            <a:solidFill>
              <a:schemeClr val="accent1"/>
            </a:solidFill>
            <a:prstDash val="solid"/>
          </a:ln>
        </p:spPr>
      </p:sp>
      <p:sp>
        <p:nvSpPr>
          <p:cNvPr id="138" name="Path 3,6"/>
          <p:cNvSpPr/>
          <p:nvPr/>
        </p:nvSpPr>
        <p:spPr>
          <a:xfrm>
            <a:off x="1508760" y="3886200"/>
            <a:ext cx="320040" cy="320040"/>
          </a:xfrm>
          <a:prstGeom prst="rect">
            <a:avLst/>
          </a:prstGeom>
          <a:solidFill>
            <a:schemeClr val="accent1"/>
          </a:solidFill>
          <a:ln w="6350">
            <a:solidFill>
              <a:schemeClr val="accent1"/>
            </a:solidFill>
            <a:prstDash val="solid"/>
          </a:ln>
        </p:spPr>
      </p:sp>
      <p:sp>
        <p:nvSpPr>
          <p:cNvPr id="139" name="Path 2,6"/>
          <p:cNvSpPr/>
          <p:nvPr/>
        </p:nvSpPr>
        <p:spPr>
          <a:xfrm>
            <a:off x="1188720" y="3886200"/>
            <a:ext cx="320040" cy="320040"/>
          </a:xfrm>
          <a:prstGeom prst="rect">
            <a:avLst/>
          </a:prstGeom>
          <a:solidFill>
            <a:schemeClr val="accent1"/>
          </a:solidFill>
          <a:ln w="6350">
            <a:solidFill>
              <a:schemeClr val="accent1"/>
            </a:solidFill>
            <a:prstDash val="solid"/>
          </a:ln>
        </p:spPr>
      </p:sp>
      <p:sp>
        <p:nvSpPr>
          <p:cNvPr id="140" name="Wall 8,2"/>
          <p:cNvSpPr/>
          <p:nvPr/>
        </p:nvSpPr>
        <p:spPr>
          <a:xfrm>
            <a:off x="3108960" y="2606040"/>
            <a:ext cx="320040" cy="320040"/>
          </a:xfrm>
          <a:prstGeom prst="rect">
            <a:avLst/>
          </a:prstGeom>
          <a:solidFill>
            <a:schemeClr val="tx1"/>
          </a:solidFill>
          <a:ln w="6350">
            <a:solidFill>
              <a:schemeClr val="tx1"/>
            </a:solidFill>
            <a:prstDash val="solid"/>
          </a:ln>
        </p:spPr>
      </p:sp>
      <p:sp>
        <p:nvSpPr>
          <p:cNvPr id="141" name="Wall 8,3"/>
          <p:cNvSpPr/>
          <p:nvPr/>
        </p:nvSpPr>
        <p:spPr>
          <a:xfrm>
            <a:off x="3108960" y="2926080"/>
            <a:ext cx="320040" cy="320040"/>
          </a:xfrm>
          <a:prstGeom prst="rect">
            <a:avLst/>
          </a:prstGeom>
          <a:solidFill>
            <a:schemeClr val="tx1"/>
          </a:solidFill>
          <a:ln w="6350">
            <a:solidFill>
              <a:schemeClr val="tx1"/>
            </a:solidFill>
            <a:prstDash val="solid"/>
          </a:ln>
        </p:spPr>
      </p:sp>
      <p:sp>
        <p:nvSpPr>
          <p:cNvPr id="142" name="Wall 8,4"/>
          <p:cNvSpPr/>
          <p:nvPr/>
        </p:nvSpPr>
        <p:spPr>
          <a:xfrm>
            <a:off x="3108960" y="3246120"/>
            <a:ext cx="320040" cy="320040"/>
          </a:xfrm>
          <a:prstGeom prst="rect">
            <a:avLst/>
          </a:prstGeom>
          <a:solidFill>
            <a:schemeClr val="tx1"/>
          </a:solidFill>
          <a:ln w="6350">
            <a:solidFill>
              <a:schemeClr val="tx1"/>
            </a:solidFill>
            <a:prstDash val="solid"/>
          </a:ln>
        </p:spPr>
      </p:sp>
      <p:sp>
        <p:nvSpPr>
          <p:cNvPr id="143" name="Wall 8,5"/>
          <p:cNvSpPr/>
          <p:nvPr/>
        </p:nvSpPr>
        <p:spPr>
          <a:xfrm>
            <a:off x="3108960" y="3566160"/>
            <a:ext cx="320040" cy="320040"/>
          </a:xfrm>
          <a:prstGeom prst="rect">
            <a:avLst/>
          </a:prstGeom>
          <a:solidFill>
            <a:schemeClr val="tx1"/>
          </a:solidFill>
          <a:ln w="6350">
            <a:solidFill>
              <a:schemeClr val="tx1"/>
            </a:solidFill>
            <a:prstDash val="solid"/>
          </a:ln>
        </p:spPr>
      </p:sp>
      <p:sp>
        <p:nvSpPr>
          <p:cNvPr id="144" name="Wall 8,6"/>
          <p:cNvSpPr/>
          <p:nvPr/>
        </p:nvSpPr>
        <p:spPr>
          <a:xfrm>
            <a:off x="3108960" y="3886200"/>
            <a:ext cx="320040" cy="320040"/>
          </a:xfrm>
          <a:prstGeom prst="rect">
            <a:avLst/>
          </a:prstGeom>
          <a:solidFill>
            <a:schemeClr val="tx1"/>
          </a:solidFill>
          <a:ln w="6350">
            <a:solidFill>
              <a:schemeClr val="tx1"/>
            </a:solidFill>
            <a:prstDash val="solid"/>
          </a:ln>
        </p:spPr>
      </p:sp>
      <p:sp>
        <p:nvSpPr>
          <p:cNvPr id="145" name="Wall 8,7"/>
          <p:cNvSpPr/>
          <p:nvPr/>
        </p:nvSpPr>
        <p:spPr>
          <a:xfrm>
            <a:off x="3108960" y="4206240"/>
            <a:ext cx="320040" cy="320040"/>
          </a:xfrm>
          <a:prstGeom prst="rect">
            <a:avLst/>
          </a:prstGeom>
          <a:solidFill>
            <a:schemeClr val="tx1"/>
          </a:solidFill>
          <a:ln w="6350">
            <a:solidFill>
              <a:schemeClr val="tx1"/>
            </a:solidFill>
            <a:prstDash val="solid"/>
          </a:ln>
        </p:spPr>
      </p:sp>
      <p:sp>
        <p:nvSpPr>
          <p:cNvPr id="146" name="Wall 8,8"/>
          <p:cNvSpPr/>
          <p:nvPr/>
        </p:nvSpPr>
        <p:spPr>
          <a:xfrm>
            <a:off x="3108960" y="4526280"/>
            <a:ext cx="320040" cy="320040"/>
          </a:xfrm>
          <a:prstGeom prst="rect">
            <a:avLst/>
          </a:prstGeom>
          <a:solidFill>
            <a:schemeClr val="tx1"/>
          </a:solidFill>
          <a:ln w="6350">
            <a:solidFill>
              <a:schemeClr val="tx1"/>
            </a:solidFill>
            <a:prstDash val="solid"/>
          </a:ln>
        </p:spPr>
      </p:sp>
      <p:sp>
        <p:nvSpPr>
          <p:cNvPr id="147" name="Wall 8,9"/>
          <p:cNvSpPr/>
          <p:nvPr/>
        </p:nvSpPr>
        <p:spPr>
          <a:xfrm>
            <a:off x="3108960" y="4846320"/>
            <a:ext cx="320040" cy="320040"/>
          </a:xfrm>
          <a:prstGeom prst="rect">
            <a:avLst/>
          </a:prstGeom>
          <a:solidFill>
            <a:schemeClr val="tx1"/>
          </a:solidFill>
          <a:ln w="6350">
            <a:solidFill>
              <a:schemeClr val="tx1"/>
            </a:solidFill>
            <a:prstDash val="solid"/>
          </a:ln>
        </p:spPr>
      </p:sp>
      <p:sp>
        <p:nvSpPr>
          <p:cNvPr id="148" name="Grid v0"/>
          <p:cNvSpPr/>
          <p:nvPr/>
        </p:nvSpPr>
        <p:spPr>
          <a:xfrm>
            <a:off x="548640" y="1965960"/>
            <a:ext cx="0" cy="3200400"/>
          </a:xfrm>
          <a:prstGeom prst="line">
            <a:avLst/>
          </a:prstGeom>
          <a:noFill/>
          <a:ln w="6350">
            <a:solidFill>
              <a:schemeClr val="accent6">
                <a:alpha val="30000"/>
              </a:schemeClr>
            </a:solidFill>
            <a:prstDash val="solid"/>
          </a:ln>
        </p:spPr>
      </p:sp>
      <p:sp>
        <p:nvSpPr>
          <p:cNvPr id="149" name="Grid v1"/>
          <p:cNvSpPr/>
          <p:nvPr/>
        </p:nvSpPr>
        <p:spPr>
          <a:xfrm>
            <a:off x="868680" y="1965960"/>
            <a:ext cx="0" cy="3200400"/>
          </a:xfrm>
          <a:prstGeom prst="line">
            <a:avLst/>
          </a:prstGeom>
          <a:noFill/>
          <a:ln w="6350">
            <a:solidFill>
              <a:schemeClr val="accent6">
                <a:alpha val="30000"/>
              </a:schemeClr>
            </a:solidFill>
            <a:prstDash val="solid"/>
          </a:ln>
        </p:spPr>
      </p:sp>
      <p:sp>
        <p:nvSpPr>
          <p:cNvPr id="150" name="Grid v2"/>
          <p:cNvSpPr/>
          <p:nvPr/>
        </p:nvSpPr>
        <p:spPr>
          <a:xfrm>
            <a:off x="1188720" y="1965960"/>
            <a:ext cx="0" cy="3200400"/>
          </a:xfrm>
          <a:prstGeom prst="line">
            <a:avLst/>
          </a:prstGeom>
          <a:noFill/>
          <a:ln w="6350">
            <a:solidFill>
              <a:schemeClr val="accent6">
                <a:alpha val="30000"/>
              </a:schemeClr>
            </a:solidFill>
            <a:prstDash val="solid"/>
          </a:ln>
        </p:spPr>
      </p:sp>
      <p:sp>
        <p:nvSpPr>
          <p:cNvPr id="151" name="Grid v3"/>
          <p:cNvSpPr/>
          <p:nvPr/>
        </p:nvSpPr>
        <p:spPr>
          <a:xfrm>
            <a:off x="1508760" y="1965960"/>
            <a:ext cx="0" cy="3200400"/>
          </a:xfrm>
          <a:prstGeom prst="line">
            <a:avLst/>
          </a:prstGeom>
          <a:noFill/>
          <a:ln w="6350">
            <a:solidFill>
              <a:schemeClr val="accent6">
                <a:alpha val="30000"/>
              </a:schemeClr>
            </a:solidFill>
            <a:prstDash val="solid"/>
          </a:ln>
        </p:spPr>
      </p:sp>
      <p:sp>
        <p:nvSpPr>
          <p:cNvPr id="152" name="Grid v4"/>
          <p:cNvSpPr/>
          <p:nvPr/>
        </p:nvSpPr>
        <p:spPr>
          <a:xfrm>
            <a:off x="1828800" y="1965960"/>
            <a:ext cx="0" cy="3200400"/>
          </a:xfrm>
          <a:prstGeom prst="line">
            <a:avLst/>
          </a:prstGeom>
          <a:noFill/>
          <a:ln w="6350">
            <a:solidFill>
              <a:schemeClr val="accent6">
                <a:alpha val="30000"/>
              </a:schemeClr>
            </a:solidFill>
            <a:prstDash val="solid"/>
          </a:ln>
        </p:spPr>
      </p:sp>
      <p:sp>
        <p:nvSpPr>
          <p:cNvPr id="153" name="Grid v5"/>
          <p:cNvSpPr/>
          <p:nvPr/>
        </p:nvSpPr>
        <p:spPr>
          <a:xfrm>
            <a:off x="2148840" y="1965960"/>
            <a:ext cx="0" cy="3200400"/>
          </a:xfrm>
          <a:prstGeom prst="line">
            <a:avLst/>
          </a:prstGeom>
          <a:noFill/>
          <a:ln w="6350">
            <a:solidFill>
              <a:schemeClr val="accent6">
                <a:alpha val="30000"/>
              </a:schemeClr>
            </a:solidFill>
            <a:prstDash val="solid"/>
          </a:ln>
        </p:spPr>
      </p:sp>
      <p:sp>
        <p:nvSpPr>
          <p:cNvPr id="154" name="Grid v6"/>
          <p:cNvSpPr/>
          <p:nvPr/>
        </p:nvSpPr>
        <p:spPr>
          <a:xfrm>
            <a:off x="2468880" y="1965960"/>
            <a:ext cx="0" cy="3200400"/>
          </a:xfrm>
          <a:prstGeom prst="line">
            <a:avLst/>
          </a:prstGeom>
          <a:noFill/>
          <a:ln w="6350">
            <a:solidFill>
              <a:schemeClr val="accent6">
                <a:alpha val="30000"/>
              </a:schemeClr>
            </a:solidFill>
            <a:prstDash val="solid"/>
          </a:ln>
        </p:spPr>
      </p:sp>
      <p:sp>
        <p:nvSpPr>
          <p:cNvPr id="155" name="Grid v7"/>
          <p:cNvSpPr/>
          <p:nvPr/>
        </p:nvSpPr>
        <p:spPr>
          <a:xfrm>
            <a:off x="2788920" y="1965960"/>
            <a:ext cx="0" cy="3200400"/>
          </a:xfrm>
          <a:prstGeom prst="line">
            <a:avLst/>
          </a:prstGeom>
          <a:noFill/>
          <a:ln w="6350">
            <a:solidFill>
              <a:schemeClr val="accent6">
                <a:alpha val="30000"/>
              </a:schemeClr>
            </a:solidFill>
            <a:prstDash val="solid"/>
          </a:ln>
        </p:spPr>
      </p:sp>
      <p:sp>
        <p:nvSpPr>
          <p:cNvPr id="156" name="Grid v8"/>
          <p:cNvSpPr/>
          <p:nvPr/>
        </p:nvSpPr>
        <p:spPr>
          <a:xfrm>
            <a:off x="3108960" y="1965960"/>
            <a:ext cx="0" cy="3200400"/>
          </a:xfrm>
          <a:prstGeom prst="line">
            <a:avLst/>
          </a:prstGeom>
          <a:noFill/>
          <a:ln w="6350">
            <a:solidFill>
              <a:schemeClr val="accent6">
                <a:alpha val="30000"/>
              </a:schemeClr>
            </a:solidFill>
            <a:prstDash val="solid"/>
          </a:ln>
        </p:spPr>
      </p:sp>
      <p:sp>
        <p:nvSpPr>
          <p:cNvPr id="157" name="Grid v9"/>
          <p:cNvSpPr/>
          <p:nvPr/>
        </p:nvSpPr>
        <p:spPr>
          <a:xfrm>
            <a:off x="3429000" y="1965960"/>
            <a:ext cx="0" cy="3200400"/>
          </a:xfrm>
          <a:prstGeom prst="line">
            <a:avLst/>
          </a:prstGeom>
          <a:noFill/>
          <a:ln w="6350">
            <a:solidFill>
              <a:schemeClr val="accent6">
                <a:alpha val="30000"/>
              </a:schemeClr>
            </a:solidFill>
            <a:prstDash val="solid"/>
          </a:ln>
        </p:spPr>
      </p:sp>
      <p:sp>
        <p:nvSpPr>
          <p:cNvPr id="158" name="Grid v10"/>
          <p:cNvSpPr/>
          <p:nvPr/>
        </p:nvSpPr>
        <p:spPr>
          <a:xfrm>
            <a:off x="3749040" y="1965960"/>
            <a:ext cx="0" cy="3200400"/>
          </a:xfrm>
          <a:prstGeom prst="line">
            <a:avLst/>
          </a:prstGeom>
          <a:noFill/>
          <a:ln w="6350">
            <a:solidFill>
              <a:schemeClr val="accent6">
                <a:alpha val="30000"/>
              </a:schemeClr>
            </a:solidFill>
            <a:prstDash val="solid"/>
          </a:ln>
        </p:spPr>
      </p:sp>
      <p:sp>
        <p:nvSpPr>
          <p:cNvPr id="159" name="Grid v11"/>
          <p:cNvSpPr/>
          <p:nvPr/>
        </p:nvSpPr>
        <p:spPr>
          <a:xfrm>
            <a:off x="4069080" y="1965960"/>
            <a:ext cx="0" cy="3200400"/>
          </a:xfrm>
          <a:prstGeom prst="line">
            <a:avLst/>
          </a:prstGeom>
          <a:noFill/>
          <a:ln w="6350">
            <a:solidFill>
              <a:schemeClr val="accent6">
                <a:alpha val="30000"/>
              </a:schemeClr>
            </a:solidFill>
            <a:prstDash val="solid"/>
          </a:ln>
        </p:spPr>
      </p:sp>
      <p:sp>
        <p:nvSpPr>
          <p:cNvPr id="160" name="Grid v12"/>
          <p:cNvSpPr/>
          <p:nvPr/>
        </p:nvSpPr>
        <p:spPr>
          <a:xfrm>
            <a:off x="4389120" y="1965960"/>
            <a:ext cx="0" cy="3200400"/>
          </a:xfrm>
          <a:prstGeom prst="line">
            <a:avLst/>
          </a:prstGeom>
          <a:noFill/>
          <a:ln w="6350">
            <a:solidFill>
              <a:schemeClr val="accent6">
                <a:alpha val="30000"/>
              </a:schemeClr>
            </a:solidFill>
            <a:prstDash val="solid"/>
          </a:ln>
        </p:spPr>
      </p:sp>
      <p:sp>
        <p:nvSpPr>
          <p:cNvPr id="161" name="Grid v13"/>
          <p:cNvSpPr/>
          <p:nvPr/>
        </p:nvSpPr>
        <p:spPr>
          <a:xfrm>
            <a:off x="4709160" y="1965960"/>
            <a:ext cx="0" cy="3200400"/>
          </a:xfrm>
          <a:prstGeom prst="line">
            <a:avLst/>
          </a:prstGeom>
          <a:noFill/>
          <a:ln w="6350">
            <a:solidFill>
              <a:schemeClr val="accent6">
                <a:alpha val="30000"/>
              </a:schemeClr>
            </a:solidFill>
            <a:prstDash val="solid"/>
          </a:ln>
        </p:spPr>
      </p:sp>
      <p:sp>
        <p:nvSpPr>
          <p:cNvPr id="162" name="Grid v14"/>
          <p:cNvSpPr/>
          <p:nvPr/>
        </p:nvSpPr>
        <p:spPr>
          <a:xfrm>
            <a:off x="5029200" y="1965960"/>
            <a:ext cx="0" cy="3200400"/>
          </a:xfrm>
          <a:prstGeom prst="line">
            <a:avLst/>
          </a:prstGeom>
          <a:noFill/>
          <a:ln w="6350">
            <a:solidFill>
              <a:schemeClr val="accent6">
                <a:alpha val="30000"/>
              </a:schemeClr>
            </a:solidFill>
            <a:prstDash val="solid"/>
          </a:ln>
        </p:spPr>
      </p:sp>
      <p:sp>
        <p:nvSpPr>
          <p:cNvPr id="163" name="Grid v15"/>
          <p:cNvSpPr/>
          <p:nvPr/>
        </p:nvSpPr>
        <p:spPr>
          <a:xfrm>
            <a:off x="5349240" y="1965960"/>
            <a:ext cx="0" cy="3200400"/>
          </a:xfrm>
          <a:prstGeom prst="line">
            <a:avLst/>
          </a:prstGeom>
          <a:noFill/>
          <a:ln w="6350">
            <a:solidFill>
              <a:schemeClr val="accent6">
                <a:alpha val="30000"/>
              </a:schemeClr>
            </a:solidFill>
            <a:prstDash val="solid"/>
          </a:ln>
        </p:spPr>
      </p:sp>
      <p:sp>
        <p:nvSpPr>
          <p:cNvPr id="164" name="Grid v16"/>
          <p:cNvSpPr/>
          <p:nvPr/>
        </p:nvSpPr>
        <p:spPr>
          <a:xfrm>
            <a:off x="5669280" y="1965960"/>
            <a:ext cx="0" cy="3200400"/>
          </a:xfrm>
          <a:prstGeom prst="line">
            <a:avLst/>
          </a:prstGeom>
          <a:noFill/>
          <a:ln w="6350">
            <a:solidFill>
              <a:schemeClr val="accent6">
                <a:alpha val="30000"/>
              </a:schemeClr>
            </a:solidFill>
            <a:prstDash val="solid"/>
          </a:ln>
        </p:spPr>
      </p:sp>
      <p:sp>
        <p:nvSpPr>
          <p:cNvPr id="165" name="Grid h0"/>
          <p:cNvSpPr/>
          <p:nvPr/>
        </p:nvSpPr>
        <p:spPr>
          <a:xfrm>
            <a:off x="548640" y="1965960"/>
            <a:ext cx="5120640" cy="0"/>
          </a:xfrm>
          <a:prstGeom prst="line">
            <a:avLst/>
          </a:prstGeom>
          <a:noFill/>
          <a:ln w="6350">
            <a:solidFill>
              <a:schemeClr val="accent6">
                <a:alpha val="30000"/>
              </a:schemeClr>
            </a:solidFill>
            <a:prstDash val="solid"/>
          </a:ln>
        </p:spPr>
      </p:sp>
      <p:sp>
        <p:nvSpPr>
          <p:cNvPr id="166" name="Grid h1"/>
          <p:cNvSpPr/>
          <p:nvPr/>
        </p:nvSpPr>
        <p:spPr>
          <a:xfrm>
            <a:off x="548640" y="2286000"/>
            <a:ext cx="5120640" cy="0"/>
          </a:xfrm>
          <a:prstGeom prst="line">
            <a:avLst/>
          </a:prstGeom>
          <a:noFill/>
          <a:ln w="6350">
            <a:solidFill>
              <a:schemeClr val="accent6">
                <a:alpha val="30000"/>
              </a:schemeClr>
            </a:solidFill>
            <a:prstDash val="solid"/>
          </a:ln>
        </p:spPr>
      </p:sp>
      <p:sp>
        <p:nvSpPr>
          <p:cNvPr id="167" name="Grid h2"/>
          <p:cNvSpPr/>
          <p:nvPr/>
        </p:nvSpPr>
        <p:spPr>
          <a:xfrm>
            <a:off x="548640" y="2606040"/>
            <a:ext cx="5120640" cy="0"/>
          </a:xfrm>
          <a:prstGeom prst="line">
            <a:avLst/>
          </a:prstGeom>
          <a:noFill/>
          <a:ln w="6350">
            <a:solidFill>
              <a:schemeClr val="accent6">
                <a:alpha val="30000"/>
              </a:schemeClr>
            </a:solidFill>
            <a:prstDash val="solid"/>
          </a:ln>
        </p:spPr>
      </p:sp>
      <p:sp>
        <p:nvSpPr>
          <p:cNvPr id="168" name="Grid h3"/>
          <p:cNvSpPr/>
          <p:nvPr/>
        </p:nvSpPr>
        <p:spPr>
          <a:xfrm>
            <a:off x="548640" y="2926080"/>
            <a:ext cx="5120640" cy="0"/>
          </a:xfrm>
          <a:prstGeom prst="line">
            <a:avLst/>
          </a:prstGeom>
          <a:noFill/>
          <a:ln w="6350">
            <a:solidFill>
              <a:schemeClr val="accent6">
                <a:alpha val="30000"/>
              </a:schemeClr>
            </a:solidFill>
            <a:prstDash val="solid"/>
          </a:ln>
        </p:spPr>
      </p:sp>
      <p:sp>
        <p:nvSpPr>
          <p:cNvPr id="169" name="Grid h4"/>
          <p:cNvSpPr/>
          <p:nvPr/>
        </p:nvSpPr>
        <p:spPr>
          <a:xfrm>
            <a:off x="548640" y="3246120"/>
            <a:ext cx="5120640" cy="0"/>
          </a:xfrm>
          <a:prstGeom prst="line">
            <a:avLst/>
          </a:prstGeom>
          <a:noFill/>
          <a:ln w="6350">
            <a:solidFill>
              <a:schemeClr val="accent6">
                <a:alpha val="30000"/>
              </a:schemeClr>
            </a:solidFill>
            <a:prstDash val="solid"/>
          </a:ln>
        </p:spPr>
      </p:sp>
      <p:sp>
        <p:nvSpPr>
          <p:cNvPr id="170" name="Grid h5"/>
          <p:cNvSpPr/>
          <p:nvPr/>
        </p:nvSpPr>
        <p:spPr>
          <a:xfrm>
            <a:off x="548640" y="3566160"/>
            <a:ext cx="5120640" cy="0"/>
          </a:xfrm>
          <a:prstGeom prst="line">
            <a:avLst/>
          </a:prstGeom>
          <a:noFill/>
          <a:ln w="6350">
            <a:solidFill>
              <a:schemeClr val="accent6">
                <a:alpha val="30000"/>
              </a:schemeClr>
            </a:solidFill>
            <a:prstDash val="solid"/>
          </a:ln>
        </p:spPr>
      </p:sp>
      <p:sp>
        <p:nvSpPr>
          <p:cNvPr id="171" name="Grid h6"/>
          <p:cNvSpPr/>
          <p:nvPr/>
        </p:nvSpPr>
        <p:spPr>
          <a:xfrm>
            <a:off x="548640" y="3886200"/>
            <a:ext cx="5120640" cy="0"/>
          </a:xfrm>
          <a:prstGeom prst="line">
            <a:avLst/>
          </a:prstGeom>
          <a:noFill/>
          <a:ln w="6350">
            <a:solidFill>
              <a:schemeClr val="accent6">
                <a:alpha val="30000"/>
              </a:schemeClr>
            </a:solidFill>
            <a:prstDash val="solid"/>
          </a:ln>
        </p:spPr>
      </p:sp>
      <p:sp>
        <p:nvSpPr>
          <p:cNvPr id="172" name="Grid h7"/>
          <p:cNvSpPr/>
          <p:nvPr/>
        </p:nvSpPr>
        <p:spPr>
          <a:xfrm>
            <a:off x="548640" y="4206240"/>
            <a:ext cx="5120640" cy="0"/>
          </a:xfrm>
          <a:prstGeom prst="line">
            <a:avLst/>
          </a:prstGeom>
          <a:noFill/>
          <a:ln w="6350">
            <a:solidFill>
              <a:schemeClr val="accent6">
                <a:alpha val="30000"/>
              </a:schemeClr>
            </a:solidFill>
            <a:prstDash val="solid"/>
          </a:ln>
        </p:spPr>
      </p:sp>
      <p:sp>
        <p:nvSpPr>
          <p:cNvPr id="173" name="Grid h8"/>
          <p:cNvSpPr/>
          <p:nvPr/>
        </p:nvSpPr>
        <p:spPr>
          <a:xfrm>
            <a:off x="548640" y="4526280"/>
            <a:ext cx="5120640" cy="0"/>
          </a:xfrm>
          <a:prstGeom prst="line">
            <a:avLst/>
          </a:prstGeom>
          <a:noFill/>
          <a:ln w="6350">
            <a:solidFill>
              <a:schemeClr val="accent6">
                <a:alpha val="30000"/>
              </a:schemeClr>
            </a:solidFill>
            <a:prstDash val="solid"/>
          </a:ln>
        </p:spPr>
      </p:sp>
      <p:sp>
        <p:nvSpPr>
          <p:cNvPr id="174" name="Grid h9"/>
          <p:cNvSpPr/>
          <p:nvPr/>
        </p:nvSpPr>
        <p:spPr>
          <a:xfrm>
            <a:off x="548640" y="4846320"/>
            <a:ext cx="5120640" cy="0"/>
          </a:xfrm>
          <a:prstGeom prst="line">
            <a:avLst/>
          </a:prstGeom>
          <a:noFill/>
          <a:ln w="6350">
            <a:solidFill>
              <a:schemeClr val="accent6">
                <a:alpha val="30000"/>
              </a:schemeClr>
            </a:solidFill>
            <a:prstDash val="solid"/>
          </a:ln>
        </p:spPr>
      </p:sp>
      <p:sp>
        <p:nvSpPr>
          <p:cNvPr id="175" name="Grid h10"/>
          <p:cNvSpPr/>
          <p:nvPr/>
        </p:nvSpPr>
        <p:spPr>
          <a:xfrm>
            <a:off x="548640" y="5166360"/>
            <a:ext cx="5120640" cy="0"/>
          </a:xfrm>
          <a:prstGeom prst="line">
            <a:avLst/>
          </a:prstGeom>
          <a:noFill/>
          <a:ln w="6350">
            <a:solidFill>
              <a:schemeClr val="accent6">
                <a:alpha val="30000"/>
              </a:schemeClr>
            </a:solidFill>
            <a:prstDash val="solid"/>
          </a:ln>
        </p:spPr>
      </p:sp>
      <p:sp>
        <p:nvSpPr>
          <p:cNvPr id="176" name="Start"/>
          <p:cNvSpPr/>
          <p:nvPr/>
        </p:nvSpPr>
        <p:spPr>
          <a:xfrm>
            <a:off x="1188720" y="3886200"/>
            <a:ext cx="320040" cy="320040"/>
          </a:xfrm>
          <a:prstGeom prst="rect">
            <a:avLst/>
          </a:prstGeom>
          <a:solidFill>
            <a:schemeClr val="accent2"/>
          </a:solidFill>
          <a:ln w="6350">
            <a:solidFill>
              <a:schemeClr val="accent2"/>
            </a:solidFill>
          </a:ln>
        </p:spPr>
        <p:txBody>
          <a:bodyPr wrap="square" lIns="0" tIns="0" rIns="0" bIns="0" rtlCol="0" anchor="ctr"/>
          <a:lstStyle/>
          <a:p>
            <a:pPr algn="ctr" indent="0" marL="0">
              <a:buNone/>
            </a:pPr>
            <a:r>
              <a:rPr lang="en-US" sz="1300" b="1" dirty="0">
                <a:solidFill>
                  <a:schemeClr val="bg1"/>
                </a:solidFill>
              </a:rPr>
              <a:t>S</a:t>
            </a:r>
            <a:endParaRPr lang="en-US" sz="1300" dirty="0"/>
          </a:p>
        </p:txBody>
      </p:sp>
      <p:sp>
        <p:nvSpPr>
          <p:cNvPr id="177" name="Goal"/>
          <p:cNvSpPr/>
          <p:nvPr/>
        </p:nvSpPr>
        <p:spPr>
          <a:xfrm>
            <a:off x="4709160" y="3886200"/>
            <a:ext cx="320040" cy="320040"/>
          </a:xfrm>
          <a:prstGeom prst="rect">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bg1"/>
                </a:solidFill>
              </a:rPr>
              <a:t>G</a:t>
            </a:r>
            <a:endParaRPr lang="en-US" sz="1300" dirty="0"/>
          </a:p>
        </p:txBody>
      </p:sp>
      <p:sp>
        <p:nvSpPr>
          <p:cNvPr id="178" name="A*  (use_astar: true) label"/>
          <p:cNvSpPr txBox="1"/>
          <p:nvPr/>
        </p:nvSpPr>
        <p:spPr>
          <a:xfrm>
            <a:off x="6153912" y="1325880"/>
            <a:ext cx="5120640" cy="548640"/>
          </a:xfrm>
          <a:prstGeom prst="rect">
            <a:avLst/>
          </a:prstGeom>
          <a:noFill/>
          <a:ln/>
        </p:spPr>
        <p:txBody>
          <a:bodyPr wrap="square" lIns="0" tIns="0" rIns="0" bIns="0" rtlCol="0" anchor="t"/>
          <a:lstStyle/>
          <a:p>
            <a:pPr algn="l" indent="0" marL="0">
              <a:buNone/>
            </a:pPr>
            <a:r>
              <a:rPr lang="en-US" sz="1600" b="1" dirty="0">
                <a:solidFill>
                  <a:schemeClr val="tx1"/>
                </a:solidFill>
              </a:rPr>
              <a:t>A*  (use_astar: true)</a:t>
            </a:r>
            <a:endParaRPr lang="en-US" sz="1600" dirty="0"/>
          </a:p>
          <a:p>
            <a:pPr algn="l" indent="0" marL="0">
              <a:buNone/>
            </a:pPr>
            <a:r>
              <a:rPr lang="en-US" sz="1400" dirty="0">
                <a:solidFill>
                  <a:schemeClr val="tx2"/>
                </a:solidFill>
              </a:rPr>
              <a:t>72 cells expanded · path length 21</a:t>
            </a:r>
            <a:endParaRPr lang="en-US" sz="1600" dirty="0"/>
          </a:p>
        </p:txBody>
      </p:sp>
      <p:sp>
        <p:nvSpPr>
          <p:cNvPr id="179" name="A*  (use_astar: true) grid"/>
          <p:cNvSpPr/>
          <p:nvPr/>
        </p:nvSpPr>
        <p:spPr>
          <a:xfrm>
            <a:off x="6153912" y="1965960"/>
            <a:ext cx="5120640" cy="3200400"/>
          </a:xfrm>
          <a:prstGeom prst="rect">
            <a:avLst/>
          </a:prstGeom>
          <a:solidFill>
            <a:schemeClr val="bg1"/>
          </a:solidFill>
          <a:ln w="9525">
            <a:solidFill>
              <a:schemeClr val="accent6"/>
            </a:solidFill>
            <a:prstDash val="solid"/>
          </a:ln>
        </p:spPr>
      </p:sp>
      <p:sp>
        <p:nvSpPr>
          <p:cNvPr id="180" name="Expanded 7,7"/>
          <p:cNvSpPr/>
          <p:nvPr/>
        </p:nvSpPr>
        <p:spPr>
          <a:xfrm>
            <a:off x="839419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1" name="Expanded 6,5"/>
          <p:cNvSpPr/>
          <p:nvPr/>
        </p:nvSpPr>
        <p:spPr>
          <a:xfrm>
            <a:off x="807415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82" name="Expanded 6,7"/>
          <p:cNvSpPr/>
          <p:nvPr/>
        </p:nvSpPr>
        <p:spPr>
          <a:xfrm>
            <a:off x="807415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3" name="Expanded 5,5"/>
          <p:cNvSpPr/>
          <p:nvPr/>
        </p:nvSpPr>
        <p:spPr>
          <a:xfrm>
            <a:off x="775411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84" name="Expanded 5,7"/>
          <p:cNvSpPr/>
          <p:nvPr/>
        </p:nvSpPr>
        <p:spPr>
          <a:xfrm>
            <a:off x="775411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5" name="Expanded 4,5"/>
          <p:cNvSpPr/>
          <p:nvPr/>
        </p:nvSpPr>
        <p:spPr>
          <a:xfrm>
            <a:off x="743407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86" name="Expanded 4,7"/>
          <p:cNvSpPr/>
          <p:nvPr/>
        </p:nvSpPr>
        <p:spPr>
          <a:xfrm>
            <a:off x="743407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7" name="Expanded 3,5"/>
          <p:cNvSpPr/>
          <p:nvPr/>
        </p:nvSpPr>
        <p:spPr>
          <a:xfrm>
            <a:off x="711403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88" name="Expanded 3,7"/>
          <p:cNvSpPr/>
          <p:nvPr/>
        </p:nvSpPr>
        <p:spPr>
          <a:xfrm>
            <a:off x="711403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89" name="Expanded 2,5"/>
          <p:cNvSpPr/>
          <p:nvPr/>
        </p:nvSpPr>
        <p:spPr>
          <a:xfrm>
            <a:off x="679399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190" name="Expanded 1,6"/>
          <p:cNvSpPr/>
          <p:nvPr/>
        </p:nvSpPr>
        <p:spPr>
          <a:xfrm>
            <a:off x="6473952"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191" name="Expanded 2,7"/>
          <p:cNvSpPr/>
          <p:nvPr/>
        </p:nvSpPr>
        <p:spPr>
          <a:xfrm>
            <a:off x="679399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192" name="Expanded 7,8"/>
          <p:cNvSpPr/>
          <p:nvPr/>
        </p:nvSpPr>
        <p:spPr>
          <a:xfrm>
            <a:off x="839419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93" name="Expanded 6,4"/>
          <p:cNvSpPr/>
          <p:nvPr/>
        </p:nvSpPr>
        <p:spPr>
          <a:xfrm>
            <a:off x="807415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94" name="Expanded 6,8"/>
          <p:cNvSpPr/>
          <p:nvPr/>
        </p:nvSpPr>
        <p:spPr>
          <a:xfrm>
            <a:off x="807415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95" name="Expanded 5,4"/>
          <p:cNvSpPr/>
          <p:nvPr/>
        </p:nvSpPr>
        <p:spPr>
          <a:xfrm>
            <a:off x="775411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96" name="Expanded 5,8"/>
          <p:cNvSpPr/>
          <p:nvPr/>
        </p:nvSpPr>
        <p:spPr>
          <a:xfrm>
            <a:off x="775411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97" name="Expanded 4,4"/>
          <p:cNvSpPr/>
          <p:nvPr/>
        </p:nvSpPr>
        <p:spPr>
          <a:xfrm>
            <a:off x="743407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198" name="Expanded 4,8"/>
          <p:cNvSpPr/>
          <p:nvPr/>
        </p:nvSpPr>
        <p:spPr>
          <a:xfrm>
            <a:off x="743407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199" name="Expanded 3,4"/>
          <p:cNvSpPr/>
          <p:nvPr/>
        </p:nvSpPr>
        <p:spPr>
          <a:xfrm>
            <a:off x="711403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00" name="Expanded 3,8"/>
          <p:cNvSpPr/>
          <p:nvPr/>
        </p:nvSpPr>
        <p:spPr>
          <a:xfrm>
            <a:off x="711403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01" name="Expanded 2,4"/>
          <p:cNvSpPr/>
          <p:nvPr/>
        </p:nvSpPr>
        <p:spPr>
          <a:xfrm>
            <a:off x="679399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02" name="Expanded 1,5"/>
          <p:cNvSpPr/>
          <p:nvPr/>
        </p:nvSpPr>
        <p:spPr>
          <a:xfrm>
            <a:off x="647395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203" name="Expanded 0,6"/>
          <p:cNvSpPr/>
          <p:nvPr/>
        </p:nvSpPr>
        <p:spPr>
          <a:xfrm>
            <a:off x="6153912" y="3886200"/>
            <a:ext cx="320040" cy="320040"/>
          </a:xfrm>
          <a:prstGeom prst="rect">
            <a:avLst/>
          </a:prstGeom>
          <a:solidFill>
            <a:schemeClr val="accent3">
              <a:alpha val="28000"/>
            </a:schemeClr>
          </a:solidFill>
          <a:ln w="6350">
            <a:solidFill>
              <a:schemeClr val="accent3">
                <a:alpha val="28000"/>
              </a:schemeClr>
            </a:solidFill>
            <a:prstDash val="solid"/>
          </a:ln>
        </p:spPr>
      </p:sp>
      <p:sp>
        <p:nvSpPr>
          <p:cNvPr id="204" name="Expanded 1,7"/>
          <p:cNvSpPr/>
          <p:nvPr/>
        </p:nvSpPr>
        <p:spPr>
          <a:xfrm>
            <a:off x="647395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205" name="Expanded 2,8"/>
          <p:cNvSpPr/>
          <p:nvPr/>
        </p:nvSpPr>
        <p:spPr>
          <a:xfrm>
            <a:off x="679399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06" name="Expanded 7,9"/>
          <p:cNvSpPr/>
          <p:nvPr/>
        </p:nvSpPr>
        <p:spPr>
          <a:xfrm>
            <a:off x="839419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07" name="Expanded 6,3"/>
          <p:cNvSpPr/>
          <p:nvPr/>
        </p:nvSpPr>
        <p:spPr>
          <a:xfrm>
            <a:off x="807415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08" name="Expanded 6,9"/>
          <p:cNvSpPr/>
          <p:nvPr/>
        </p:nvSpPr>
        <p:spPr>
          <a:xfrm>
            <a:off x="807415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09" name="Expanded 5,3"/>
          <p:cNvSpPr/>
          <p:nvPr/>
        </p:nvSpPr>
        <p:spPr>
          <a:xfrm>
            <a:off x="775411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10" name="Expanded 5,9"/>
          <p:cNvSpPr/>
          <p:nvPr/>
        </p:nvSpPr>
        <p:spPr>
          <a:xfrm>
            <a:off x="775411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11" name="Expanded 4,3"/>
          <p:cNvSpPr/>
          <p:nvPr/>
        </p:nvSpPr>
        <p:spPr>
          <a:xfrm>
            <a:off x="743407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12" name="Expanded 4,9"/>
          <p:cNvSpPr/>
          <p:nvPr/>
        </p:nvSpPr>
        <p:spPr>
          <a:xfrm>
            <a:off x="743407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13" name="Expanded 3,3"/>
          <p:cNvSpPr/>
          <p:nvPr/>
        </p:nvSpPr>
        <p:spPr>
          <a:xfrm>
            <a:off x="711403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14" name="Expanded 3,9"/>
          <p:cNvSpPr/>
          <p:nvPr/>
        </p:nvSpPr>
        <p:spPr>
          <a:xfrm>
            <a:off x="711403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15" name="Expanded 2,3"/>
          <p:cNvSpPr/>
          <p:nvPr/>
        </p:nvSpPr>
        <p:spPr>
          <a:xfrm>
            <a:off x="679399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16" name="Expanded 1,4"/>
          <p:cNvSpPr/>
          <p:nvPr/>
        </p:nvSpPr>
        <p:spPr>
          <a:xfrm>
            <a:off x="647395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17" name="Expanded 0,5"/>
          <p:cNvSpPr/>
          <p:nvPr/>
        </p:nvSpPr>
        <p:spPr>
          <a:xfrm>
            <a:off x="6153912" y="3566160"/>
            <a:ext cx="320040" cy="320040"/>
          </a:xfrm>
          <a:prstGeom prst="rect">
            <a:avLst/>
          </a:prstGeom>
          <a:solidFill>
            <a:schemeClr val="accent3">
              <a:alpha val="28000"/>
            </a:schemeClr>
          </a:solidFill>
          <a:ln w="6350">
            <a:solidFill>
              <a:schemeClr val="accent3">
                <a:alpha val="28000"/>
              </a:schemeClr>
            </a:solidFill>
            <a:prstDash val="solid"/>
          </a:ln>
        </p:spPr>
      </p:sp>
      <p:sp>
        <p:nvSpPr>
          <p:cNvPr id="218" name="Expanded 0,7"/>
          <p:cNvSpPr/>
          <p:nvPr/>
        </p:nvSpPr>
        <p:spPr>
          <a:xfrm>
            <a:off x="6153912" y="4206240"/>
            <a:ext cx="320040" cy="320040"/>
          </a:xfrm>
          <a:prstGeom prst="rect">
            <a:avLst/>
          </a:prstGeom>
          <a:solidFill>
            <a:schemeClr val="accent3">
              <a:alpha val="28000"/>
            </a:schemeClr>
          </a:solidFill>
          <a:ln w="6350">
            <a:solidFill>
              <a:schemeClr val="accent3">
                <a:alpha val="28000"/>
              </a:schemeClr>
            </a:solidFill>
            <a:prstDash val="solid"/>
          </a:ln>
        </p:spPr>
      </p:sp>
      <p:sp>
        <p:nvSpPr>
          <p:cNvPr id="219" name="Expanded 1,8"/>
          <p:cNvSpPr/>
          <p:nvPr/>
        </p:nvSpPr>
        <p:spPr>
          <a:xfrm>
            <a:off x="647395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20" name="Expanded 2,9"/>
          <p:cNvSpPr/>
          <p:nvPr/>
        </p:nvSpPr>
        <p:spPr>
          <a:xfrm>
            <a:off x="679399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21" name="Expanded 6,2"/>
          <p:cNvSpPr/>
          <p:nvPr/>
        </p:nvSpPr>
        <p:spPr>
          <a:xfrm>
            <a:off x="8074152"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222" name="Expanded 5,2"/>
          <p:cNvSpPr/>
          <p:nvPr/>
        </p:nvSpPr>
        <p:spPr>
          <a:xfrm>
            <a:off x="7754112"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223" name="Expanded 4,2"/>
          <p:cNvSpPr/>
          <p:nvPr/>
        </p:nvSpPr>
        <p:spPr>
          <a:xfrm>
            <a:off x="7434072"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224" name="Expanded 3,2"/>
          <p:cNvSpPr/>
          <p:nvPr/>
        </p:nvSpPr>
        <p:spPr>
          <a:xfrm>
            <a:off x="7114032"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225" name="Expanded 2,2"/>
          <p:cNvSpPr/>
          <p:nvPr/>
        </p:nvSpPr>
        <p:spPr>
          <a:xfrm>
            <a:off x="6793992" y="2606040"/>
            <a:ext cx="320040" cy="320040"/>
          </a:xfrm>
          <a:prstGeom prst="rect">
            <a:avLst/>
          </a:prstGeom>
          <a:solidFill>
            <a:schemeClr val="accent3">
              <a:alpha val="28000"/>
            </a:schemeClr>
          </a:solidFill>
          <a:ln w="6350">
            <a:solidFill>
              <a:schemeClr val="accent3">
                <a:alpha val="28000"/>
              </a:schemeClr>
            </a:solidFill>
            <a:prstDash val="solid"/>
          </a:ln>
        </p:spPr>
      </p:sp>
      <p:sp>
        <p:nvSpPr>
          <p:cNvPr id="226" name="Expanded 1,3"/>
          <p:cNvSpPr/>
          <p:nvPr/>
        </p:nvSpPr>
        <p:spPr>
          <a:xfrm>
            <a:off x="6473952" y="2926080"/>
            <a:ext cx="320040" cy="320040"/>
          </a:xfrm>
          <a:prstGeom prst="rect">
            <a:avLst/>
          </a:prstGeom>
          <a:solidFill>
            <a:schemeClr val="accent3">
              <a:alpha val="28000"/>
            </a:schemeClr>
          </a:solidFill>
          <a:ln w="6350">
            <a:solidFill>
              <a:schemeClr val="accent3">
                <a:alpha val="28000"/>
              </a:schemeClr>
            </a:solidFill>
            <a:prstDash val="solid"/>
          </a:ln>
        </p:spPr>
      </p:sp>
      <p:sp>
        <p:nvSpPr>
          <p:cNvPr id="227" name="Expanded 0,4"/>
          <p:cNvSpPr/>
          <p:nvPr/>
        </p:nvSpPr>
        <p:spPr>
          <a:xfrm>
            <a:off x="6153912" y="3246120"/>
            <a:ext cx="320040" cy="320040"/>
          </a:xfrm>
          <a:prstGeom prst="rect">
            <a:avLst/>
          </a:prstGeom>
          <a:solidFill>
            <a:schemeClr val="accent3">
              <a:alpha val="28000"/>
            </a:schemeClr>
          </a:solidFill>
          <a:ln w="6350">
            <a:solidFill>
              <a:schemeClr val="accent3">
                <a:alpha val="28000"/>
              </a:schemeClr>
            </a:solidFill>
            <a:prstDash val="solid"/>
          </a:ln>
        </p:spPr>
      </p:sp>
      <p:sp>
        <p:nvSpPr>
          <p:cNvPr id="228" name="Expanded 0,8"/>
          <p:cNvSpPr/>
          <p:nvPr/>
        </p:nvSpPr>
        <p:spPr>
          <a:xfrm>
            <a:off x="6153912" y="4526280"/>
            <a:ext cx="320040" cy="320040"/>
          </a:xfrm>
          <a:prstGeom prst="rect">
            <a:avLst/>
          </a:prstGeom>
          <a:solidFill>
            <a:schemeClr val="accent3">
              <a:alpha val="28000"/>
            </a:schemeClr>
          </a:solidFill>
          <a:ln w="6350">
            <a:solidFill>
              <a:schemeClr val="accent3">
                <a:alpha val="28000"/>
              </a:schemeClr>
            </a:solidFill>
            <a:prstDash val="solid"/>
          </a:ln>
        </p:spPr>
      </p:sp>
      <p:sp>
        <p:nvSpPr>
          <p:cNvPr id="229" name="Expanded 1,9"/>
          <p:cNvSpPr/>
          <p:nvPr/>
        </p:nvSpPr>
        <p:spPr>
          <a:xfrm>
            <a:off x="6473952" y="4846320"/>
            <a:ext cx="320040" cy="320040"/>
          </a:xfrm>
          <a:prstGeom prst="rect">
            <a:avLst/>
          </a:prstGeom>
          <a:solidFill>
            <a:schemeClr val="accent3">
              <a:alpha val="28000"/>
            </a:schemeClr>
          </a:solidFill>
          <a:ln w="6350">
            <a:solidFill>
              <a:schemeClr val="accent3">
                <a:alpha val="28000"/>
              </a:schemeClr>
            </a:solidFill>
            <a:prstDash val="solid"/>
          </a:ln>
        </p:spPr>
      </p:sp>
      <p:sp>
        <p:nvSpPr>
          <p:cNvPr id="230" name="Path 13,6"/>
          <p:cNvSpPr/>
          <p:nvPr/>
        </p:nvSpPr>
        <p:spPr>
          <a:xfrm>
            <a:off x="10314432" y="3886200"/>
            <a:ext cx="320040" cy="320040"/>
          </a:xfrm>
          <a:prstGeom prst="rect">
            <a:avLst/>
          </a:prstGeom>
          <a:solidFill>
            <a:schemeClr val="accent1"/>
          </a:solidFill>
          <a:ln w="6350">
            <a:solidFill>
              <a:schemeClr val="accent1"/>
            </a:solidFill>
            <a:prstDash val="solid"/>
          </a:ln>
        </p:spPr>
      </p:sp>
      <p:sp>
        <p:nvSpPr>
          <p:cNvPr id="231" name="Path 13,5"/>
          <p:cNvSpPr/>
          <p:nvPr/>
        </p:nvSpPr>
        <p:spPr>
          <a:xfrm>
            <a:off x="10314432" y="3566160"/>
            <a:ext cx="320040" cy="320040"/>
          </a:xfrm>
          <a:prstGeom prst="rect">
            <a:avLst/>
          </a:prstGeom>
          <a:solidFill>
            <a:schemeClr val="accent1"/>
          </a:solidFill>
          <a:ln w="6350">
            <a:solidFill>
              <a:schemeClr val="accent1"/>
            </a:solidFill>
            <a:prstDash val="solid"/>
          </a:ln>
        </p:spPr>
      </p:sp>
      <p:sp>
        <p:nvSpPr>
          <p:cNvPr id="232" name="Path 13,4"/>
          <p:cNvSpPr/>
          <p:nvPr/>
        </p:nvSpPr>
        <p:spPr>
          <a:xfrm>
            <a:off x="10314432" y="3246120"/>
            <a:ext cx="320040" cy="320040"/>
          </a:xfrm>
          <a:prstGeom prst="rect">
            <a:avLst/>
          </a:prstGeom>
          <a:solidFill>
            <a:schemeClr val="accent1"/>
          </a:solidFill>
          <a:ln w="6350">
            <a:solidFill>
              <a:schemeClr val="accent1"/>
            </a:solidFill>
            <a:prstDash val="solid"/>
          </a:ln>
        </p:spPr>
      </p:sp>
      <p:sp>
        <p:nvSpPr>
          <p:cNvPr id="233" name="Path 13,3"/>
          <p:cNvSpPr/>
          <p:nvPr/>
        </p:nvSpPr>
        <p:spPr>
          <a:xfrm>
            <a:off x="10314432" y="2926080"/>
            <a:ext cx="320040" cy="320040"/>
          </a:xfrm>
          <a:prstGeom prst="rect">
            <a:avLst/>
          </a:prstGeom>
          <a:solidFill>
            <a:schemeClr val="accent1"/>
          </a:solidFill>
          <a:ln w="6350">
            <a:solidFill>
              <a:schemeClr val="accent1"/>
            </a:solidFill>
            <a:prstDash val="solid"/>
          </a:ln>
        </p:spPr>
      </p:sp>
      <p:sp>
        <p:nvSpPr>
          <p:cNvPr id="234" name="Path 13,2"/>
          <p:cNvSpPr/>
          <p:nvPr/>
        </p:nvSpPr>
        <p:spPr>
          <a:xfrm>
            <a:off x="10314432" y="2606040"/>
            <a:ext cx="320040" cy="320040"/>
          </a:xfrm>
          <a:prstGeom prst="rect">
            <a:avLst/>
          </a:prstGeom>
          <a:solidFill>
            <a:schemeClr val="accent1"/>
          </a:solidFill>
          <a:ln w="6350">
            <a:solidFill>
              <a:schemeClr val="accent1"/>
            </a:solidFill>
            <a:prstDash val="solid"/>
          </a:ln>
        </p:spPr>
      </p:sp>
      <p:sp>
        <p:nvSpPr>
          <p:cNvPr id="235" name="Path 13,1"/>
          <p:cNvSpPr/>
          <p:nvPr/>
        </p:nvSpPr>
        <p:spPr>
          <a:xfrm>
            <a:off x="10314432" y="2286000"/>
            <a:ext cx="320040" cy="320040"/>
          </a:xfrm>
          <a:prstGeom prst="rect">
            <a:avLst/>
          </a:prstGeom>
          <a:solidFill>
            <a:schemeClr val="accent1"/>
          </a:solidFill>
          <a:ln w="6350">
            <a:solidFill>
              <a:schemeClr val="accent1"/>
            </a:solidFill>
            <a:prstDash val="solid"/>
          </a:ln>
        </p:spPr>
      </p:sp>
      <p:sp>
        <p:nvSpPr>
          <p:cNvPr id="236" name="Path 12,1"/>
          <p:cNvSpPr/>
          <p:nvPr/>
        </p:nvSpPr>
        <p:spPr>
          <a:xfrm>
            <a:off x="9994392" y="2286000"/>
            <a:ext cx="320040" cy="320040"/>
          </a:xfrm>
          <a:prstGeom prst="rect">
            <a:avLst/>
          </a:prstGeom>
          <a:solidFill>
            <a:schemeClr val="accent1"/>
          </a:solidFill>
          <a:ln w="6350">
            <a:solidFill>
              <a:schemeClr val="accent1"/>
            </a:solidFill>
            <a:prstDash val="solid"/>
          </a:ln>
        </p:spPr>
      </p:sp>
      <p:sp>
        <p:nvSpPr>
          <p:cNvPr id="237" name="Path 11,1"/>
          <p:cNvSpPr/>
          <p:nvPr/>
        </p:nvSpPr>
        <p:spPr>
          <a:xfrm>
            <a:off x="9674352" y="2286000"/>
            <a:ext cx="320040" cy="320040"/>
          </a:xfrm>
          <a:prstGeom prst="rect">
            <a:avLst/>
          </a:prstGeom>
          <a:solidFill>
            <a:schemeClr val="accent1"/>
          </a:solidFill>
          <a:ln w="6350">
            <a:solidFill>
              <a:schemeClr val="accent1"/>
            </a:solidFill>
            <a:prstDash val="solid"/>
          </a:ln>
        </p:spPr>
      </p:sp>
      <p:sp>
        <p:nvSpPr>
          <p:cNvPr id="238" name="Path 10,1"/>
          <p:cNvSpPr/>
          <p:nvPr/>
        </p:nvSpPr>
        <p:spPr>
          <a:xfrm>
            <a:off x="9354312" y="2286000"/>
            <a:ext cx="320040" cy="320040"/>
          </a:xfrm>
          <a:prstGeom prst="rect">
            <a:avLst/>
          </a:prstGeom>
          <a:solidFill>
            <a:schemeClr val="accent1"/>
          </a:solidFill>
          <a:ln w="6350">
            <a:solidFill>
              <a:schemeClr val="accent1"/>
            </a:solidFill>
            <a:prstDash val="solid"/>
          </a:ln>
        </p:spPr>
      </p:sp>
      <p:sp>
        <p:nvSpPr>
          <p:cNvPr id="239" name="Path 9,1"/>
          <p:cNvSpPr/>
          <p:nvPr/>
        </p:nvSpPr>
        <p:spPr>
          <a:xfrm>
            <a:off x="9034272" y="2286000"/>
            <a:ext cx="320040" cy="320040"/>
          </a:xfrm>
          <a:prstGeom prst="rect">
            <a:avLst/>
          </a:prstGeom>
          <a:solidFill>
            <a:schemeClr val="accent1"/>
          </a:solidFill>
          <a:ln w="6350">
            <a:solidFill>
              <a:schemeClr val="accent1"/>
            </a:solidFill>
            <a:prstDash val="solid"/>
          </a:ln>
        </p:spPr>
      </p:sp>
      <p:sp>
        <p:nvSpPr>
          <p:cNvPr id="240" name="Path 8,1"/>
          <p:cNvSpPr/>
          <p:nvPr/>
        </p:nvSpPr>
        <p:spPr>
          <a:xfrm>
            <a:off x="8714232" y="2286000"/>
            <a:ext cx="320040" cy="320040"/>
          </a:xfrm>
          <a:prstGeom prst="rect">
            <a:avLst/>
          </a:prstGeom>
          <a:solidFill>
            <a:schemeClr val="accent1"/>
          </a:solidFill>
          <a:ln w="6350">
            <a:solidFill>
              <a:schemeClr val="accent1"/>
            </a:solidFill>
            <a:prstDash val="solid"/>
          </a:ln>
        </p:spPr>
      </p:sp>
      <p:sp>
        <p:nvSpPr>
          <p:cNvPr id="241" name="Path 7,1"/>
          <p:cNvSpPr/>
          <p:nvPr/>
        </p:nvSpPr>
        <p:spPr>
          <a:xfrm>
            <a:off x="8394192" y="2286000"/>
            <a:ext cx="320040" cy="320040"/>
          </a:xfrm>
          <a:prstGeom prst="rect">
            <a:avLst/>
          </a:prstGeom>
          <a:solidFill>
            <a:schemeClr val="accent1"/>
          </a:solidFill>
          <a:ln w="6350">
            <a:solidFill>
              <a:schemeClr val="accent1"/>
            </a:solidFill>
            <a:prstDash val="solid"/>
          </a:ln>
        </p:spPr>
      </p:sp>
      <p:sp>
        <p:nvSpPr>
          <p:cNvPr id="242" name="Path 7,2"/>
          <p:cNvSpPr/>
          <p:nvPr/>
        </p:nvSpPr>
        <p:spPr>
          <a:xfrm>
            <a:off x="8394192" y="2606040"/>
            <a:ext cx="320040" cy="320040"/>
          </a:xfrm>
          <a:prstGeom prst="rect">
            <a:avLst/>
          </a:prstGeom>
          <a:solidFill>
            <a:schemeClr val="accent1"/>
          </a:solidFill>
          <a:ln w="6350">
            <a:solidFill>
              <a:schemeClr val="accent1"/>
            </a:solidFill>
            <a:prstDash val="solid"/>
          </a:ln>
        </p:spPr>
      </p:sp>
      <p:sp>
        <p:nvSpPr>
          <p:cNvPr id="243" name="Path 7,3"/>
          <p:cNvSpPr/>
          <p:nvPr/>
        </p:nvSpPr>
        <p:spPr>
          <a:xfrm>
            <a:off x="8394192" y="2926080"/>
            <a:ext cx="320040" cy="320040"/>
          </a:xfrm>
          <a:prstGeom prst="rect">
            <a:avLst/>
          </a:prstGeom>
          <a:solidFill>
            <a:schemeClr val="accent1"/>
          </a:solidFill>
          <a:ln w="6350">
            <a:solidFill>
              <a:schemeClr val="accent1"/>
            </a:solidFill>
            <a:prstDash val="solid"/>
          </a:ln>
        </p:spPr>
      </p:sp>
      <p:sp>
        <p:nvSpPr>
          <p:cNvPr id="244" name="Path 7,4"/>
          <p:cNvSpPr/>
          <p:nvPr/>
        </p:nvSpPr>
        <p:spPr>
          <a:xfrm>
            <a:off x="8394192" y="3246120"/>
            <a:ext cx="320040" cy="320040"/>
          </a:xfrm>
          <a:prstGeom prst="rect">
            <a:avLst/>
          </a:prstGeom>
          <a:solidFill>
            <a:schemeClr val="accent1"/>
          </a:solidFill>
          <a:ln w="6350">
            <a:solidFill>
              <a:schemeClr val="accent1"/>
            </a:solidFill>
            <a:prstDash val="solid"/>
          </a:ln>
        </p:spPr>
      </p:sp>
      <p:sp>
        <p:nvSpPr>
          <p:cNvPr id="245" name="Path 7,5"/>
          <p:cNvSpPr/>
          <p:nvPr/>
        </p:nvSpPr>
        <p:spPr>
          <a:xfrm>
            <a:off x="8394192" y="3566160"/>
            <a:ext cx="320040" cy="320040"/>
          </a:xfrm>
          <a:prstGeom prst="rect">
            <a:avLst/>
          </a:prstGeom>
          <a:solidFill>
            <a:schemeClr val="accent1"/>
          </a:solidFill>
          <a:ln w="6350">
            <a:solidFill>
              <a:schemeClr val="accent1"/>
            </a:solidFill>
            <a:prstDash val="solid"/>
          </a:ln>
        </p:spPr>
      </p:sp>
      <p:sp>
        <p:nvSpPr>
          <p:cNvPr id="246" name="Path 7,6"/>
          <p:cNvSpPr/>
          <p:nvPr/>
        </p:nvSpPr>
        <p:spPr>
          <a:xfrm>
            <a:off x="8394192" y="3886200"/>
            <a:ext cx="320040" cy="320040"/>
          </a:xfrm>
          <a:prstGeom prst="rect">
            <a:avLst/>
          </a:prstGeom>
          <a:solidFill>
            <a:schemeClr val="accent1"/>
          </a:solidFill>
          <a:ln w="6350">
            <a:solidFill>
              <a:schemeClr val="accent1"/>
            </a:solidFill>
            <a:prstDash val="solid"/>
          </a:ln>
        </p:spPr>
      </p:sp>
      <p:sp>
        <p:nvSpPr>
          <p:cNvPr id="247" name="Path 6,6"/>
          <p:cNvSpPr/>
          <p:nvPr/>
        </p:nvSpPr>
        <p:spPr>
          <a:xfrm>
            <a:off x="8074152" y="3886200"/>
            <a:ext cx="320040" cy="320040"/>
          </a:xfrm>
          <a:prstGeom prst="rect">
            <a:avLst/>
          </a:prstGeom>
          <a:solidFill>
            <a:schemeClr val="accent1"/>
          </a:solidFill>
          <a:ln w="6350">
            <a:solidFill>
              <a:schemeClr val="accent1"/>
            </a:solidFill>
            <a:prstDash val="solid"/>
          </a:ln>
        </p:spPr>
      </p:sp>
      <p:sp>
        <p:nvSpPr>
          <p:cNvPr id="248" name="Path 5,6"/>
          <p:cNvSpPr/>
          <p:nvPr/>
        </p:nvSpPr>
        <p:spPr>
          <a:xfrm>
            <a:off x="7754112" y="3886200"/>
            <a:ext cx="320040" cy="320040"/>
          </a:xfrm>
          <a:prstGeom prst="rect">
            <a:avLst/>
          </a:prstGeom>
          <a:solidFill>
            <a:schemeClr val="accent1"/>
          </a:solidFill>
          <a:ln w="6350">
            <a:solidFill>
              <a:schemeClr val="accent1"/>
            </a:solidFill>
            <a:prstDash val="solid"/>
          </a:ln>
        </p:spPr>
      </p:sp>
      <p:sp>
        <p:nvSpPr>
          <p:cNvPr id="249" name="Path 4,6"/>
          <p:cNvSpPr/>
          <p:nvPr/>
        </p:nvSpPr>
        <p:spPr>
          <a:xfrm>
            <a:off x="7434072" y="3886200"/>
            <a:ext cx="320040" cy="320040"/>
          </a:xfrm>
          <a:prstGeom prst="rect">
            <a:avLst/>
          </a:prstGeom>
          <a:solidFill>
            <a:schemeClr val="accent1"/>
          </a:solidFill>
          <a:ln w="6350">
            <a:solidFill>
              <a:schemeClr val="accent1"/>
            </a:solidFill>
            <a:prstDash val="solid"/>
          </a:ln>
        </p:spPr>
      </p:sp>
      <p:sp>
        <p:nvSpPr>
          <p:cNvPr id="250" name="Path 3,6"/>
          <p:cNvSpPr/>
          <p:nvPr/>
        </p:nvSpPr>
        <p:spPr>
          <a:xfrm>
            <a:off x="7114032" y="3886200"/>
            <a:ext cx="320040" cy="320040"/>
          </a:xfrm>
          <a:prstGeom prst="rect">
            <a:avLst/>
          </a:prstGeom>
          <a:solidFill>
            <a:schemeClr val="accent1"/>
          </a:solidFill>
          <a:ln w="6350">
            <a:solidFill>
              <a:schemeClr val="accent1"/>
            </a:solidFill>
            <a:prstDash val="solid"/>
          </a:ln>
        </p:spPr>
      </p:sp>
      <p:sp>
        <p:nvSpPr>
          <p:cNvPr id="251" name="Path 2,6"/>
          <p:cNvSpPr/>
          <p:nvPr/>
        </p:nvSpPr>
        <p:spPr>
          <a:xfrm>
            <a:off x="6793992" y="3886200"/>
            <a:ext cx="320040" cy="320040"/>
          </a:xfrm>
          <a:prstGeom prst="rect">
            <a:avLst/>
          </a:prstGeom>
          <a:solidFill>
            <a:schemeClr val="accent1"/>
          </a:solidFill>
          <a:ln w="6350">
            <a:solidFill>
              <a:schemeClr val="accent1"/>
            </a:solidFill>
            <a:prstDash val="solid"/>
          </a:ln>
        </p:spPr>
      </p:sp>
      <p:sp>
        <p:nvSpPr>
          <p:cNvPr id="252" name="Wall 8,2"/>
          <p:cNvSpPr/>
          <p:nvPr/>
        </p:nvSpPr>
        <p:spPr>
          <a:xfrm>
            <a:off x="8714232" y="2606040"/>
            <a:ext cx="320040" cy="320040"/>
          </a:xfrm>
          <a:prstGeom prst="rect">
            <a:avLst/>
          </a:prstGeom>
          <a:solidFill>
            <a:schemeClr val="tx1"/>
          </a:solidFill>
          <a:ln w="6350">
            <a:solidFill>
              <a:schemeClr val="tx1"/>
            </a:solidFill>
            <a:prstDash val="solid"/>
          </a:ln>
        </p:spPr>
      </p:sp>
      <p:sp>
        <p:nvSpPr>
          <p:cNvPr id="253" name="Wall 8,3"/>
          <p:cNvSpPr/>
          <p:nvPr/>
        </p:nvSpPr>
        <p:spPr>
          <a:xfrm>
            <a:off x="8714232" y="2926080"/>
            <a:ext cx="320040" cy="320040"/>
          </a:xfrm>
          <a:prstGeom prst="rect">
            <a:avLst/>
          </a:prstGeom>
          <a:solidFill>
            <a:schemeClr val="tx1"/>
          </a:solidFill>
          <a:ln w="6350">
            <a:solidFill>
              <a:schemeClr val="tx1"/>
            </a:solidFill>
            <a:prstDash val="solid"/>
          </a:ln>
        </p:spPr>
      </p:sp>
      <p:sp>
        <p:nvSpPr>
          <p:cNvPr id="254" name="Wall 8,4"/>
          <p:cNvSpPr/>
          <p:nvPr/>
        </p:nvSpPr>
        <p:spPr>
          <a:xfrm>
            <a:off x="8714232" y="3246120"/>
            <a:ext cx="320040" cy="320040"/>
          </a:xfrm>
          <a:prstGeom prst="rect">
            <a:avLst/>
          </a:prstGeom>
          <a:solidFill>
            <a:schemeClr val="tx1"/>
          </a:solidFill>
          <a:ln w="6350">
            <a:solidFill>
              <a:schemeClr val="tx1"/>
            </a:solidFill>
            <a:prstDash val="solid"/>
          </a:ln>
        </p:spPr>
      </p:sp>
      <p:sp>
        <p:nvSpPr>
          <p:cNvPr id="255" name="Wall 8,5"/>
          <p:cNvSpPr/>
          <p:nvPr/>
        </p:nvSpPr>
        <p:spPr>
          <a:xfrm>
            <a:off x="8714232" y="3566160"/>
            <a:ext cx="320040" cy="320040"/>
          </a:xfrm>
          <a:prstGeom prst="rect">
            <a:avLst/>
          </a:prstGeom>
          <a:solidFill>
            <a:schemeClr val="tx1"/>
          </a:solidFill>
          <a:ln w="6350">
            <a:solidFill>
              <a:schemeClr val="tx1"/>
            </a:solidFill>
            <a:prstDash val="solid"/>
          </a:ln>
        </p:spPr>
      </p:sp>
      <p:sp>
        <p:nvSpPr>
          <p:cNvPr id="256" name="Wall 8,6"/>
          <p:cNvSpPr/>
          <p:nvPr/>
        </p:nvSpPr>
        <p:spPr>
          <a:xfrm>
            <a:off x="8714232" y="3886200"/>
            <a:ext cx="320040" cy="320040"/>
          </a:xfrm>
          <a:prstGeom prst="rect">
            <a:avLst/>
          </a:prstGeom>
          <a:solidFill>
            <a:schemeClr val="tx1"/>
          </a:solidFill>
          <a:ln w="6350">
            <a:solidFill>
              <a:schemeClr val="tx1"/>
            </a:solidFill>
            <a:prstDash val="solid"/>
          </a:ln>
        </p:spPr>
      </p:sp>
      <p:sp>
        <p:nvSpPr>
          <p:cNvPr id="257" name="Wall 8,7"/>
          <p:cNvSpPr/>
          <p:nvPr/>
        </p:nvSpPr>
        <p:spPr>
          <a:xfrm>
            <a:off x="8714232" y="4206240"/>
            <a:ext cx="320040" cy="320040"/>
          </a:xfrm>
          <a:prstGeom prst="rect">
            <a:avLst/>
          </a:prstGeom>
          <a:solidFill>
            <a:schemeClr val="tx1"/>
          </a:solidFill>
          <a:ln w="6350">
            <a:solidFill>
              <a:schemeClr val="tx1"/>
            </a:solidFill>
            <a:prstDash val="solid"/>
          </a:ln>
        </p:spPr>
      </p:sp>
      <p:sp>
        <p:nvSpPr>
          <p:cNvPr id="258" name="Wall 8,8"/>
          <p:cNvSpPr/>
          <p:nvPr/>
        </p:nvSpPr>
        <p:spPr>
          <a:xfrm>
            <a:off x="8714232" y="4526280"/>
            <a:ext cx="320040" cy="320040"/>
          </a:xfrm>
          <a:prstGeom prst="rect">
            <a:avLst/>
          </a:prstGeom>
          <a:solidFill>
            <a:schemeClr val="tx1"/>
          </a:solidFill>
          <a:ln w="6350">
            <a:solidFill>
              <a:schemeClr val="tx1"/>
            </a:solidFill>
            <a:prstDash val="solid"/>
          </a:ln>
        </p:spPr>
      </p:sp>
      <p:sp>
        <p:nvSpPr>
          <p:cNvPr id="259" name="Wall 8,9"/>
          <p:cNvSpPr/>
          <p:nvPr/>
        </p:nvSpPr>
        <p:spPr>
          <a:xfrm>
            <a:off x="8714232" y="4846320"/>
            <a:ext cx="320040" cy="320040"/>
          </a:xfrm>
          <a:prstGeom prst="rect">
            <a:avLst/>
          </a:prstGeom>
          <a:solidFill>
            <a:schemeClr val="tx1"/>
          </a:solidFill>
          <a:ln w="6350">
            <a:solidFill>
              <a:schemeClr val="tx1"/>
            </a:solidFill>
            <a:prstDash val="solid"/>
          </a:ln>
        </p:spPr>
      </p:sp>
      <p:sp>
        <p:nvSpPr>
          <p:cNvPr id="260" name="Grid v0"/>
          <p:cNvSpPr/>
          <p:nvPr/>
        </p:nvSpPr>
        <p:spPr>
          <a:xfrm>
            <a:off x="6153912" y="1965960"/>
            <a:ext cx="0" cy="3200400"/>
          </a:xfrm>
          <a:prstGeom prst="line">
            <a:avLst/>
          </a:prstGeom>
          <a:noFill/>
          <a:ln w="6350">
            <a:solidFill>
              <a:schemeClr val="accent6">
                <a:alpha val="30000"/>
              </a:schemeClr>
            </a:solidFill>
            <a:prstDash val="solid"/>
          </a:ln>
        </p:spPr>
      </p:sp>
      <p:sp>
        <p:nvSpPr>
          <p:cNvPr id="261" name="Grid v1"/>
          <p:cNvSpPr/>
          <p:nvPr/>
        </p:nvSpPr>
        <p:spPr>
          <a:xfrm>
            <a:off x="6473952" y="1965960"/>
            <a:ext cx="0" cy="3200400"/>
          </a:xfrm>
          <a:prstGeom prst="line">
            <a:avLst/>
          </a:prstGeom>
          <a:noFill/>
          <a:ln w="6350">
            <a:solidFill>
              <a:schemeClr val="accent6">
                <a:alpha val="30000"/>
              </a:schemeClr>
            </a:solidFill>
            <a:prstDash val="solid"/>
          </a:ln>
        </p:spPr>
      </p:sp>
      <p:sp>
        <p:nvSpPr>
          <p:cNvPr id="262" name="Grid v2"/>
          <p:cNvSpPr/>
          <p:nvPr/>
        </p:nvSpPr>
        <p:spPr>
          <a:xfrm>
            <a:off x="6793992" y="1965960"/>
            <a:ext cx="0" cy="3200400"/>
          </a:xfrm>
          <a:prstGeom prst="line">
            <a:avLst/>
          </a:prstGeom>
          <a:noFill/>
          <a:ln w="6350">
            <a:solidFill>
              <a:schemeClr val="accent6">
                <a:alpha val="30000"/>
              </a:schemeClr>
            </a:solidFill>
            <a:prstDash val="solid"/>
          </a:ln>
        </p:spPr>
      </p:sp>
      <p:sp>
        <p:nvSpPr>
          <p:cNvPr id="263" name="Grid v3"/>
          <p:cNvSpPr/>
          <p:nvPr/>
        </p:nvSpPr>
        <p:spPr>
          <a:xfrm>
            <a:off x="7114032" y="1965960"/>
            <a:ext cx="0" cy="3200400"/>
          </a:xfrm>
          <a:prstGeom prst="line">
            <a:avLst/>
          </a:prstGeom>
          <a:noFill/>
          <a:ln w="6350">
            <a:solidFill>
              <a:schemeClr val="accent6">
                <a:alpha val="30000"/>
              </a:schemeClr>
            </a:solidFill>
            <a:prstDash val="solid"/>
          </a:ln>
        </p:spPr>
      </p:sp>
      <p:sp>
        <p:nvSpPr>
          <p:cNvPr id="264" name="Grid v4"/>
          <p:cNvSpPr/>
          <p:nvPr/>
        </p:nvSpPr>
        <p:spPr>
          <a:xfrm>
            <a:off x="7434072" y="1965960"/>
            <a:ext cx="0" cy="3200400"/>
          </a:xfrm>
          <a:prstGeom prst="line">
            <a:avLst/>
          </a:prstGeom>
          <a:noFill/>
          <a:ln w="6350">
            <a:solidFill>
              <a:schemeClr val="accent6">
                <a:alpha val="30000"/>
              </a:schemeClr>
            </a:solidFill>
            <a:prstDash val="solid"/>
          </a:ln>
        </p:spPr>
      </p:sp>
      <p:sp>
        <p:nvSpPr>
          <p:cNvPr id="265" name="Grid v5"/>
          <p:cNvSpPr/>
          <p:nvPr/>
        </p:nvSpPr>
        <p:spPr>
          <a:xfrm>
            <a:off x="7754112" y="1965960"/>
            <a:ext cx="0" cy="3200400"/>
          </a:xfrm>
          <a:prstGeom prst="line">
            <a:avLst/>
          </a:prstGeom>
          <a:noFill/>
          <a:ln w="6350">
            <a:solidFill>
              <a:schemeClr val="accent6">
                <a:alpha val="30000"/>
              </a:schemeClr>
            </a:solidFill>
            <a:prstDash val="solid"/>
          </a:ln>
        </p:spPr>
      </p:sp>
      <p:sp>
        <p:nvSpPr>
          <p:cNvPr id="266" name="Grid v6"/>
          <p:cNvSpPr/>
          <p:nvPr/>
        </p:nvSpPr>
        <p:spPr>
          <a:xfrm>
            <a:off x="8074152" y="1965960"/>
            <a:ext cx="0" cy="3200400"/>
          </a:xfrm>
          <a:prstGeom prst="line">
            <a:avLst/>
          </a:prstGeom>
          <a:noFill/>
          <a:ln w="6350">
            <a:solidFill>
              <a:schemeClr val="accent6">
                <a:alpha val="30000"/>
              </a:schemeClr>
            </a:solidFill>
            <a:prstDash val="solid"/>
          </a:ln>
        </p:spPr>
      </p:sp>
      <p:sp>
        <p:nvSpPr>
          <p:cNvPr id="267" name="Grid v7"/>
          <p:cNvSpPr/>
          <p:nvPr/>
        </p:nvSpPr>
        <p:spPr>
          <a:xfrm>
            <a:off x="8394192" y="1965960"/>
            <a:ext cx="0" cy="3200400"/>
          </a:xfrm>
          <a:prstGeom prst="line">
            <a:avLst/>
          </a:prstGeom>
          <a:noFill/>
          <a:ln w="6350">
            <a:solidFill>
              <a:schemeClr val="accent6">
                <a:alpha val="30000"/>
              </a:schemeClr>
            </a:solidFill>
            <a:prstDash val="solid"/>
          </a:ln>
        </p:spPr>
      </p:sp>
      <p:sp>
        <p:nvSpPr>
          <p:cNvPr id="268" name="Grid v8"/>
          <p:cNvSpPr/>
          <p:nvPr/>
        </p:nvSpPr>
        <p:spPr>
          <a:xfrm>
            <a:off x="8714232" y="1965960"/>
            <a:ext cx="0" cy="3200400"/>
          </a:xfrm>
          <a:prstGeom prst="line">
            <a:avLst/>
          </a:prstGeom>
          <a:noFill/>
          <a:ln w="6350">
            <a:solidFill>
              <a:schemeClr val="accent6">
                <a:alpha val="30000"/>
              </a:schemeClr>
            </a:solidFill>
            <a:prstDash val="solid"/>
          </a:ln>
        </p:spPr>
      </p:sp>
      <p:sp>
        <p:nvSpPr>
          <p:cNvPr id="269" name="Grid v9"/>
          <p:cNvSpPr/>
          <p:nvPr/>
        </p:nvSpPr>
        <p:spPr>
          <a:xfrm>
            <a:off x="9034272" y="1965960"/>
            <a:ext cx="0" cy="3200400"/>
          </a:xfrm>
          <a:prstGeom prst="line">
            <a:avLst/>
          </a:prstGeom>
          <a:noFill/>
          <a:ln w="6350">
            <a:solidFill>
              <a:schemeClr val="accent6">
                <a:alpha val="30000"/>
              </a:schemeClr>
            </a:solidFill>
            <a:prstDash val="solid"/>
          </a:ln>
        </p:spPr>
      </p:sp>
      <p:sp>
        <p:nvSpPr>
          <p:cNvPr id="270" name="Grid v10"/>
          <p:cNvSpPr/>
          <p:nvPr/>
        </p:nvSpPr>
        <p:spPr>
          <a:xfrm>
            <a:off x="9354312" y="1965960"/>
            <a:ext cx="0" cy="3200400"/>
          </a:xfrm>
          <a:prstGeom prst="line">
            <a:avLst/>
          </a:prstGeom>
          <a:noFill/>
          <a:ln w="6350">
            <a:solidFill>
              <a:schemeClr val="accent6">
                <a:alpha val="30000"/>
              </a:schemeClr>
            </a:solidFill>
            <a:prstDash val="solid"/>
          </a:ln>
        </p:spPr>
      </p:sp>
      <p:sp>
        <p:nvSpPr>
          <p:cNvPr id="271" name="Grid v11"/>
          <p:cNvSpPr/>
          <p:nvPr/>
        </p:nvSpPr>
        <p:spPr>
          <a:xfrm>
            <a:off x="9674352" y="1965960"/>
            <a:ext cx="0" cy="3200400"/>
          </a:xfrm>
          <a:prstGeom prst="line">
            <a:avLst/>
          </a:prstGeom>
          <a:noFill/>
          <a:ln w="6350">
            <a:solidFill>
              <a:schemeClr val="accent6">
                <a:alpha val="30000"/>
              </a:schemeClr>
            </a:solidFill>
            <a:prstDash val="solid"/>
          </a:ln>
        </p:spPr>
      </p:sp>
      <p:sp>
        <p:nvSpPr>
          <p:cNvPr id="272" name="Grid v12"/>
          <p:cNvSpPr/>
          <p:nvPr/>
        </p:nvSpPr>
        <p:spPr>
          <a:xfrm>
            <a:off x="9994392" y="1965960"/>
            <a:ext cx="0" cy="3200400"/>
          </a:xfrm>
          <a:prstGeom prst="line">
            <a:avLst/>
          </a:prstGeom>
          <a:noFill/>
          <a:ln w="6350">
            <a:solidFill>
              <a:schemeClr val="accent6">
                <a:alpha val="30000"/>
              </a:schemeClr>
            </a:solidFill>
            <a:prstDash val="solid"/>
          </a:ln>
        </p:spPr>
      </p:sp>
      <p:sp>
        <p:nvSpPr>
          <p:cNvPr id="273" name="Grid v13"/>
          <p:cNvSpPr/>
          <p:nvPr/>
        </p:nvSpPr>
        <p:spPr>
          <a:xfrm>
            <a:off x="10314432" y="1965960"/>
            <a:ext cx="0" cy="3200400"/>
          </a:xfrm>
          <a:prstGeom prst="line">
            <a:avLst/>
          </a:prstGeom>
          <a:noFill/>
          <a:ln w="6350">
            <a:solidFill>
              <a:schemeClr val="accent6">
                <a:alpha val="30000"/>
              </a:schemeClr>
            </a:solidFill>
            <a:prstDash val="solid"/>
          </a:ln>
        </p:spPr>
      </p:sp>
      <p:sp>
        <p:nvSpPr>
          <p:cNvPr id="274" name="Grid v14"/>
          <p:cNvSpPr/>
          <p:nvPr/>
        </p:nvSpPr>
        <p:spPr>
          <a:xfrm>
            <a:off x="10634472" y="1965960"/>
            <a:ext cx="0" cy="3200400"/>
          </a:xfrm>
          <a:prstGeom prst="line">
            <a:avLst/>
          </a:prstGeom>
          <a:noFill/>
          <a:ln w="6350">
            <a:solidFill>
              <a:schemeClr val="accent6">
                <a:alpha val="30000"/>
              </a:schemeClr>
            </a:solidFill>
            <a:prstDash val="solid"/>
          </a:ln>
        </p:spPr>
      </p:sp>
      <p:sp>
        <p:nvSpPr>
          <p:cNvPr id="275" name="Grid v15"/>
          <p:cNvSpPr/>
          <p:nvPr/>
        </p:nvSpPr>
        <p:spPr>
          <a:xfrm>
            <a:off x="10954512" y="1965960"/>
            <a:ext cx="0" cy="3200400"/>
          </a:xfrm>
          <a:prstGeom prst="line">
            <a:avLst/>
          </a:prstGeom>
          <a:noFill/>
          <a:ln w="6350">
            <a:solidFill>
              <a:schemeClr val="accent6">
                <a:alpha val="30000"/>
              </a:schemeClr>
            </a:solidFill>
            <a:prstDash val="solid"/>
          </a:ln>
        </p:spPr>
      </p:sp>
      <p:sp>
        <p:nvSpPr>
          <p:cNvPr id="276" name="Grid v16"/>
          <p:cNvSpPr/>
          <p:nvPr/>
        </p:nvSpPr>
        <p:spPr>
          <a:xfrm>
            <a:off x="11274552" y="1965960"/>
            <a:ext cx="0" cy="3200400"/>
          </a:xfrm>
          <a:prstGeom prst="line">
            <a:avLst/>
          </a:prstGeom>
          <a:noFill/>
          <a:ln w="6350">
            <a:solidFill>
              <a:schemeClr val="accent6">
                <a:alpha val="30000"/>
              </a:schemeClr>
            </a:solidFill>
            <a:prstDash val="solid"/>
          </a:ln>
        </p:spPr>
      </p:sp>
      <p:sp>
        <p:nvSpPr>
          <p:cNvPr id="277" name="Grid h0"/>
          <p:cNvSpPr/>
          <p:nvPr/>
        </p:nvSpPr>
        <p:spPr>
          <a:xfrm>
            <a:off x="6153912" y="1965960"/>
            <a:ext cx="5120640" cy="0"/>
          </a:xfrm>
          <a:prstGeom prst="line">
            <a:avLst/>
          </a:prstGeom>
          <a:noFill/>
          <a:ln w="6350">
            <a:solidFill>
              <a:schemeClr val="accent6">
                <a:alpha val="30000"/>
              </a:schemeClr>
            </a:solidFill>
            <a:prstDash val="solid"/>
          </a:ln>
        </p:spPr>
      </p:sp>
      <p:sp>
        <p:nvSpPr>
          <p:cNvPr id="278" name="Grid h1"/>
          <p:cNvSpPr/>
          <p:nvPr/>
        </p:nvSpPr>
        <p:spPr>
          <a:xfrm>
            <a:off x="6153912" y="2286000"/>
            <a:ext cx="5120640" cy="0"/>
          </a:xfrm>
          <a:prstGeom prst="line">
            <a:avLst/>
          </a:prstGeom>
          <a:noFill/>
          <a:ln w="6350">
            <a:solidFill>
              <a:schemeClr val="accent6">
                <a:alpha val="30000"/>
              </a:schemeClr>
            </a:solidFill>
            <a:prstDash val="solid"/>
          </a:ln>
        </p:spPr>
      </p:sp>
      <p:sp>
        <p:nvSpPr>
          <p:cNvPr id="279" name="Grid h2"/>
          <p:cNvSpPr/>
          <p:nvPr/>
        </p:nvSpPr>
        <p:spPr>
          <a:xfrm>
            <a:off x="6153912" y="2606040"/>
            <a:ext cx="5120640" cy="0"/>
          </a:xfrm>
          <a:prstGeom prst="line">
            <a:avLst/>
          </a:prstGeom>
          <a:noFill/>
          <a:ln w="6350">
            <a:solidFill>
              <a:schemeClr val="accent6">
                <a:alpha val="30000"/>
              </a:schemeClr>
            </a:solidFill>
            <a:prstDash val="solid"/>
          </a:ln>
        </p:spPr>
      </p:sp>
      <p:sp>
        <p:nvSpPr>
          <p:cNvPr id="280" name="Grid h3"/>
          <p:cNvSpPr/>
          <p:nvPr/>
        </p:nvSpPr>
        <p:spPr>
          <a:xfrm>
            <a:off x="6153912" y="2926080"/>
            <a:ext cx="5120640" cy="0"/>
          </a:xfrm>
          <a:prstGeom prst="line">
            <a:avLst/>
          </a:prstGeom>
          <a:noFill/>
          <a:ln w="6350">
            <a:solidFill>
              <a:schemeClr val="accent6">
                <a:alpha val="30000"/>
              </a:schemeClr>
            </a:solidFill>
            <a:prstDash val="solid"/>
          </a:ln>
        </p:spPr>
      </p:sp>
      <p:sp>
        <p:nvSpPr>
          <p:cNvPr id="281" name="Grid h4"/>
          <p:cNvSpPr/>
          <p:nvPr/>
        </p:nvSpPr>
        <p:spPr>
          <a:xfrm>
            <a:off x="6153912" y="3246120"/>
            <a:ext cx="5120640" cy="0"/>
          </a:xfrm>
          <a:prstGeom prst="line">
            <a:avLst/>
          </a:prstGeom>
          <a:noFill/>
          <a:ln w="6350">
            <a:solidFill>
              <a:schemeClr val="accent6">
                <a:alpha val="30000"/>
              </a:schemeClr>
            </a:solidFill>
            <a:prstDash val="solid"/>
          </a:ln>
        </p:spPr>
      </p:sp>
      <p:sp>
        <p:nvSpPr>
          <p:cNvPr id="282" name="Grid h5"/>
          <p:cNvSpPr/>
          <p:nvPr/>
        </p:nvSpPr>
        <p:spPr>
          <a:xfrm>
            <a:off x="6153912" y="3566160"/>
            <a:ext cx="5120640" cy="0"/>
          </a:xfrm>
          <a:prstGeom prst="line">
            <a:avLst/>
          </a:prstGeom>
          <a:noFill/>
          <a:ln w="6350">
            <a:solidFill>
              <a:schemeClr val="accent6">
                <a:alpha val="30000"/>
              </a:schemeClr>
            </a:solidFill>
            <a:prstDash val="solid"/>
          </a:ln>
        </p:spPr>
      </p:sp>
      <p:sp>
        <p:nvSpPr>
          <p:cNvPr id="283" name="Grid h6"/>
          <p:cNvSpPr/>
          <p:nvPr/>
        </p:nvSpPr>
        <p:spPr>
          <a:xfrm>
            <a:off x="6153912" y="3886200"/>
            <a:ext cx="5120640" cy="0"/>
          </a:xfrm>
          <a:prstGeom prst="line">
            <a:avLst/>
          </a:prstGeom>
          <a:noFill/>
          <a:ln w="6350">
            <a:solidFill>
              <a:schemeClr val="accent6">
                <a:alpha val="30000"/>
              </a:schemeClr>
            </a:solidFill>
            <a:prstDash val="solid"/>
          </a:ln>
        </p:spPr>
      </p:sp>
      <p:sp>
        <p:nvSpPr>
          <p:cNvPr id="284" name="Grid h7"/>
          <p:cNvSpPr/>
          <p:nvPr/>
        </p:nvSpPr>
        <p:spPr>
          <a:xfrm>
            <a:off x="6153912" y="4206240"/>
            <a:ext cx="5120640" cy="0"/>
          </a:xfrm>
          <a:prstGeom prst="line">
            <a:avLst/>
          </a:prstGeom>
          <a:noFill/>
          <a:ln w="6350">
            <a:solidFill>
              <a:schemeClr val="accent6">
                <a:alpha val="30000"/>
              </a:schemeClr>
            </a:solidFill>
            <a:prstDash val="solid"/>
          </a:ln>
        </p:spPr>
      </p:sp>
      <p:sp>
        <p:nvSpPr>
          <p:cNvPr id="285" name="Grid h8"/>
          <p:cNvSpPr/>
          <p:nvPr/>
        </p:nvSpPr>
        <p:spPr>
          <a:xfrm>
            <a:off x="6153912" y="4526280"/>
            <a:ext cx="5120640" cy="0"/>
          </a:xfrm>
          <a:prstGeom prst="line">
            <a:avLst/>
          </a:prstGeom>
          <a:noFill/>
          <a:ln w="6350">
            <a:solidFill>
              <a:schemeClr val="accent6">
                <a:alpha val="30000"/>
              </a:schemeClr>
            </a:solidFill>
            <a:prstDash val="solid"/>
          </a:ln>
        </p:spPr>
      </p:sp>
      <p:sp>
        <p:nvSpPr>
          <p:cNvPr id="286" name="Grid h9"/>
          <p:cNvSpPr/>
          <p:nvPr/>
        </p:nvSpPr>
        <p:spPr>
          <a:xfrm>
            <a:off x="6153912" y="4846320"/>
            <a:ext cx="5120640" cy="0"/>
          </a:xfrm>
          <a:prstGeom prst="line">
            <a:avLst/>
          </a:prstGeom>
          <a:noFill/>
          <a:ln w="6350">
            <a:solidFill>
              <a:schemeClr val="accent6">
                <a:alpha val="30000"/>
              </a:schemeClr>
            </a:solidFill>
            <a:prstDash val="solid"/>
          </a:ln>
        </p:spPr>
      </p:sp>
      <p:sp>
        <p:nvSpPr>
          <p:cNvPr id="287" name="Grid h10"/>
          <p:cNvSpPr/>
          <p:nvPr/>
        </p:nvSpPr>
        <p:spPr>
          <a:xfrm>
            <a:off x="6153912" y="5166360"/>
            <a:ext cx="5120640" cy="0"/>
          </a:xfrm>
          <a:prstGeom prst="line">
            <a:avLst/>
          </a:prstGeom>
          <a:noFill/>
          <a:ln w="6350">
            <a:solidFill>
              <a:schemeClr val="accent6">
                <a:alpha val="30000"/>
              </a:schemeClr>
            </a:solidFill>
            <a:prstDash val="solid"/>
          </a:ln>
        </p:spPr>
      </p:sp>
      <p:sp>
        <p:nvSpPr>
          <p:cNvPr id="288" name="Start"/>
          <p:cNvSpPr/>
          <p:nvPr/>
        </p:nvSpPr>
        <p:spPr>
          <a:xfrm>
            <a:off x="6793992" y="3886200"/>
            <a:ext cx="320040" cy="320040"/>
          </a:xfrm>
          <a:prstGeom prst="rect">
            <a:avLst/>
          </a:prstGeom>
          <a:solidFill>
            <a:schemeClr val="accent2"/>
          </a:solidFill>
          <a:ln w="6350">
            <a:solidFill>
              <a:schemeClr val="accent2"/>
            </a:solidFill>
          </a:ln>
        </p:spPr>
        <p:txBody>
          <a:bodyPr wrap="square" lIns="0" tIns="0" rIns="0" bIns="0" rtlCol="0" anchor="ctr"/>
          <a:lstStyle/>
          <a:p>
            <a:pPr algn="ctr" indent="0" marL="0">
              <a:buNone/>
            </a:pPr>
            <a:r>
              <a:rPr lang="en-US" sz="1300" b="1" dirty="0">
                <a:solidFill>
                  <a:schemeClr val="bg1"/>
                </a:solidFill>
              </a:rPr>
              <a:t>S</a:t>
            </a:r>
            <a:endParaRPr lang="en-US" sz="1300" dirty="0"/>
          </a:p>
        </p:txBody>
      </p:sp>
      <p:sp>
        <p:nvSpPr>
          <p:cNvPr id="289" name="Goal"/>
          <p:cNvSpPr/>
          <p:nvPr/>
        </p:nvSpPr>
        <p:spPr>
          <a:xfrm>
            <a:off x="10314432" y="3886200"/>
            <a:ext cx="320040" cy="320040"/>
          </a:xfrm>
          <a:prstGeom prst="rect">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bg1"/>
                </a:solidFill>
              </a:rPr>
              <a:t>G</a:t>
            </a:r>
            <a:endParaRPr lang="en-US" sz="1300" dirty="0"/>
          </a:p>
        </p:txBody>
      </p:sp>
      <p:sp>
        <p:nvSpPr>
          <p:cNvPr id="290" name="Planner legend"/>
          <p:cNvSpPr txBox="1"/>
          <p:nvPr/>
        </p:nvSpPr>
        <p:spPr>
          <a:xfrm>
            <a:off x="548640" y="5349240"/>
            <a:ext cx="11091672" cy="731520"/>
          </a:xfrm>
          <a:prstGeom prst="rect">
            <a:avLst/>
          </a:prstGeom>
          <a:noFill/>
          <a:ln/>
        </p:spPr>
        <p:txBody>
          <a:bodyPr wrap="square" lIns="0" tIns="0" rIns="0" bIns="0" rtlCol="0" anchor="t"/>
          <a:lstStyle/>
          <a:p>
            <a:pPr algn="l" indent="0" marL="0">
              <a:buNone/>
            </a:pPr>
            <a:r>
              <a:rPr lang="en-US" sz="1400" dirty="0">
                <a:solidFill>
                  <a:schemeClr val="accent3"/>
                </a:solidFill>
              </a:rPr>
              <a:t>■</a:t>
            </a:r>
            <a:pPr algn="l" indent="0" marL="0">
              <a:buNone/>
            </a:pPr>
            <a:r>
              <a:rPr lang="en-US" sz="1400" dirty="0">
                <a:solidFill>
                  <a:schemeClr val="tx1"/>
                </a:solidFill>
              </a:rPr>
              <a:t> expanded   </a:t>
            </a:r>
            <a:pPr algn="l" indent="0" marL="0">
              <a:buNone/>
            </a:pPr>
            <a:r>
              <a:rPr lang="en-US" sz="1400" dirty="0">
                <a:solidFill>
                  <a:schemeClr val="accent1"/>
                </a:solidFill>
              </a:rPr>
              <a:t>■</a:t>
            </a:r>
            <a:pPr algn="l" indent="0" marL="0">
              <a:buNone/>
            </a:pPr>
            <a:r>
              <a:rPr lang="en-US" sz="1400" dirty="0">
                <a:solidFill>
                  <a:schemeClr val="tx1"/>
                </a:solidFill>
              </a:rPr>
              <a:t> path   </a:t>
            </a:r>
            <a:pPr algn="l" indent="0" marL="0">
              <a:buNone/>
            </a:pPr>
            <a:r>
              <a:rPr lang="en-US" sz="1400" dirty="0">
                <a:solidFill>
                  <a:schemeClr val="tx1"/>
                </a:solidFill>
              </a:rPr>
              <a:t>■</a:t>
            </a:r>
            <a:pPr algn="l" indent="0" marL="0">
              <a:buNone/>
            </a:pPr>
            <a:r>
              <a:rPr lang="en-US" sz="1400" dirty="0">
                <a:solidFill>
                  <a:schemeClr val="tx1"/>
                </a:solidFill>
              </a:rPr>
              <a:t> wall      </a:t>
            </a:r>
            <a:pPr algn="l" indent="0" marL="0">
              <a:buNone/>
            </a:pPr>
            <a:r>
              <a:rPr lang="en-US" sz="1400" dirty="0">
                <a:solidFill>
                  <a:schemeClr val="tx1"/>
                </a:solidFill>
              </a:rPr>
              <a:t>Same path cost — A* uses a distance-to-goal guess to look at far fewer cells. Nav2 plans on the inflated costmap, so paths keep away from walls.</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Controller: Regulated Pure Pursuit chases a point on the path</a:t>
            </a:r>
            <a:endParaRPr lang="en-US" sz="2800" dirty="0"/>
          </a:p>
        </p:txBody>
      </p:sp>
      <p:sp>
        <p:nvSpPr>
          <p:cNvPr id="4" name="Planned path"/>
          <p:cNvSpPr/>
          <p:nvPr/>
        </p:nvSpPr>
        <p:spPr>
          <a:xfrm>
            <a:off x="1463040" y="1600200"/>
            <a:ext cx="4572000" cy="2423160"/>
          </a:xfrm>
          <a:custGeom>
            <a:avLst/>
            <a:gdLst/>
            <a:ahLst/>
            <a:cxnLst/>
            <a:rect l="l" t="t" r="r" b="b"/>
            <a:pathLst>
              <a:path w="4572000" h="2423160">
                <a:moveTo>
                  <a:pt x="0" y="2423160"/>
                </a:moveTo>
                <a:cubicBezTo>
                  <a:pt x="1645920" y="2240280"/>
                  <a:pt x="2194560" y="228600"/>
                  <a:pt x="4572000" y="0"/>
                </a:cubicBezTo>
              </a:path>
            </a:pathLst>
          </a:custGeom>
          <a:noFill/>
          <a:ln w="44450">
            <a:solidFill>
              <a:schemeClr val="tx2"/>
            </a:solidFill>
            <a:prstDash val="solid"/>
          </a:ln>
        </p:spPr>
      </p:sp>
      <p:sp>
        <p:nvSpPr>
          <p:cNvPr id="5" name="Lookahead circle"/>
          <p:cNvSpPr/>
          <p:nvPr/>
        </p:nvSpPr>
        <p:spPr>
          <a:xfrm>
            <a:off x="513647" y="3148511"/>
            <a:ext cx="2651760" cy="2651760"/>
          </a:xfrm>
          <a:prstGeom prst="ellipse">
            <a:avLst/>
          </a:prstGeom>
          <a:ln w="15875">
            <a:solidFill>
              <a:schemeClr val="accent6"/>
            </a:solidFill>
            <a:prstDash val="dash"/>
          </a:ln>
        </p:spPr>
      </p:sp>
      <p:sp>
        <p:nvSpPr>
          <p:cNvPr id="6" name="Pure pursuit arc"/>
          <p:cNvSpPr/>
          <p:nvPr/>
        </p:nvSpPr>
        <p:spPr>
          <a:xfrm>
            <a:off x="1839527" y="3473938"/>
            <a:ext cx="872558" cy="1000453"/>
          </a:xfrm>
          <a:custGeom>
            <a:avLst/>
            <a:gdLst/>
            <a:ahLst/>
            <a:cxnLst/>
            <a:rect l="l" t="t" r="r" b="b"/>
            <a:pathLst>
              <a:path w="872558" h="1000453">
                <a:moveTo>
                  <a:pt x="0" y="1000453"/>
                </a:moveTo>
                <a:quadBezTo>
                  <a:pt x="819458" y="834421"/>
                  <a:pt x="872558" y="0"/>
                </a:quadBezTo>
              </a:path>
            </a:pathLst>
          </a:custGeom>
          <a:noFill/>
          <a:ln w="31750">
            <a:solidFill>
              <a:schemeClr val="accent2"/>
            </a:solidFill>
            <a:prstDash val="dash"/>
          </a:ln>
        </p:spPr>
      </p:sp>
      <p:sp>
        <p:nvSpPr>
          <p:cNvPr id="7" name="Robot"/>
          <p:cNvSpPr/>
          <p:nvPr/>
        </p:nvSpPr>
        <p:spPr>
          <a:xfrm>
            <a:off x="1592639" y="4227503"/>
            <a:ext cx="493776" cy="493776"/>
          </a:xfrm>
          <a:prstGeom prst="ellipse">
            <a:avLst/>
          </a:prstGeom>
          <a:solidFill>
            <a:schemeClr val="accent3"/>
          </a:solidFill>
          <a:ln w="19050">
            <a:solidFill>
              <a:schemeClr val="bg1"/>
            </a:solidFill>
            <a:prstDash val="solid"/>
          </a:ln>
        </p:spPr>
      </p:sp>
      <p:sp>
        <p:nvSpPr>
          <p:cNvPr id="8" name="Robot heading"/>
          <p:cNvSpPr/>
          <p:nvPr/>
        </p:nvSpPr>
        <p:spPr>
          <a:xfrm flipV="1">
            <a:off x="1839527" y="4338206"/>
            <a:ext cx="672142" cy="136184"/>
          </a:xfrm>
          <a:prstGeom prst="line">
            <a:avLst/>
          </a:prstGeom>
          <a:noFill/>
          <a:ln w="38100">
            <a:solidFill>
              <a:schemeClr val="accent3"/>
            </a:solidFill>
            <a:prstDash val="solid"/>
            <a:tailEnd type="triangle"/>
          </a:ln>
        </p:spPr>
      </p:sp>
      <p:sp>
        <p:nvSpPr>
          <p:cNvPr id="9" name="Lookahead point"/>
          <p:cNvSpPr/>
          <p:nvPr/>
        </p:nvSpPr>
        <p:spPr>
          <a:xfrm>
            <a:off x="2593213" y="3355066"/>
            <a:ext cx="237744" cy="237744"/>
          </a:xfrm>
          <a:prstGeom prst="ellipse">
            <a:avLst/>
          </a:prstGeom>
          <a:solidFill>
            <a:schemeClr val="accent1"/>
          </a:solidFill>
          <a:ln w="19050">
            <a:solidFill>
              <a:schemeClr val="bg1"/>
            </a:solidFill>
            <a:prstDash val="solid"/>
          </a:ln>
        </p:spPr>
      </p:sp>
      <p:sp>
        <p:nvSpPr>
          <p:cNvPr id="10" name="Robot label"/>
          <p:cNvSpPr txBox="1"/>
          <p:nvPr/>
        </p:nvSpPr>
        <p:spPr>
          <a:xfrm>
            <a:off x="1565207" y="4766999"/>
            <a:ext cx="822960" cy="274320"/>
          </a:xfrm>
          <a:prstGeom prst="rect">
            <a:avLst/>
          </a:prstGeom>
          <a:noFill/>
          <a:ln/>
        </p:spPr>
        <p:txBody>
          <a:bodyPr wrap="square" lIns="0" tIns="0" rIns="0" bIns="0" rtlCol="0" anchor="t"/>
          <a:lstStyle/>
          <a:p>
            <a:pPr algn="l" indent="0" marL="0">
              <a:buNone/>
            </a:pPr>
            <a:r>
              <a:rPr lang="en-US" sz="1300" b="1" dirty="0">
                <a:solidFill>
                  <a:schemeClr val="accent3"/>
                </a:solidFill>
              </a:rPr>
              <a:t>robot</a:t>
            </a:r>
            <a:endParaRPr lang="en-US" sz="1300" dirty="0"/>
          </a:p>
        </p:txBody>
      </p:sp>
      <p:sp>
        <p:nvSpPr>
          <p:cNvPr id="11" name="Lookahead label"/>
          <p:cNvSpPr txBox="1"/>
          <p:nvPr/>
        </p:nvSpPr>
        <p:spPr>
          <a:xfrm>
            <a:off x="2894965" y="3291058"/>
            <a:ext cx="1645920" cy="320040"/>
          </a:xfrm>
          <a:prstGeom prst="rect">
            <a:avLst/>
          </a:prstGeom>
          <a:noFill/>
          <a:ln/>
        </p:spPr>
        <p:txBody>
          <a:bodyPr wrap="square" lIns="0" tIns="0" rIns="0" bIns="0" rtlCol="0" anchor="t"/>
          <a:lstStyle/>
          <a:p>
            <a:pPr algn="l" indent="0" marL="0">
              <a:buNone/>
            </a:pPr>
            <a:r>
              <a:rPr lang="en-US" sz="1300" b="1" dirty="0">
                <a:solidFill>
                  <a:schemeClr val="accent1"/>
                </a:solidFill>
              </a:rPr>
              <a:t>lookahead point</a:t>
            </a:r>
            <a:endParaRPr lang="en-US" sz="1300" dirty="0"/>
          </a:p>
        </p:txBody>
      </p:sp>
      <p:sp>
        <p:nvSpPr>
          <p:cNvPr id="12" name="Arc label"/>
          <p:cNvSpPr txBox="1"/>
          <p:nvPr/>
        </p:nvSpPr>
        <p:spPr>
          <a:xfrm>
            <a:off x="2824446" y="4111324"/>
            <a:ext cx="1645920" cy="320040"/>
          </a:xfrm>
          <a:prstGeom prst="rect">
            <a:avLst/>
          </a:prstGeom>
          <a:noFill/>
          <a:ln/>
        </p:spPr>
        <p:txBody>
          <a:bodyPr wrap="square" lIns="0" tIns="0" rIns="0" bIns="0" rtlCol="0" anchor="t"/>
          <a:lstStyle/>
          <a:p>
            <a:pPr algn="l" indent="0" marL="0">
              <a:buNone/>
            </a:pPr>
            <a:r>
              <a:rPr lang="en-US" sz="1300" b="1" dirty="0">
                <a:solidFill>
                  <a:schemeClr val="accent2"/>
                </a:solidFill>
              </a:rPr>
              <a:t>arc the robot drives</a:t>
            </a:r>
            <a:endParaRPr lang="en-US" sz="1300" dirty="0"/>
          </a:p>
        </p:txBody>
      </p:sp>
      <p:sp>
        <p:nvSpPr>
          <p:cNvPr id="13" name="L label"/>
          <p:cNvSpPr txBox="1"/>
          <p:nvPr/>
        </p:nvSpPr>
        <p:spPr>
          <a:xfrm>
            <a:off x="925127" y="5845991"/>
            <a:ext cx="2286000" cy="320040"/>
          </a:xfrm>
          <a:prstGeom prst="rect">
            <a:avLst/>
          </a:prstGeom>
          <a:noFill/>
          <a:ln/>
        </p:spPr>
        <p:txBody>
          <a:bodyPr wrap="square" lIns="0" tIns="0" rIns="0" bIns="0" rtlCol="0" anchor="t"/>
          <a:lstStyle/>
          <a:p>
            <a:pPr algn="l" indent="0" marL="0">
              <a:buNone/>
            </a:pPr>
            <a:r>
              <a:rPr lang="en-US" sz="1300" dirty="0">
                <a:solidFill>
                  <a:schemeClr val="accent6"/>
                </a:solidFill>
              </a:rPr>
              <a:t>L = lookahead distance</a:t>
            </a:r>
            <a:endParaRPr lang="en-US" sz="1300" dirty="0"/>
          </a:p>
        </p:txBody>
      </p:sp>
      <p:sp>
        <p:nvSpPr>
          <p:cNvPr id="14" name="Path label"/>
          <p:cNvSpPr txBox="1"/>
          <p:nvPr/>
        </p:nvSpPr>
        <p:spPr>
          <a:xfrm>
            <a:off x="4754880" y="1463040"/>
            <a:ext cx="1463040" cy="320040"/>
          </a:xfrm>
          <a:prstGeom prst="rect">
            <a:avLst/>
          </a:prstGeom>
          <a:noFill/>
          <a:ln/>
        </p:spPr>
        <p:txBody>
          <a:bodyPr wrap="square" lIns="0" tIns="0" rIns="0" bIns="0" rtlCol="0" anchor="t"/>
          <a:lstStyle/>
          <a:p>
            <a:pPr algn="l" indent="0" marL="0">
              <a:buNone/>
            </a:pPr>
            <a:r>
              <a:rPr lang="en-US" sz="1300" b="1" dirty="0">
                <a:solidFill>
                  <a:schemeClr val="tx2"/>
                </a:solidFill>
              </a:rPr>
              <a:t>planned path</a:t>
            </a:r>
            <a:endParaRPr lang="en-US" sz="1300" dirty="0"/>
          </a:p>
        </p:txBody>
      </p:sp>
      <p:sp>
        <p:nvSpPr>
          <p:cNvPr id="15" name="Pure pursuit card"/>
          <p:cNvSpPr/>
          <p:nvPr/>
        </p:nvSpPr>
        <p:spPr>
          <a:xfrm>
            <a:off x="6492240" y="1417320"/>
            <a:ext cx="5148072" cy="4663440"/>
          </a:xfrm>
          <a:prstGeom prst="roundRect">
            <a:avLst>
              <a:gd name="adj" fmla="val 1961"/>
            </a:avLst>
          </a:prstGeom>
          <a:solidFill>
            <a:schemeClr val="bg2"/>
          </a:solidFill>
          <a:ln w="6350">
            <a:solidFill>
              <a:schemeClr val="bg2"/>
            </a:solidFill>
            <a:prstDash val="solid"/>
          </a:ln>
        </p:spPr>
      </p:sp>
      <p:sp>
        <p:nvSpPr>
          <p:cNvPr id="16" name="Pure pursuit formula"/>
          <p:cNvSpPr txBox="1"/>
          <p:nvPr/>
        </p:nvSpPr>
        <p:spPr>
          <a:xfrm>
            <a:off x="6720840" y="1600200"/>
            <a:ext cx="4754880" cy="502920"/>
          </a:xfrm>
          <a:prstGeom prst="rect">
            <a:avLst/>
          </a:prstGeom>
          <a:noFill/>
          <a:ln/>
        </p:spPr>
        <p:txBody>
          <a:bodyPr wrap="square" lIns="0" tIns="0" rIns="0" bIns="0" rtlCol="0" anchor="t"/>
          <a:lstStyle/>
          <a:p>
            <a:pPr algn="l" indent="0" marL="0">
              <a:buNone/>
            </a:pPr>
            <a:r>
              <a:rPr lang="en-US" sz="2200" i="1" dirty="0">
                <a:solidFill>
                  <a:schemeClr val="tx1"/>
                </a:solidFill>
                <a:latin typeface="Cambria" pitchFamily="34" charset="0"/>
                <a:ea typeface="Cambria" pitchFamily="34" charset="-122"/>
                <a:cs typeface="Cambria" pitchFamily="34" charset="-120"/>
              </a:rPr>
              <a:t>κ = 2·y</a:t>
            </a:r>
            <a:pPr algn="l" indent="0" marL="0">
              <a:buNone/>
            </a:pPr>
            <a:r>
              <a:rPr lang="en-US" sz="2200" i="1" baseline="-40000" dirty="0">
                <a:solidFill>
                  <a:schemeClr val="tx1"/>
                </a:solidFill>
                <a:latin typeface="Cambria" pitchFamily="34" charset="0"/>
                <a:ea typeface="Cambria" pitchFamily="34" charset="-122"/>
                <a:cs typeface="Cambria" pitchFamily="34" charset="-120"/>
              </a:rPr>
              <a:t>L</a:t>
            </a:r>
            <a:pPr algn="l" indent="0" marL="0">
              <a:buNone/>
            </a:pPr>
            <a:r>
              <a:rPr lang="en-US" sz="2200" i="1" dirty="0">
                <a:solidFill>
                  <a:schemeClr val="tx1"/>
                </a:solidFill>
                <a:latin typeface="Cambria" pitchFamily="34" charset="0"/>
                <a:ea typeface="Cambria" pitchFamily="34" charset="-122"/>
                <a:cs typeface="Cambria" pitchFamily="34" charset="-120"/>
              </a:rPr>
              <a:t> / L²       ω = v · κ</a:t>
            </a:r>
            <a:endParaRPr lang="en-US" sz="2200" dirty="0"/>
          </a:p>
        </p:txBody>
      </p:sp>
      <p:sp>
        <p:nvSpPr>
          <p:cNvPr id="17" name="Formula legend"/>
          <p:cNvSpPr txBox="1"/>
          <p:nvPr/>
        </p:nvSpPr>
        <p:spPr>
          <a:xfrm>
            <a:off x="6720840" y="2103120"/>
            <a:ext cx="4754880" cy="320040"/>
          </a:xfrm>
          <a:prstGeom prst="rect">
            <a:avLst/>
          </a:prstGeom>
          <a:noFill/>
          <a:ln/>
        </p:spPr>
        <p:txBody>
          <a:bodyPr wrap="square" lIns="0" tIns="0" rIns="0" bIns="0" rtlCol="0" anchor="t"/>
          <a:lstStyle/>
          <a:p>
            <a:pPr algn="l" indent="0" marL="0">
              <a:buNone/>
            </a:pPr>
            <a:r>
              <a:rPr lang="en-US" sz="1300" dirty="0">
                <a:solidFill>
                  <a:schemeClr val="tx2"/>
                </a:solidFill>
              </a:rPr>
              <a:t>y_L = sideways offset of the lookahead point</a:t>
            </a:r>
            <a:endParaRPr lang="en-US" sz="1300" dirty="0"/>
          </a:p>
        </p:txBody>
      </p:sp>
      <p:sp>
        <p:nvSpPr>
          <p:cNvPr id="18" name="Regulation title"/>
          <p:cNvSpPr txBox="1"/>
          <p:nvPr/>
        </p:nvSpPr>
        <p:spPr>
          <a:xfrm>
            <a:off x="6720840" y="2606040"/>
            <a:ext cx="4754880" cy="365760"/>
          </a:xfrm>
          <a:prstGeom prst="rect">
            <a:avLst/>
          </a:prstGeom>
          <a:noFill/>
          <a:ln/>
        </p:spPr>
        <p:txBody>
          <a:bodyPr wrap="square" lIns="0" tIns="0" rIns="0" bIns="0" rtlCol="0" anchor="t"/>
          <a:lstStyle/>
          <a:p>
            <a:pPr algn="l" indent="0" marL="0">
              <a:buNone/>
            </a:pPr>
            <a:r>
              <a:rPr lang="en-US" sz="1600" b="1" dirty="0">
                <a:solidFill>
                  <a:schemeClr val="accent2"/>
                </a:solidFill>
              </a:rPr>
              <a:t>Slows down (regulates) when:</a:t>
            </a:r>
            <a:endParaRPr lang="en-US" sz="1600" dirty="0"/>
          </a:p>
        </p:txBody>
      </p:sp>
      <p:sp>
        <p:nvSpPr>
          <p:cNvPr id="19" name="Regulation list"/>
          <p:cNvSpPr txBox="1"/>
          <p:nvPr/>
        </p:nvSpPr>
        <p:spPr>
          <a:xfrm>
            <a:off x="6720840" y="3017520"/>
            <a:ext cx="4754880" cy="1188720"/>
          </a:xfrm>
          <a:prstGeom prst="rect">
            <a:avLst/>
          </a:prstGeom>
          <a:noFill/>
          <a:ln/>
        </p:spPr>
        <p:txBody>
          <a:bodyPr wrap="square" lIns="0" tIns="0" rIns="0" bIns="0" rtlCol="0" anchor="t"/>
          <a:lstStyle/>
          <a:p>
            <a:pPr algn="l" marL="342900" indent="-342900">
              <a:spcAft>
                <a:spcPts val="400"/>
              </a:spcAft>
              <a:buSzPct val="100000"/>
              <a:buChar char="•"/>
            </a:pPr>
            <a:r>
              <a:rPr lang="en-US" sz="1500" dirty="0">
                <a:solidFill>
                  <a:schemeClr val="tx1"/>
                </a:solidFill>
              </a:rPr>
              <a:t>turning sharply: radius &lt; 0.9 m</a:t>
            </a:r>
            <a:endParaRPr lang="en-US" sz="1500" dirty="0"/>
          </a:p>
          <a:p>
            <a:pPr algn="l" marL="342900" indent="-342900">
              <a:spcAft>
                <a:spcPts val="400"/>
              </a:spcAft>
              <a:buSzPct val="100000"/>
              <a:buChar char="•"/>
            </a:pPr>
            <a:r>
              <a:rPr lang="en-US" sz="1500" dirty="0">
                <a:solidFill>
                  <a:schemeClr val="tx1"/>
                </a:solidFill>
              </a:rPr>
              <a:t>close to obstacles (cost-regulated)</a:t>
            </a:r>
            <a:endParaRPr lang="en-US" sz="1500" dirty="0"/>
          </a:p>
          <a:p>
            <a:pPr algn="l" marL="342900" indent="-342900">
              <a:spcAft>
                <a:spcPts val="400"/>
              </a:spcAft>
              <a:buSzPct val="100000"/>
              <a:buChar char="•"/>
            </a:pPr>
            <a:r>
              <a:rPr lang="en-US" sz="1500" dirty="0">
                <a:solidFill>
                  <a:schemeClr val="tx1"/>
                </a:solidFill>
              </a:rPr>
              <a:t>near the goal: last 0.6 m, never below 0.05 m/s</a:t>
            </a:r>
            <a:endParaRPr lang="en-US" sz="1500" dirty="0"/>
          </a:p>
        </p:txBody>
      </p:sp>
      <p:sp>
        <p:nvSpPr>
          <p:cNvPr id="20" name="Rotate note"/>
          <p:cNvSpPr txBox="1"/>
          <p:nvPr/>
        </p:nvSpPr>
        <p:spPr>
          <a:xfrm>
            <a:off x="6720840" y="4251960"/>
            <a:ext cx="4754880" cy="731520"/>
          </a:xfrm>
          <a:prstGeom prst="rect">
            <a:avLst/>
          </a:prstGeom>
          <a:noFill/>
          <a:ln/>
        </p:spPr>
        <p:txBody>
          <a:bodyPr wrap="square" lIns="0" tIns="0" rIns="0" bIns="0" rtlCol="0" anchor="t"/>
          <a:lstStyle/>
          <a:p>
            <a:pPr algn="l" indent="0" marL="0">
              <a:buNone/>
            </a:pPr>
            <a:r>
              <a:rPr lang="en-US" sz="1500" b="1" dirty="0">
                <a:solidFill>
                  <a:schemeClr val="tx1"/>
                </a:solidFill>
              </a:rPr>
              <a:t>Rotates in place first </a:t>
            </a:r>
            <a:pPr algn="l" indent="0" marL="0">
              <a:buNone/>
            </a:pPr>
            <a:r>
              <a:rPr lang="en-US" sz="1500" dirty="0">
                <a:solidFill>
                  <a:schemeClr val="tx1"/>
                </a:solidFill>
              </a:rPr>
              <a:t>when the path is more than 45° away (rotate_to_heading_min_angle 0.785).</a:t>
            </a:r>
            <a:endParaRPr lang="en-US" sz="1500" dirty="0"/>
          </a:p>
        </p:txBody>
      </p:sp>
      <p:sp>
        <p:nvSpPr>
          <p:cNvPr id="21" name="Our values"/>
          <p:cNvSpPr txBox="1"/>
          <p:nvPr/>
        </p:nvSpPr>
        <p:spPr>
          <a:xfrm>
            <a:off x="6720840" y="5029200"/>
            <a:ext cx="4754880" cy="822960"/>
          </a:xfrm>
          <a:prstGeom prst="rect">
            <a:avLst/>
          </a:prstGeom>
          <a:noFill/>
          <a:ln/>
        </p:spPr>
        <p:txBody>
          <a:bodyPr wrap="square" lIns="0" tIns="0" rIns="0" bIns="0" rtlCol="0" anchor="t"/>
          <a:lstStyle/>
          <a:p>
            <a:pPr algn="l" indent="0" marL="0">
              <a:buNone/>
            </a:pPr>
            <a:r>
              <a:rPr lang="en-US" sz="1500" b="1" dirty="0">
                <a:solidFill>
                  <a:schemeClr val="tx1"/>
                </a:solidFill>
              </a:rPr>
              <a:t>Ours: </a:t>
            </a:r>
            <a:pPr algn="l" indent="0" marL="0">
              <a:buNone/>
            </a:pPr>
            <a:r>
              <a:rPr lang="en-US" sz="1300" dirty="0">
                <a:solidFill>
                  <a:schemeClr val="accent2"/>
                </a:solidFill>
                <a:latin typeface="Courier New" pitchFamily="34" charset="0"/>
                <a:ea typeface="Courier New" pitchFamily="34" charset="-122"/>
                <a:cs typeface="Courier New" pitchFamily="34" charset="-120"/>
              </a:rPr>
              <a:t>desired_linear_vel 0.18 m/s</a:t>
            </a:r>
            <a:endParaRPr lang="en-US" sz="15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lookahead_dist 0.4 m · 20 Hz</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A behavior tree decides what Nav2 does next — and how it recovers</a:t>
            </a:r>
            <a:endParaRPr lang="en-US" sz="2800" dirty="0"/>
          </a:p>
        </p:txBody>
      </p:sp>
      <p:sp>
        <p:nvSpPr>
          <p:cNvPr id="4" name="BT root"/>
          <p:cNvSpPr/>
          <p:nvPr/>
        </p:nvSpPr>
        <p:spPr>
          <a:xfrm>
            <a:off x="4270248" y="1371600"/>
            <a:ext cx="3657600" cy="731520"/>
          </a:xfrm>
          <a:prstGeom prst="roundRect">
            <a:avLst>
              <a:gd name="adj" fmla="val 10000"/>
            </a:avLst>
          </a:prstGeom>
          <a:solidFill>
            <a:schemeClr val="tx1"/>
          </a:solidFill>
          <a:ln w="6350">
            <a:solidFill>
              <a:schemeClr val="tx1"/>
            </a:solidFill>
          </a:ln>
        </p:spPr>
        <p:txBody>
          <a:bodyPr wrap="square" lIns="76200" tIns="76200" rIns="76200" bIns="76200" rtlCol="0" anchor="ctr"/>
          <a:lstStyle/>
          <a:p>
            <a:pPr algn="ctr" indent="0" marL="0">
              <a:buNone/>
            </a:pPr>
            <a:r>
              <a:rPr lang="en-US" sz="1600" b="1" dirty="0">
                <a:solidFill>
                  <a:schemeClr val="bg1"/>
                </a:solidFill>
              </a:rPr>
              <a:t>NavigateRecovery</a:t>
            </a:r>
            <a:endParaRPr lang="en-US" sz="1600" dirty="0"/>
          </a:p>
          <a:p>
            <a:pPr algn="ctr" indent="0" marL="0">
              <a:buNone/>
            </a:pPr>
            <a:r>
              <a:rPr lang="en-US" sz="1300" dirty="0">
                <a:solidFill>
                  <a:schemeClr val="bg1"/>
                </a:solidFill>
              </a:rPr>
              <a:t>retry up to 6 times</a:t>
            </a:r>
            <a:endParaRPr lang="en-US" sz="1600" dirty="0"/>
          </a:p>
        </p:txBody>
      </p:sp>
      <p:sp>
        <p:nvSpPr>
          <p:cNvPr id="5" name="BT link NavigateWithReplanning"/>
          <p:cNvSpPr/>
          <p:nvPr/>
        </p:nvSpPr>
        <p:spPr>
          <a:xfrm flipH="1">
            <a:off x="3017520" y="2103120"/>
            <a:ext cx="3081528" cy="502920"/>
          </a:xfrm>
          <a:prstGeom prst="line">
            <a:avLst/>
          </a:prstGeom>
          <a:noFill/>
          <a:ln w="22225">
            <a:solidFill>
              <a:schemeClr val="accent6"/>
            </a:solidFill>
            <a:prstDash val="solid"/>
          </a:ln>
        </p:spPr>
      </p:sp>
      <p:sp>
        <p:nvSpPr>
          <p:cNvPr id="6" name="BT NavigateWithReplanning"/>
          <p:cNvSpPr/>
          <p:nvPr/>
        </p:nvSpPr>
        <p:spPr>
          <a:xfrm>
            <a:off x="914400" y="2606040"/>
            <a:ext cx="4206240" cy="731520"/>
          </a:xfrm>
          <a:prstGeom prst="roundRect">
            <a:avLst>
              <a:gd name="adj" fmla="val 10000"/>
            </a:avLst>
          </a:prstGeom>
          <a:solidFill>
            <a:schemeClr val="accent2"/>
          </a:solidFill>
          <a:ln w="6350">
            <a:solidFill>
              <a:schemeClr val="accent2"/>
            </a:solidFill>
          </a:ln>
        </p:spPr>
        <p:txBody>
          <a:bodyPr wrap="square" lIns="76200" tIns="76200" rIns="76200" bIns="76200" rtlCol="0" anchor="ctr"/>
          <a:lstStyle/>
          <a:p>
            <a:pPr algn="ctr" indent="0" marL="0">
              <a:buNone/>
            </a:pPr>
            <a:r>
              <a:rPr lang="en-US" sz="1600" b="1" dirty="0">
                <a:solidFill>
                  <a:schemeClr val="bg1"/>
                </a:solidFill>
              </a:rPr>
              <a:t>NavigateWithReplanning</a:t>
            </a:r>
            <a:endParaRPr lang="en-US" sz="1600" dirty="0"/>
          </a:p>
          <a:p>
            <a:pPr algn="ctr" indent="0" marL="0">
              <a:buNone/>
            </a:pPr>
            <a:r>
              <a:rPr lang="en-US" sz="1300" dirty="0">
                <a:solidFill>
                  <a:schemeClr val="bg1"/>
                </a:solidFill>
              </a:rPr>
              <a:t>pipeline sequence</a:t>
            </a:r>
            <a:endParaRPr lang="en-US" sz="1600" dirty="0"/>
          </a:p>
        </p:txBody>
      </p:sp>
      <p:sp>
        <p:nvSpPr>
          <p:cNvPr id="7" name="BT link RecoveryActions"/>
          <p:cNvSpPr/>
          <p:nvPr/>
        </p:nvSpPr>
        <p:spPr>
          <a:xfrm>
            <a:off x="6099048" y="2103120"/>
            <a:ext cx="3072384" cy="502920"/>
          </a:xfrm>
          <a:prstGeom prst="line">
            <a:avLst/>
          </a:prstGeom>
          <a:noFill/>
          <a:ln w="22225">
            <a:solidFill>
              <a:schemeClr val="accent6"/>
            </a:solidFill>
            <a:prstDash val="solid"/>
          </a:ln>
        </p:spPr>
      </p:sp>
      <p:sp>
        <p:nvSpPr>
          <p:cNvPr id="8" name="BT RecoveryActions"/>
          <p:cNvSpPr/>
          <p:nvPr/>
        </p:nvSpPr>
        <p:spPr>
          <a:xfrm>
            <a:off x="7068312" y="2606040"/>
            <a:ext cx="4206240" cy="731520"/>
          </a:xfrm>
          <a:prstGeom prst="roundRect">
            <a:avLst>
              <a:gd name="adj" fmla="val 10000"/>
            </a:avLst>
          </a:prstGeom>
          <a:solidFill>
            <a:schemeClr val="accent1"/>
          </a:solidFill>
          <a:ln w="6350">
            <a:solidFill>
              <a:schemeClr val="accent1"/>
            </a:solidFill>
          </a:ln>
        </p:spPr>
        <p:txBody>
          <a:bodyPr wrap="square" lIns="76200" tIns="76200" rIns="76200" bIns="76200" rtlCol="0" anchor="ctr"/>
          <a:lstStyle/>
          <a:p>
            <a:pPr algn="ctr" indent="0" marL="0">
              <a:buNone/>
            </a:pPr>
            <a:r>
              <a:rPr lang="en-US" sz="1600" b="1" dirty="0">
                <a:solidFill>
                  <a:schemeClr val="bg1"/>
                </a:solidFill>
              </a:rPr>
              <a:t>RecoveryActions</a:t>
            </a:r>
            <a:endParaRPr lang="en-US" sz="1600" dirty="0"/>
          </a:p>
          <a:p>
            <a:pPr algn="ctr" indent="0" marL="0">
              <a:buNone/>
            </a:pPr>
            <a:r>
              <a:rPr lang="en-US" sz="1300" dirty="0">
                <a:solidFill>
                  <a:schemeClr val="bg1"/>
                </a:solidFill>
              </a:rPr>
              <a:t>round robin</a:t>
            </a:r>
            <a:endParaRPr lang="en-US" sz="1600" dirty="0"/>
          </a:p>
        </p:txBody>
      </p:sp>
      <p:sp>
        <p:nvSpPr>
          <p:cNvPr id="9" name="BT link ComputePathToPose"/>
          <p:cNvSpPr/>
          <p:nvPr/>
        </p:nvSpPr>
        <p:spPr>
          <a:xfrm flipH="1">
            <a:off x="1783080" y="3337560"/>
            <a:ext cx="1234440" cy="457200"/>
          </a:xfrm>
          <a:prstGeom prst="line">
            <a:avLst/>
          </a:prstGeom>
          <a:noFill/>
          <a:ln w="19050">
            <a:solidFill>
              <a:schemeClr val="accent6"/>
            </a:solidFill>
            <a:prstDash val="solid"/>
          </a:ln>
        </p:spPr>
      </p:sp>
      <p:sp>
        <p:nvSpPr>
          <p:cNvPr id="10" name="BT ComputePathToPose"/>
          <p:cNvSpPr/>
          <p:nvPr/>
        </p:nvSpPr>
        <p:spPr>
          <a:xfrm>
            <a:off x="548640" y="3794760"/>
            <a:ext cx="2468880" cy="868680"/>
          </a:xfrm>
          <a:prstGeom prst="roundRect">
            <a:avLst>
              <a:gd name="adj" fmla="val 8421"/>
            </a:avLst>
          </a:prstGeom>
          <a:solidFill>
            <a:schemeClr val="accent2">
              <a:alpha val="20000"/>
            </a:schemeClr>
          </a:solidFill>
          <a:ln w="6350">
            <a:solidFill>
              <a:schemeClr val="accent2">
                <a:alpha val="20000"/>
              </a:schemeClr>
            </a:solidFill>
          </a:ln>
        </p:spPr>
        <p:txBody>
          <a:bodyPr wrap="square" lIns="76200" tIns="76200" rIns="76200" bIns="76200" rtlCol="0" anchor="ctr"/>
          <a:lstStyle/>
          <a:p>
            <a:pPr algn="ctr" indent="0" marL="0">
              <a:buNone/>
            </a:pPr>
            <a:r>
              <a:rPr lang="en-US" sz="1500" b="1" dirty="0">
                <a:solidFill>
                  <a:schemeClr val="tx1"/>
                </a:solidFill>
              </a:rPr>
              <a:t>ComputePathToPose</a:t>
            </a:r>
            <a:endParaRPr lang="en-US" sz="1500" dirty="0"/>
          </a:p>
          <a:p>
            <a:pPr algn="ctr" indent="0" marL="0">
              <a:buNone/>
            </a:pPr>
            <a:r>
              <a:rPr lang="en-US" sz="1300" dirty="0">
                <a:solidFill>
                  <a:schemeClr val="tx1"/>
                </a:solidFill>
              </a:rPr>
              <a:t>planner · replans 1× per second</a:t>
            </a:r>
            <a:endParaRPr lang="en-US" sz="1500" dirty="0"/>
          </a:p>
        </p:txBody>
      </p:sp>
      <p:sp>
        <p:nvSpPr>
          <p:cNvPr id="11" name="BT link FollowPath"/>
          <p:cNvSpPr/>
          <p:nvPr/>
        </p:nvSpPr>
        <p:spPr>
          <a:xfrm>
            <a:off x="3017520" y="3337560"/>
            <a:ext cx="1325880" cy="457200"/>
          </a:xfrm>
          <a:prstGeom prst="line">
            <a:avLst/>
          </a:prstGeom>
          <a:noFill/>
          <a:ln w="19050">
            <a:solidFill>
              <a:schemeClr val="accent6"/>
            </a:solidFill>
            <a:prstDash val="solid"/>
          </a:ln>
        </p:spPr>
      </p:sp>
      <p:sp>
        <p:nvSpPr>
          <p:cNvPr id="12" name="BT FollowPath"/>
          <p:cNvSpPr/>
          <p:nvPr/>
        </p:nvSpPr>
        <p:spPr>
          <a:xfrm>
            <a:off x="3108960" y="3794760"/>
            <a:ext cx="2468880" cy="868680"/>
          </a:xfrm>
          <a:prstGeom prst="roundRect">
            <a:avLst>
              <a:gd name="adj" fmla="val 8421"/>
            </a:avLst>
          </a:prstGeom>
          <a:solidFill>
            <a:schemeClr val="accent2">
              <a:alpha val="20000"/>
            </a:schemeClr>
          </a:solidFill>
          <a:ln w="6350">
            <a:solidFill>
              <a:schemeClr val="accent2">
                <a:alpha val="20000"/>
              </a:schemeClr>
            </a:solidFill>
          </a:ln>
        </p:spPr>
        <p:txBody>
          <a:bodyPr wrap="square" lIns="76200" tIns="76200" rIns="76200" bIns="76200" rtlCol="0" anchor="ctr"/>
          <a:lstStyle/>
          <a:p>
            <a:pPr algn="ctr" indent="0" marL="0">
              <a:buNone/>
            </a:pPr>
            <a:r>
              <a:rPr lang="en-US" sz="1500" b="1" dirty="0">
                <a:solidFill>
                  <a:schemeClr val="tx1"/>
                </a:solidFill>
              </a:rPr>
              <a:t>FollowPath</a:t>
            </a:r>
            <a:endParaRPr lang="en-US" sz="1500" dirty="0"/>
          </a:p>
          <a:p>
            <a:pPr algn="ctr" indent="0" marL="0">
              <a:buNone/>
            </a:pPr>
            <a:r>
              <a:rPr lang="en-US" sz="1300" dirty="0">
                <a:solidFill>
                  <a:schemeClr val="tx1"/>
                </a:solidFill>
              </a:rPr>
              <a:t>controller · 20 Hz</a:t>
            </a:r>
            <a:endParaRPr lang="en-US" sz="1500" dirty="0"/>
          </a:p>
        </p:txBody>
      </p:sp>
      <p:sp>
        <p:nvSpPr>
          <p:cNvPr id="13" name="BT link Clear costmaps"/>
          <p:cNvSpPr/>
          <p:nvPr/>
        </p:nvSpPr>
        <p:spPr>
          <a:xfrm flipH="1">
            <a:off x="6990588" y="3337560"/>
            <a:ext cx="2180844" cy="457200"/>
          </a:xfrm>
          <a:prstGeom prst="line">
            <a:avLst/>
          </a:prstGeom>
          <a:noFill/>
          <a:ln w="19050">
            <a:solidFill>
              <a:schemeClr val="accent6"/>
            </a:solidFill>
            <a:prstDash val="solid"/>
          </a:ln>
        </p:spPr>
      </p:sp>
      <p:sp>
        <p:nvSpPr>
          <p:cNvPr id="14" name="BT Clear costmaps"/>
          <p:cNvSpPr/>
          <p:nvPr/>
        </p:nvSpPr>
        <p:spPr>
          <a:xfrm>
            <a:off x="6373368" y="3794760"/>
            <a:ext cx="1234440" cy="868680"/>
          </a:xfrm>
          <a:prstGeom prst="roundRect">
            <a:avLst>
              <a:gd name="adj" fmla="val 8421"/>
            </a:avLst>
          </a:prstGeom>
          <a:solidFill>
            <a:schemeClr val="accent1">
              <a:alpha val="20000"/>
            </a:schemeClr>
          </a:solidFill>
          <a:ln w="6350">
            <a:solidFill>
              <a:schemeClr val="accent1">
                <a:alpha val="20000"/>
              </a:schemeClr>
            </a:solidFill>
          </a:ln>
        </p:spPr>
        <p:txBody>
          <a:bodyPr wrap="square" lIns="76200" tIns="76200" rIns="76200" bIns="76200" rtlCol="0" anchor="ctr"/>
          <a:lstStyle/>
          <a:p>
            <a:pPr algn="ctr" indent="0" marL="0">
              <a:buNone/>
            </a:pPr>
            <a:r>
              <a:rPr lang="en-US" sz="1500" b="1" dirty="0">
                <a:solidFill>
                  <a:schemeClr val="tx1"/>
                </a:solidFill>
              </a:rPr>
              <a:t>Clear costmaps</a:t>
            </a:r>
            <a:endParaRPr lang="en-US" sz="1500" dirty="0"/>
          </a:p>
        </p:txBody>
      </p:sp>
      <p:sp>
        <p:nvSpPr>
          <p:cNvPr id="15" name="BT link Spin"/>
          <p:cNvSpPr/>
          <p:nvPr/>
        </p:nvSpPr>
        <p:spPr>
          <a:xfrm flipH="1">
            <a:off x="8334756" y="3337560"/>
            <a:ext cx="836676" cy="457200"/>
          </a:xfrm>
          <a:prstGeom prst="line">
            <a:avLst/>
          </a:prstGeom>
          <a:noFill/>
          <a:ln w="19050">
            <a:solidFill>
              <a:schemeClr val="accent6"/>
            </a:solidFill>
            <a:prstDash val="solid"/>
          </a:ln>
        </p:spPr>
      </p:sp>
      <p:sp>
        <p:nvSpPr>
          <p:cNvPr id="16" name="BT Spin"/>
          <p:cNvSpPr/>
          <p:nvPr/>
        </p:nvSpPr>
        <p:spPr>
          <a:xfrm>
            <a:off x="7717536" y="3794760"/>
            <a:ext cx="1234440" cy="868680"/>
          </a:xfrm>
          <a:prstGeom prst="roundRect">
            <a:avLst>
              <a:gd name="adj" fmla="val 8421"/>
            </a:avLst>
          </a:prstGeom>
          <a:solidFill>
            <a:schemeClr val="accent1">
              <a:alpha val="20000"/>
            </a:schemeClr>
          </a:solidFill>
          <a:ln w="6350">
            <a:solidFill>
              <a:schemeClr val="accent1">
                <a:alpha val="20000"/>
              </a:schemeClr>
            </a:solidFill>
          </a:ln>
        </p:spPr>
        <p:txBody>
          <a:bodyPr wrap="square" lIns="76200" tIns="76200" rIns="76200" bIns="76200" rtlCol="0" anchor="ctr"/>
          <a:lstStyle/>
          <a:p>
            <a:pPr algn="ctr" indent="0" marL="0">
              <a:buNone/>
            </a:pPr>
            <a:r>
              <a:rPr lang="en-US" sz="1500" b="1" dirty="0">
                <a:solidFill>
                  <a:schemeClr val="tx1"/>
                </a:solidFill>
              </a:rPr>
              <a:t>Spin</a:t>
            </a:r>
            <a:endParaRPr lang="en-US" sz="1500" dirty="0"/>
          </a:p>
        </p:txBody>
      </p:sp>
      <p:sp>
        <p:nvSpPr>
          <p:cNvPr id="17" name="BT link Wait"/>
          <p:cNvSpPr/>
          <p:nvPr/>
        </p:nvSpPr>
        <p:spPr>
          <a:xfrm>
            <a:off x="9171432" y="3337560"/>
            <a:ext cx="507492" cy="457200"/>
          </a:xfrm>
          <a:prstGeom prst="line">
            <a:avLst/>
          </a:prstGeom>
          <a:noFill/>
          <a:ln w="19050">
            <a:solidFill>
              <a:schemeClr val="accent6"/>
            </a:solidFill>
            <a:prstDash val="solid"/>
          </a:ln>
        </p:spPr>
      </p:sp>
      <p:sp>
        <p:nvSpPr>
          <p:cNvPr id="18" name="BT Wait"/>
          <p:cNvSpPr/>
          <p:nvPr/>
        </p:nvSpPr>
        <p:spPr>
          <a:xfrm>
            <a:off x="9061704" y="3794760"/>
            <a:ext cx="1234440" cy="868680"/>
          </a:xfrm>
          <a:prstGeom prst="roundRect">
            <a:avLst>
              <a:gd name="adj" fmla="val 8421"/>
            </a:avLst>
          </a:prstGeom>
          <a:solidFill>
            <a:schemeClr val="accent1">
              <a:alpha val="20000"/>
            </a:schemeClr>
          </a:solidFill>
          <a:ln w="6350">
            <a:solidFill>
              <a:schemeClr val="accent1">
                <a:alpha val="20000"/>
              </a:schemeClr>
            </a:solidFill>
          </a:ln>
        </p:spPr>
        <p:txBody>
          <a:bodyPr wrap="square" lIns="76200" tIns="76200" rIns="76200" bIns="76200" rtlCol="0" anchor="ctr"/>
          <a:lstStyle/>
          <a:p>
            <a:pPr algn="ctr" indent="0" marL="0">
              <a:buNone/>
            </a:pPr>
            <a:r>
              <a:rPr lang="en-US" sz="1500" b="1" dirty="0">
                <a:solidFill>
                  <a:schemeClr val="tx1"/>
                </a:solidFill>
              </a:rPr>
              <a:t>Wait</a:t>
            </a:r>
            <a:endParaRPr lang="en-US" sz="1500" dirty="0"/>
          </a:p>
        </p:txBody>
      </p:sp>
      <p:sp>
        <p:nvSpPr>
          <p:cNvPr id="19" name="BT link Back up"/>
          <p:cNvSpPr/>
          <p:nvPr/>
        </p:nvSpPr>
        <p:spPr>
          <a:xfrm>
            <a:off x="9171432" y="3337560"/>
            <a:ext cx="1851660" cy="457200"/>
          </a:xfrm>
          <a:prstGeom prst="line">
            <a:avLst/>
          </a:prstGeom>
          <a:noFill/>
          <a:ln w="19050">
            <a:solidFill>
              <a:schemeClr val="accent6"/>
            </a:solidFill>
            <a:prstDash val="solid"/>
          </a:ln>
        </p:spPr>
      </p:sp>
      <p:sp>
        <p:nvSpPr>
          <p:cNvPr id="20" name="BT Back up"/>
          <p:cNvSpPr/>
          <p:nvPr/>
        </p:nvSpPr>
        <p:spPr>
          <a:xfrm>
            <a:off x="10405872" y="3794760"/>
            <a:ext cx="1234440" cy="868680"/>
          </a:xfrm>
          <a:prstGeom prst="roundRect">
            <a:avLst>
              <a:gd name="adj" fmla="val 8421"/>
            </a:avLst>
          </a:prstGeom>
          <a:solidFill>
            <a:schemeClr val="accent1">
              <a:alpha val="20000"/>
            </a:schemeClr>
          </a:solidFill>
          <a:ln w="6350">
            <a:solidFill>
              <a:schemeClr val="accent1">
                <a:alpha val="20000"/>
              </a:schemeClr>
            </a:solidFill>
          </a:ln>
        </p:spPr>
        <p:txBody>
          <a:bodyPr wrap="square" lIns="76200" tIns="76200" rIns="76200" bIns="76200" rtlCol="0" anchor="ctr"/>
          <a:lstStyle/>
          <a:p>
            <a:pPr algn="ctr" indent="0" marL="0">
              <a:buNone/>
            </a:pPr>
            <a:r>
              <a:rPr lang="en-US" sz="1500" b="1" dirty="0">
                <a:solidFill>
                  <a:schemeClr val="tx1"/>
                </a:solidFill>
              </a:rPr>
              <a:t>Back up</a:t>
            </a:r>
            <a:endParaRPr lang="en-US" sz="1500" dirty="0"/>
          </a:p>
        </p:txBody>
      </p:sp>
      <p:sp>
        <p:nvSpPr>
          <p:cNvPr id="21" name="BT fact 1"/>
          <p:cNvSpPr/>
          <p:nvPr/>
        </p:nvSpPr>
        <p:spPr>
          <a:xfrm>
            <a:off x="548640" y="4983480"/>
            <a:ext cx="3566160" cy="1097280"/>
          </a:xfrm>
          <a:prstGeom prst="roundRect">
            <a:avLst>
              <a:gd name="adj" fmla="val 8333"/>
            </a:avLst>
          </a:prstGeom>
          <a:solidFill>
            <a:schemeClr val="bg2"/>
          </a:solidFill>
          <a:ln w="6350">
            <a:solidFill>
              <a:schemeClr val="bg2"/>
            </a:solidFill>
            <a:prstDash val="solid"/>
          </a:ln>
        </p:spPr>
      </p:sp>
      <p:sp>
        <p:nvSpPr>
          <p:cNvPr id="22" name="BT fact text 1"/>
          <p:cNvSpPr txBox="1"/>
          <p:nvPr/>
        </p:nvSpPr>
        <p:spPr>
          <a:xfrm>
            <a:off x="731520" y="5074920"/>
            <a:ext cx="3200400" cy="914400"/>
          </a:xfrm>
          <a:prstGeom prst="rect">
            <a:avLst/>
          </a:prstGeom>
          <a:noFill/>
          <a:ln/>
        </p:spPr>
        <p:txBody>
          <a:bodyPr wrap="square" lIns="0" tIns="0" rIns="0" bIns="0" rtlCol="0" anchor="ctr"/>
          <a:lstStyle/>
          <a:p>
            <a:pPr algn="l" indent="0" marL="0">
              <a:buNone/>
            </a:pPr>
            <a:r>
              <a:rPr lang="en-US" sz="1500" b="1" dirty="0">
                <a:solidFill>
                  <a:schemeClr val="tx1"/>
                </a:solidFill>
              </a:rPr>
              <a:t>Ticked every 10 ms</a:t>
            </a:r>
            <a:endParaRPr lang="en-US" sz="1500" dirty="0"/>
          </a:p>
          <a:p>
            <a:pPr algn="l" indent="0" marL="0">
              <a:buNone/>
            </a:pPr>
            <a:r>
              <a:rPr lang="en-US" sz="1500" dirty="0">
                <a:solidFill>
                  <a:schemeClr val="tx2"/>
                </a:solidFill>
              </a:rPr>
              <a:t>bt_loop_duration: 10</a:t>
            </a:r>
            <a:endParaRPr lang="en-US" sz="1500" dirty="0"/>
          </a:p>
        </p:txBody>
      </p:sp>
      <p:sp>
        <p:nvSpPr>
          <p:cNvPr id="23" name="BT fact 2"/>
          <p:cNvSpPr/>
          <p:nvPr/>
        </p:nvSpPr>
        <p:spPr>
          <a:xfrm>
            <a:off x="4311396" y="4983480"/>
            <a:ext cx="3566160" cy="1097280"/>
          </a:xfrm>
          <a:prstGeom prst="roundRect">
            <a:avLst>
              <a:gd name="adj" fmla="val 8333"/>
            </a:avLst>
          </a:prstGeom>
          <a:solidFill>
            <a:schemeClr val="bg2"/>
          </a:solidFill>
          <a:ln w="6350">
            <a:solidFill>
              <a:schemeClr val="bg2"/>
            </a:solidFill>
            <a:prstDash val="solid"/>
          </a:ln>
        </p:spPr>
      </p:sp>
      <p:sp>
        <p:nvSpPr>
          <p:cNvPr id="24" name="BT fact text 2"/>
          <p:cNvSpPr txBox="1"/>
          <p:nvPr/>
        </p:nvSpPr>
        <p:spPr>
          <a:xfrm>
            <a:off x="4494276" y="5074920"/>
            <a:ext cx="3200400" cy="914400"/>
          </a:xfrm>
          <a:prstGeom prst="rect">
            <a:avLst/>
          </a:prstGeom>
          <a:noFill/>
          <a:ln/>
        </p:spPr>
        <p:txBody>
          <a:bodyPr wrap="square" lIns="0" tIns="0" rIns="0" bIns="0" rtlCol="0" anchor="ctr"/>
          <a:lstStyle/>
          <a:p>
            <a:pPr algn="l" indent="0" marL="0">
              <a:buNone/>
            </a:pPr>
            <a:r>
              <a:rPr lang="en-US" sz="1500" b="1" dirty="0">
                <a:solidFill>
                  <a:schemeClr val="tx1"/>
                </a:solidFill>
              </a:rPr>
              <a:t>Each node returns</a:t>
            </a:r>
            <a:endParaRPr lang="en-US" sz="1500" dirty="0"/>
          </a:p>
          <a:p>
            <a:pPr algn="l" indent="0" marL="0">
              <a:buNone/>
            </a:pPr>
            <a:r>
              <a:rPr lang="en-US" sz="1500" dirty="0">
                <a:solidFill>
                  <a:schemeClr val="tx2"/>
                </a:solidFill>
              </a:rPr>
              <a:t>SUCCESS · FAILURE · RUNNING</a:t>
            </a:r>
            <a:endParaRPr lang="en-US" sz="1500" dirty="0"/>
          </a:p>
        </p:txBody>
      </p:sp>
      <p:sp>
        <p:nvSpPr>
          <p:cNvPr id="25" name="BT fact 3"/>
          <p:cNvSpPr/>
          <p:nvPr/>
        </p:nvSpPr>
        <p:spPr>
          <a:xfrm>
            <a:off x="8074152" y="4983480"/>
            <a:ext cx="3566160" cy="1097280"/>
          </a:xfrm>
          <a:prstGeom prst="roundRect">
            <a:avLst>
              <a:gd name="adj" fmla="val 8333"/>
            </a:avLst>
          </a:prstGeom>
          <a:solidFill>
            <a:schemeClr val="bg2"/>
          </a:solidFill>
          <a:ln w="6350">
            <a:solidFill>
              <a:schemeClr val="bg2"/>
            </a:solidFill>
            <a:prstDash val="solid"/>
          </a:ln>
        </p:spPr>
      </p:sp>
      <p:sp>
        <p:nvSpPr>
          <p:cNvPr id="26" name="BT fact text 3"/>
          <p:cNvSpPr txBox="1"/>
          <p:nvPr/>
        </p:nvSpPr>
        <p:spPr>
          <a:xfrm>
            <a:off x="8257032" y="5074920"/>
            <a:ext cx="3200400" cy="914400"/>
          </a:xfrm>
          <a:prstGeom prst="rect">
            <a:avLst/>
          </a:prstGeom>
          <a:noFill/>
          <a:ln/>
        </p:spPr>
        <p:txBody>
          <a:bodyPr wrap="square" lIns="0" tIns="0" rIns="0" bIns="0" rtlCol="0" anchor="ctr"/>
          <a:lstStyle/>
          <a:p>
            <a:pPr algn="l" indent="0" marL="0">
              <a:buNone/>
            </a:pPr>
            <a:r>
              <a:rPr lang="en-US" sz="1500" b="1" dirty="0">
                <a:solidFill>
                  <a:schemeClr val="tx1"/>
                </a:solidFill>
              </a:rPr>
              <a:t>On failure</a:t>
            </a:r>
            <a:endParaRPr lang="en-US" sz="1500" dirty="0"/>
          </a:p>
          <a:p>
            <a:pPr algn="l" indent="0" marL="0">
              <a:buNone/>
            </a:pPr>
            <a:r>
              <a:rPr lang="en-US" sz="1500" dirty="0">
                <a:solidFill>
                  <a:schemeClr val="tx2"/>
                </a:solidFill>
              </a:rPr>
              <a:t>run the next recovery, then navigate again</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From Nav2 to the wheels: every velocity command passes four stages</a:t>
            </a:r>
            <a:endParaRPr lang="en-US" sz="2800" dirty="0"/>
          </a:p>
        </p:txBody>
      </p:sp>
      <p:sp>
        <p:nvSpPr>
          <p:cNvPr id="4" name="Stage Controller"/>
          <p:cNvSpPr/>
          <p:nvPr/>
        </p:nvSpPr>
        <p:spPr>
          <a:xfrm>
            <a:off x="548640" y="1554480"/>
            <a:ext cx="1783080" cy="1417320"/>
          </a:xfrm>
          <a:prstGeom prst="roundRect">
            <a:avLst>
              <a:gd name="adj" fmla="val 5161"/>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600" b="1" dirty="0">
                <a:solidFill>
                  <a:schemeClr val="tx1"/>
                </a:solidFill>
              </a:rPr>
              <a:t>Controller</a:t>
            </a:r>
            <a:endParaRPr lang="en-US" sz="1400" dirty="0"/>
          </a:p>
          <a:p>
            <a:pPr algn="ctr" indent="0" marL="0">
              <a:buNone/>
            </a:pPr>
            <a:r>
              <a:rPr lang="en-US" sz="1400" dirty="0">
                <a:solidFill>
                  <a:schemeClr val="tx1"/>
                </a:solidFill>
              </a:rPr>
              <a:t>Regulated Pure Pursuit, 20 Hz</a:t>
            </a:r>
            <a:endParaRPr lang="en-US" sz="1400" dirty="0"/>
          </a:p>
        </p:txBody>
      </p:sp>
      <p:sp>
        <p:nvSpPr>
          <p:cNvPr id="5" name="Stage arrow 1"/>
          <p:cNvSpPr/>
          <p:nvPr/>
        </p:nvSpPr>
        <p:spPr>
          <a:xfrm>
            <a:off x="2368296" y="2263140"/>
            <a:ext cx="470916" cy="0"/>
          </a:xfrm>
          <a:prstGeom prst="line">
            <a:avLst/>
          </a:prstGeom>
          <a:noFill/>
          <a:ln w="28575">
            <a:solidFill>
              <a:schemeClr val="accent1"/>
            </a:solidFill>
            <a:prstDash val="solid"/>
            <a:tailEnd type="triangle"/>
          </a:ln>
        </p:spPr>
      </p:sp>
      <p:sp>
        <p:nvSpPr>
          <p:cNvPr id="6" name="Topic cmd_vel_nav"/>
          <p:cNvSpPr txBox="1"/>
          <p:nvPr/>
        </p:nvSpPr>
        <p:spPr>
          <a:xfrm>
            <a:off x="1597914" y="3081528"/>
            <a:ext cx="201168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cmd_vel_nav</a:t>
            </a:r>
            <a:endParaRPr lang="en-US" sz="1200" dirty="0"/>
          </a:p>
        </p:txBody>
      </p:sp>
      <p:sp>
        <p:nvSpPr>
          <p:cNvPr id="7" name="Stage Velocity smoother"/>
          <p:cNvSpPr/>
          <p:nvPr/>
        </p:nvSpPr>
        <p:spPr>
          <a:xfrm>
            <a:off x="2875788" y="1554480"/>
            <a:ext cx="1783080" cy="1417320"/>
          </a:xfrm>
          <a:prstGeom prst="roundRect">
            <a:avLst>
              <a:gd name="adj" fmla="val 5161"/>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600" b="1" dirty="0">
                <a:solidFill>
                  <a:schemeClr val="tx1"/>
                </a:solidFill>
              </a:rPr>
              <a:t>Velocity smoother</a:t>
            </a:r>
            <a:endParaRPr lang="en-US" sz="1400" dirty="0"/>
          </a:p>
          <a:p>
            <a:pPr algn="ctr" indent="0" marL="0">
              <a:buNone/>
            </a:pPr>
            <a:r>
              <a:rPr lang="en-US" sz="1400" dirty="0">
                <a:solidFill>
                  <a:schemeClr val="tx1"/>
                </a:solidFill>
              </a:rPr>
              <a:t>≤ 0.18 m/s, 0.5 rad/s, 0.4 m/s²</a:t>
            </a:r>
            <a:endParaRPr lang="en-US" sz="1400" dirty="0"/>
          </a:p>
        </p:txBody>
      </p:sp>
      <p:sp>
        <p:nvSpPr>
          <p:cNvPr id="8" name="Stage arrow 2"/>
          <p:cNvSpPr/>
          <p:nvPr/>
        </p:nvSpPr>
        <p:spPr>
          <a:xfrm>
            <a:off x="4695444" y="2263140"/>
            <a:ext cx="470916" cy="0"/>
          </a:xfrm>
          <a:prstGeom prst="line">
            <a:avLst/>
          </a:prstGeom>
          <a:noFill/>
          <a:ln w="28575">
            <a:solidFill>
              <a:schemeClr val="accent1"/>
            </a:solidFill>
            <a:prstDash val="solid"/>
            <a:tailEnd type="triangle"/>
          </a:ln>
        </p:spPr>
      </p:sp>
      <p:sp>
        <p:nvSpPr>
          <p:cNvPr id="9" name="Topic cmd_vel_smoothed"/>
          <p:cNvSpPr txBox="1"/>
          <p:nvPr/>
        </p:nvSpPr>
        <p:spPr>
          <a:xfrm>
            <a:off x="3925062" y="3081528"/>
            <a:ext cx="201168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cmd_vel_smoothed</a:t>
            </a:r>
            <a:endParaRPr lang="en-US" sz="1200" dirty="0"/>
          </a:p>
        </p:txBody>
      </p:sp>
      <p:sp>
        <p:nvSpPr>
          <p:cNvPr id="10" name="Stage Collision monitor"/>
          <p:cNvSpPr/>
          <p:nvPr/>
        </p:nvSpPr>
        <p:spPr>
          <a:xfrm>
            <a:off x="5202936" y="1554480"/>
            <a:ext cx="1783080" cy="1417320"/>
          </a:xfrm>
          <a:prstGeom prst="roundRect">
            <a:avLst>
              <a:gd name="adj" fmla="val 5161"/>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600" b="1" dirty="0">
                <a:solidFill>
                  <a:schemeClr val="tx1"/>
                </a:solidFill>
              </a:rPr>
              <a:t>Collision monitor</a:t>
            </a:r>
            <a:endParaRPr lang="en-US" sz="1400" dirty="0"/>
          </a:p>
          <a:p>
            <a:pPr algn="ctr" indent="0" marL="0">
              <a:buNone/>
            </a:pPr>
            <a:r>
              <a:rPr lang="en-US" sz="1400" dirty="0">
                <a:solidFill>
                  <a:schemeClr val="tx1"/>
                </a:solidFill>
              </a:rPr>
              <a:t>slows / stops before a collision</a:t>
            </a:r>
            <a:endParaRPr lang="en-US" sz="1400" dirty="0"/>
          </a:p>
        </p:txBody>
      </p:sp>
      <p:sp>
        <p:nvSpPr>
          <p:cNvPr id="11" name="Stage arrow 3"/>
          <p:cNvSpPr/>
          <p:nvPr/>
        </p:nvSpPr>
        <p:spPr>
          <a:xfrm>
            <a:off x="7022592" y="2263140"/>
            <a:ext cx="470916" cy="0"/>
          </a:xfrm>
          <a:prstGeom prst="line">
            <a:avLst/>
          </a:prstGeom>
          <a:noFill/>
          <a:ln w="28575">
            <a:solidFill>
              <a:schemeClr val="accent1"/>
            </a:solidFill>
            <a:prstDash val="solid"/>
            <a:tailEnd type="triangle"/>
          </a:ln>
        </p:spPr>
      </p:sp>
      <p:sp>
        <p:nvSpPr>
          <p:cNvPr id="12" name="Topic /cmd_vel"/>
          <p:cNvSpPr txBox="1"/>
          <p:nvPr/>
        </p:nvSpPr>
        <p:spPr>
          <a:xfrm>
            <a:off x="6252210" y="3081528"/>
            <a:ext cx="201168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/cmd_vel</a:t>
            </a:r>
            <a:endParaRPr lang="en-US" sz="1200" dirty="0"/>
          </a:p>
        </p:txBody>
      </p:sp>
      <p:sp>
        <p:nvSpPr>
          <p:cNvPr id="13" name="Stage esp32_driver"/>
          <p:cNvSpPr/>
          <p:nvPr/>
        </p:nvSpPr>
        <p:spPr>
          <a:xfrm>
            <a:off x="7530084" y="1554480"/>
            <a:ext cx="1783080" cy="1417320"/>
          </a:xfrm>
          <a:prstGeom prst="roundRect">
            <a:avLst>
              <a:gd name="adj" fmla="val 5161"/>
            </a:avLst>
          </a:prstGeom>
          <a:solidFill>
            <a:schemeClr val="bg2"/>
          </a:solidFill>
          <a:ln w="6350">
            <a:solidFill>
              <a:schemeClr val="bg2"/>
            </a:solidFill>
          </a:ln>
        </p:spPr>
        <p:txBody>
          <a:bodyPr wrap="square" lIns="101600" tIns="101600" rIns="101600" bIns="101600" rtlCol="0" anchor="ctr"/>
          <a:lstStyle/>
          <a:p>
            <a:pPr algn="ctr" indent="0" marL="0">
              <a:buNone/>
            </a:pPr>
            <a:r>
              <a:rPr lang="en-US" sz="1600" b="1" dirty="0">
                <a:solidFill>
                  <a:schemeClr val="tx1"/>
                </a:solidFill>
              </a:rPr>
              <a:t>esp32_driver</a:t>
            </a:r>
            <a:endParaRPr lang="en-US" sz="1400" dirty="0"/>
          </a:p>
          <a:p>
            <a:pPr algn="ctr" indent="0" marL="0">
              <a:buNone/>
            </a:pPr>
            <a:r>
              <a:rPr lang="en-US" sz="1400" dirty="0">
                <a:solidFill>
                  <a:schemeClr val="tx1"/>
                </a:solidFill>
              </a:rPr>
              <a:t>v, ω → v_l, v_r · 0.5 s watchdog</a:t>
            </a:r>
            <a:endParaRPr lang="en-US" sz="1400" dirty="0"/>
          </a:p>
        </p:txBody>
      </p:sp>
      <p:sp>
        <p:nvSpPr>
          <p:cNvPr id="14" name="Stage arrow 4"/>
          <p:cNvSpPr/>
          <p:nvPr/>
        </p:nvSpPr>
        <p:spPr>
          <a:xfrm>
            <a:off x="9349740" y="2263140"/>
            <a:ext cx="470916" cy="0"/>
          </a:xfrm>
          <a:prstGeom prst="line">
            <a:avLst/>
          </a:prstGeom>
          <a:noFill/>
          <a:ln w="28575">
            <a:solidFill>
              <a:schemeClr val="accent1"/>
            </a:solidFill>
            <a:prstDash val="solid"/>
            <a:tailEnd type="triangle"/>
          </a:ln>
        </p:spPr>
      </p:sp>
      <p:sp>
        <p:nvSpPr>
          <p:cNvPr id="15" name="Topic serial &amp;quot;s v_l v_r&amp;quot;"/>
          <p:cNvSpPr txBox="1"/>
          <p:nvPr/>
        </p:nvSpPr>
        <p:spPr>
          <a:xfrm>
            <a:off x="8579358" y="3081528"/>
            <a:ext cx="201168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serial "s v_l v_r"</a:t>
            </a:r>
            <a:endParaRPr lang="en-US" sz="1200" dirty="0"/>
          </a:p>
        </p:txBody>
      </p:sp>
      <p:sp>
        <p:nvSpPr>
          <p:cNvPr id="16" name="Stage ESP32 + motors"/>
          <p:cNvSpPr/>
          <p:nvPr/>
        </p:nvSpPr>
        <p:spPr>
          <a:xfrm>
            <a:off x="9857232" y="1554480"/>
            <a:ext cx="1783080" cy="1417320"/>
          </a:xfrm>
          <a:prstGeom prst="roundRect">
            <a:avLst>
              <a:gd name="adj" fmla="val 5161"/>
            </a:avLst>
          </a:prstGeom>
          <a:solidFill>
            <a:schemeClr val="tx1"/>
          </a:solidFill>
          <a:ln w="6350">
            <a:solidFill>
              <a:schemeClr val="tx1"/>
            </a:solidFill>
          </a:ln>
        </p:spPr>
        <p:txBody>
          <a:bodyPr wrap="square" lIns="101600" tIns="101600" rIns="101600" bIns="101600" rtlCol="0" anchor="ctr"/>
          <a:lstStyle/>
          <a:p>
            <a:pPr algn="ctr" indent="0" marL="0">
              <a:buNone/>
            </a:pPr>
            <a:r>
              <a:rPr lang="en-US" sz="1600" b="1" dirty="0">
                <a:solidFill>
                  <a:schemeClr val="bg1"/>
                </a:solidFill>
              </a:rPr>
              <a:t>ESP32 + motors</a:t>
            </a:r>
            <a:endParaRPr lang="en-US" sz="1400" dirty="0"/>
          </a:p>
          <a:p>
            <a:pPr algn="ctr" indent="0" marL="0">
              <a:buNone/>
            </a:pPr>
            <a:r>
              <a:rPr lang="en-US" sz="1400" dirty="0">
                <a:solidFill>
                  <a:schemeClr val="bg1"/>
                </a:solidFill>
              </a:rPr>
              <a:t>PWM out, encoder ticks in</a:t>
            </a:r>
            <a:endParaRPr lang="en-US" sz="1400" dirty="0"/>
          </a:p>
        </p:txBody>
      </p:sp>
      <p:sp>
        <p:nvSpPr>
          <p:cNvPr id="17" name="Feedback 1"/>
          <p:cNvSpPr/>
          <p:nvPr/>
        </p:nvSpPr>
        <p:spPr>
          <a:xfrm>
            <a:off x="10748772" y="2971800"/>
            <a:ext cx="0" cy="822960"/>
          </a:xfrm>
          <a:prstGeom prst="line">
            <a:avLst/>
          </a:prstGeom>
          <a:noFill/>
          <a:ln w="25400">
            <a:solidFill>
              <a:schemeClr val="accent3"/>
            </a:solidFill>
            <a:prstDash val="solid"/>
          </a:ln>
        </p:spPr>
      </p:sp>
      <p:sp>
        <p:nvSpPr>
          <p:cNvPr id="18" name="Feedback 2"/>
          <p:cNvSpPr/>
          <p:nvPr/>
        </p:nvSpPr>
        <p:spPr>
          <a:xfrm flipH="1">
            <a:off x="8421624" y="3794760"/>
            <a:ext cx="2327148" cy="0"/>
          </a:xfrm>
          <a:prstGeom prst="line">
            <a:avLst/>
          </a:prstGeom>
          <a:noFill/>
          <a:ln w="25400">
            <a:solidFill>
              <a:schemeClr val="accent3"/>
            </a:solidFill>
            <a:prstDash val="solid"/>
          </a:ln>
        </p:spPr>
      </p:sp>
      <p:sp>
        <p:nvSpPr>
          <p:cNvPr id="19" name="Feedback 3"/>
          <p:cNvSpPr/>
          <p:nvPr/>
        </p:nvSpPr>
        <p:spPr>
          <a:xfrm flipV="1">
            <a:off x="8421624" y="2990088"/>
            <a:ext cx="0" cy="804672"/>
          </a:xfrm>
          <a:prstGeom prst="line">
            <a:avLst/>
          </a:prstGeom>
          <a:noFill/>
          <a:ln w="25400">
            <a:solidFill>
              <a:schemeClr val="accent3"/>
            </a:solidFill>
            <a:prstDash val="solid"/>
            <a:tailEnd type="triangle"/>
          </a:ln>
        </p:spPr>
      </p:sp>
      <p:sp>
        <p:nvSpPr>
          <p:cNvPr id="20" name="Feedback label"/>
          <p:cNvSpPr txBox="1"/>
          <p:nvPr/>
        </p:nvSpPr>
        <p:spPr>
          <a:xfrm>
            <a:off x="8513064" y="3840480"/>
            <a:ext cx="3108960" cy="320040"/>
          </a:xfrm>
          <a:prstGeom prst="rect">
            <a:avLst/>
          </a:prstGeom>
          <a:noFill/>
          <a:ln/>
        </p:spPr>
        <p:txBody>
          <a:bodyPr wrap="square" lIns="0" tIns="0" rIns="0" bIns="0" rtlCol="0" anchor="t"/>
          <a:lstStyle/>
          <a:p>
            <a:pPr algn="l" indent="0" marL="0">
              <a:buNone/>
            </a:pPr>
            <a:r>
              <a:rPr lang="en-US" sz="1300" b="1" dirty="0">
                <a:solidFill>
                  <a:schemeClr val="accent3"/>
                </a:solidFill>
              </a:rPr>
              <a:t>encoder ticks "e L R" → /odom</a:t>
            </a:r>
            <a:endParaRPr lang="en-US" sz="1300" dirty="0"/>
          </a:p>
        </p:txBody>
      </p:sp>
      <p:sp>
        <p:nvSpPr>
          <p:cNvPr id="21" name="Limits lesson card"/>
          <p:cNvSpPr/>
          <p:nvPr/>
        </p:nvSpPr>
        <p:spPr>
          <a:xfrm>
            <a:off x="548640" y="4526280"/>
            <a:ext cx="11091672" cy="1554480"/>
          </a:xfrm>
          <a:prstGeom prst="roundRect">
            <a:avLst>
              <a:gd name="adj" fmla="val 5882"/>
            </a:avLst>
          </a:prstGeom>
          <a:solidFill>
            <a:schemeClr val="accent1">
              <a:alpha val="12000"/>
            </a:schemeClr>
          </a:solidFill>
          <a:ln w="6350">
            <a:solidFill>
              <a:schemeClr val="accent1">
                <a:alpha val="12000"/>
              </a:schemeClr>
            </a:solidFill>
            <a:prstDash val="solid"/>
          </a:ln>
        </p:spPr>
      </p:sp>
      <p:sp>
        <p:nvSpPr>
          <p:cNvPr id="22" name="Limits tile"/>
          <p:cNvSpPr/>
          <p:nvPr/>
        </p:nvSpPr>
        <p:spPr>
          <a:xfrm>
            <a:off x="777240" y="4892040"/>
            <a:ext cx="822960" cy="822960"/>
          </a:xfrm>
          <a:prstGeom prst="roundRect">
            <a:avLst>
              <a:gd name="adj" fmla="val 20000"/>
            </a:avLst>
          </a:prstGeom>
          <a:solidFill>
            <a:schemeClr val="accent1"/>
          </a:solidFill>
          <a:ln w="6350">
            <a:solidFill>
              <a:schemeClr val="accent1"/>
            </a:solidFill>
            <a:prstDash val="solid"/>
          </a:ln>
        </p:spPr>
      </p:sp>
      <p:pic>
        <p:nvPicPr>
          <p:cNvPr id="23" name="Limits icon" descr="preencoded.png">    </p:cNvPr>
          <p:cNvPicPr>
            <a:picLocks noChangeAspect="1"/>
          </p:cNvPicPr>
          <p:nvPr/>
        </p:nvPicPr>
        <p:blipFill>
          <a:blip r:embed="rId1"/>
          <a:stretch>
            <a:fillRect/>
          </a:stretch>
        </p:blipFill>
        <p:spPr>
          <a:xfrm>
            <a:off x="958291" y="5073091"/>
            <a:ext cx="460858" cy="460858"/>
          </a:xfrm>
          <a:prstGeom prst="rect">
            <a:avLst/>
          </a:prstGeom>
        </p:spPr>
      </p:pic>
      <p:sp>
        <p:nvSpPr>
          <p:cNvPr id="24" name="Limits lesson text"/>
          <p:cNvSpPr txBox="1"/>
          <p:nvPr/>
        </p:nvSpPr>
        <p:spPr>
          <a:xfrm>
            <a:off x="1828800" y="4617720"/>
            <a:ext cx="9601200" cy="1371600"/>
          </a:xfrm>
          <a:prstGeom prst="rect">
            <a:avLst/>
          </a:prstGeom>
          <a:noFill/>
          <a:ln/>
        </p:spPr>
        <p:txBody>
          <a:bodyPr wrap="square" lIns="0" tIns="0" rIns="0" bIns="0" rtlCol="0" anchor="ctr"/>
          <a:lstStyle/>
          <a:p>
            <a:pPr algn="l" indent="0" marL="0">
              <a:buNone/>
            </a:pPr>
            <a:r>
              <a:rPr lang="en-US" sz="1500" b="1" dirty="0">
                <a:solidFill>
                  <a:schemeClr val="tx1"/>
                </a:solidFill>
              </a:rPr>
              <a:t>Keep the limits equal everywhere. </a:t>
            </a:r>
            <a:pPr algn="l" indent="0" marL="0">
              <a:buNone/>
            </a:pPr>
            <a:r>
              <a:rPr lang="en-US" sz="1500" dirty="0">
                <a:solidFill>
                  <a:schemeClr val="tx1"/>
                </a:solidFill>
              </a:rPr>
              <a:t>velocity_smoother max_velocity must match esp32_driver max_linear_speed / max_angular_speed. Our driver used to clamp v and ω separately, so the robot drove a different curve than the controller planned. Now it scales both together.</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number"/>
          <p:cNvSpPr txBox="1"/>
          <p:nvPr/>
        </p:nvSpPr>
        <p:spPr>
          <a:xfrm>
            <a:off x="731520" y="1143000"/>
            <a:ext cx="2743200" cy="1280160"/>
          </a:xfrm>
          <a:prstGeom prst="rect">
            <a:avLst/>
          </a:prstGeom>
          <a:noFill/>
          <a:ln/>
        </p:spPr>
        <p:txBody>
          <a:bodyPr wrap="square" lIns="0" tIns="0" rIns="0" bIns="0" rtlCol="0" anchor="b"/>
          <a:lstStyle/>
          <a:p>
            <a:pPr indent="0" marL="0">
              <a:buNone/>
            </a:pPr>
            <a:r>
              <a:rPr lang="en-US" sz="8000" b="1" dirty="0">
                <a:solidFill>
                  <a:schemeClr val="accent1"/>
                </a:solidFill>
              </a:rPr>
              <a:t>04</a:t>
            </a:r>
            <a:endParaRPr lang="en-US" sz="8000" dirty="0"/>
          </a:p>
        </p:txBody>
      </p:sp>
      <p:sp>
        <p:nvSpPr>
          <p:cNvPr id="3" name="Text 0"/>
          <p:cNvSpPr/>
          <p:nvPr>
            <p:ph idx="100" type="title" hasCustomPrompt="1"/>
          </p:nvPr>
        </p:nvSpPr>
        <p:spPr>
          <a:xfrm>
            <a:off x="731520" y="2514600"/>
            <a:ext cx="7680960" cy="1280160"/>
          </a:xfrm>
          <a:prstGeom prst="rect">
            <a:avLst/>
          </a:prstGeom>
          <a:noFill/>
          <a:ln/>
        </p:spPr>
        <p:txBody>
          <a:bodyPr wrap="square" lIns="0" tIns="0" rIns="0" bIns="0" rtlCol="0" anchor="b"/>
          <a:lstStyle/>
          <a:p>
            <a:pPr algn="l" indent="0" marL="0">
              <a:buNone/>
            </a:pPr>
            <a:r>
              <a:rPr lang="en-US" sz="4000" b="1" dirty="0">
                <a:solidFill>
                  <a:schemeClr val="bg1"/>
                </a:solidFill>
              </a:rPr>
              <a:t>From simulation to the real robot</a:t>
            </a:r>
            <a:endParaRPr lang="en-US" sz="4000" dirty="0"/>
          </a:p>
        </p:txBody>
      </p:sp>
      <p:sp>
        <p:nvSpPr>
          <p:cNvPr id="4" name="Text 0"/>
          <p:cNvSpPr/>
          <p:nvPr>
            <p:ph idx="101" type="body" hasCustomPrompt="1"/>
          </p:nvPr>
        </p:nvSpPr>
        <p:spPr>
          <a:xfrm>
            <a:off x="731520" y="397764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What Gazebo did for us, what we must provide, and every change we made to the package</a:t>
            </a:r>
            <a:endParaRPr lang="en-US" sz="1800" dirty="0"/>
          </a:p>
        </p:txBody>
      </p:sp>
      <p:sp>
        <p:nvSpPr>
          <p:cNvPr id="5" name="Section icon circle"/>
          <p:cNvSpPr/>
          <p:nvPr/>
        </p:nvSpPr>
        <p:spPr>
          <a:xfrm>
            <a:off x="8823960" y="2057400"/>
            <a:ext cx="2560320" cy="2560320"/>
          </a:xfrm>
          <a:prstGeom prst="ellipse">
            <a:avLst/>
          </a:prstGeom>
          <a:solidFill>
            <a:schemeClr val="accent2"/>
          </a:solidFill>
          <a:ln w="12700">
            <a:solidFill>
              <a:schemeClr val="accent2"/>
            </a:solidFill>
            <a:prstDash val="solid"/>
          </a:ln>
        </p:spPr>
      </p:sp>
      <p:pic>
        <p:nvPicPr>
          <p:cNvPr id="6" name="Section icon" descr="preencoded.png">    </p:cNvPr>
          <p:cNvPicPr>
            <a:picLocks noChangeAspect="1"/>
          </p:cNvPicPr>
          <p:nvPr/>
        </p:nvPicPr>
        <p:blipFill>
          <a:blip r:embed="rId1"/>
          <a:stretch>
            <a:fillRect/>
          </a:stretch>
        </p:blipFill>
        <p:spPr>
          <a:xfrm>
            <a:off x="9464040" y="2697480"/>
            <a:ext cx="1280160" cy="12801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Everything Gazebo gave for free must now come from hardware</a:t>
            </a:r>
            <a:endParaRPr lang="en-US" sz="2800" dirty="0"/>
          </a:p>
        </p:txBody>
      </p:sp>
      <p:graphicFrame>
        <p:nvGraphicFramePr>
          <p:cNvPr id="29" name="Sim vs real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651760"/>
                <a:gridCol w="4023360"/>
                <a:gridCol w="4416552"/>
              </a:tblGrid>
              <a:tr h="512064">
                <a:tc>
                  <a:txBody>
                    <a:bodyPr/>
                    <a:lstStyle/>
                    <a:p>
                      <a:pPr indent="0" marL="0">
                        <a:buNone/>
                      </a:pPr>
                      <a:r>
                        <a:rPr lang="en-US" sz="1400" b="1" dirty="0">
                          <a:solidFill>
                            <a:schemeClr val="bg1"/>
                          </a:solidFill>
                        </a:rPr>
                        <a:t>Need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Gazebo (bcr_bot)</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Real robot</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512064">
                <a:tc>
                  <a:txBody>
                    <a:bodyPr/>
                    <a:lstStyle/>
                    <a:p>
                      <a:pPr indent="0" marL="0">
                        <a:buNone/>
                      </a:pPr>
                      <a:r>
                        <a:rPr lang="en-US" sz="1400" b="1" dirty="0">
                          <a:solidFill>
                            <a:schemeClr val="tx1"/>
                          </a:solidFill>
                        </a:rPr>
                        <a:t>Wheels follow /cmd_vel</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diff_drive plugin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esp32_driver → ESP32 → MDD10A → motors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Odometry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plugin — perfect with odometry_source:=world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encoders + esp32_driver (calibrate!) or rf2o</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LiDAR /scan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ray sensor plugin (16 m, 30 Hz)</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sllidar_ros2 + RPLidar A1 (12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base_link → laser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URDF + robot_state_publisher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static transform in robot_bringup (measure it)</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Clock</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Gazebo /clock (use_sim_time: true)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computer clock (use_sim_time: false)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Map</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warehouse bcr_map.yaml</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your room, made with slam_toolbox</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Topic names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/bcr_bot/scan, /bcr_bot/cmd_vel …</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/scan, /odom, /cmd_vel</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Robot size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0.9 × 0.64 m, 70 kg</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0.38 m wide — set robot_radius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Real robot hardware and how the parts talk to each other</a:t>
            </a:r>
            <a:endParaRPr lang="en-US" sz="2800" dirty="0"/>
          </a:p>
        </p:txBody>
      </p:sp>
      <p:sp>
        <p:nvSpPr>
          <p:cNvPr id="4" name="Robot computer"/>
          <p:cNvSpPr/>
          <p:nvPr/>
        </p:nvSpPr>
        <p:spPr>
          <a:xfrm>
            <a:off x="3611880" y="1417320"/>
            <a:ext cx="4297680" cy="1828800"/>
          </a:xfrm>
          <a:prstGeom prst="roundRect">
            <a:avLst>
              <a:gd name="adj" fmla="val 4000"/>
            </a:avLst>
          </a:prstGeom>
          <a:solidFill>
            <a:schemeClr val="tx1"/>
          </a:solidFill>
          <a:ln w="6350">
            <a:solidFill>
              <a:schemeClr val="tx1"/>
            </a:solidFill>
          </a:ln>
        </p:spPr>
        <p:txBody>
          <a:bodyPr wrap="square" lIns="127000" tIns="127000" rIns="127000" bIns="127000" rtlCol="0" anchor="ctr"/>
          <a:lstStyle/>
          <a:p>
            <a:pPr algn="ctr" indent="0" marL="0">
              <a:buNone/>
            </a:pPr>
            <a:r>
              <a:rPr lang="en-US" sz="1800" b="1" dirty="0">
                <a:solidFill>
                  <a:schemeClr val="bg1"/>
                </a:solidFill>
              </a:rPr>
              <a:t>Robot computer</a:t>
            </a:r>
            <a:endParaRPr lang="en-US" sz="1400" dirty="0"/>
          </a:p>
          <a:p>
            <a:pPr algn="ctr" indent="0" marL="0">
              <a:buNone/>
            </a:pPr>
            <a:r>
              <a:rPr lang="en-US" sz="1400" dirty="0">
                <a:solidFill>
                  <a:schemeClr val="bg1"/>
                </a:solidFill>
              </a:rPr>
              <a:t>Raspberry Pi / laptop · Ubuntu + ROS 2</a:t>
            </a:r>
            <a:endParaRPr lang="en-US" sz="1400" dirty="0"/>
          </a:p>
          <a:p>
            <a:pPr algn="ctr" indent="0" marL="0">
              <a:buNone/>
            </a:pPr>
            <a:r>
              <a:rPr lang="en-US" sz="1400" b="1" dirty="0">
                <a:solidFill>
                  <a:schemeClr val="accent1"/>
                </a:solidFill>
              </a:rPr>
              <a:t>Nav2 · slam_toolbox · esp32_driver</a:t>
            </a:r>
            <a:endParaRPr lang="en-US" sz="1400" dirty="0"/>
          </a:p>
          <a:p>
            <a:pPr algn="ctr" indent="0" marL="0">
              <a:buNone/>
            </a:pPr>
            <a:r>
              <a:rPr lang="en-US" sz="1400" b="1" dirty="0">
                <a:solidFill>
                  <a:schemeClr val="accent1"/>
                </a:solidFill>
              </a:rPr>
              <a:t>sllidar_node · table_nav_web</a:t>
            </a:r>
            <a:endParaRPr lang="en-US" sz="1400" dirty="0"/>
          </a:p>
        </p:txBody>
      </p:sp>
      <p:sp>
        <p:nvSpPr>
          <p:cNvPr id="5" name="Phone"/>
          <p:cNvSpPr/>
          <p:nvPr/>
        </p:nvSpPr>
        <p:spPr>
          <a:xfrm>
            <a:off x="548640" y="1783080"/>
            <a:ext cx="2240280" cy="1097280"/>
          </a:xfrm>
          <a:prstGeom prst="roundRect">
            <a:avLst>
              <a:gd name="adj" fmla="val 6667"/>
            </a:avLst>
          </a:prstGeom>
          <a:solidFill>
            <a:schemeClr val="bg2"/>
          </a:solidFill>
          <a:ln w="6350">
            <a:solidFill>
              <a:schemeClr val="bg2"/>
            </a:solidFill>
          </a:ln>
        </p:spPr>
        <p:txBody>
          <a:bodyPr wrap="square" lIns="76200" tIns="76200" rIns="76200" bIns="76200" rtlCol="0" anchor="ctr"/>
          <a:lstStyle/>
          <a:p>
            <a:pPr algn="ctr" indent="0" marL="0">
              <a:buNone/>
            </a:pPr>
            <a:r>
              <a:rPr lang="en-US" sz="1500" b="1" dirty="0">
                <a:solidFill>
                  <a:schemeClr val="tx1"/>
                </a:solidFill>
              </a:rPr>
              <a:t>Phone / laptop</a:t>
            </a:r>
            <a:endParaRPr lang="en-US" sz="1500" dirty="0"/>
          </a:p>
          <a:p>
            <a:pPr algn="ctr" indent="0" marL="0">
              <a:buNone/>
            </a:pPr>
            <a:r>
              <a:rPr lang="en-US" sz="1500" dirty="0">
                <a:solidFill>
                  <a:schemeClr val="tx1"/>
                </a:solidFill>
              </a:rPr>
              <a:t>web browser</a:t>
            </a:r>
            <a:endParaRPr lang="en-US" sz="1500" dirty="0"/>
          </a:p>
        </p:txBody>
      </p:sp>
      <p:sp>
        <p:nvSpPr>
          <p:cNvPr id="6" name="LiDAR"/>
          <p:cNvSpPr/>
          <p:nvPr/>
        </p:nvSpPr>
        <p:spPr>
          <a:xfrm>
            <a:off x="8732520" y="1783080"/>
            <a:ext cx="2907792" cy="1097280"/>
          </a:xfrm>
          <a:prstGeom prst="roundRect">
            <a:avLst>
              <a:gd name="adj" fmla="val 6667"/>
            </a:avLst>
          </a:prstGeom>
          <a:solidFill>
            <a:schemeClr val="bg2"/>
          </a:solidFill>
          <a:ln w="6350">
            <a:solidFill>
              <a:schemeClr val="bg2"/>
            </a:solidFill>
          </a:ln>
        </p:spPr>
        <p:txBody>
          <a:bodyPr wrap="square" lIns="76200" tIns="76200" rIns="76200" bIns="76200" rtlCol="0" anchor="ctr"/>
          <a:lstStyle/>
          <a:p>
            <a:pPr algn="ctr" indent="0" marL="0">
              <a:buNone/>
            </a:pPr>
            <a:r>
              <a:rPr lang="en-US" sz="1500" b="1" dirty="0">
                <a:solidFill>
                  <a:schemeClr val="tx1"/>
                </a:solidFill>
              </a:rPr>
              <a:t>RPLidar A1</a:t>
            </a:r>
            <a:endParaRPr lang="en-US" sz="1500" dirty="0"/>
          </a:p>
          <a:p>
            <a:pPr algn="ctr" indent="0" marL="0">
              <a:buNone/>
            </a:pPr>
            <a:r>
              <a:rPr lang="en-US" sz="1500" dirty="0">
                <a:solidFill>
                  <a:schemeClr val="tx1"/>
                </a:solidFill>
              </a:rPr>
              <a:t>360° laser scanner</a:t>
            </a:r>
            <a:endParaRPr lang="en-US" sz="1500" dirty="0"/>
          </a:p>
        </p:txBody>
      </p:sp>
      <p:sp>
        <p:nvSpPr>
          <p:cNvPr id="7" name="Phone to computer"/>
          <p:cNvSpPr/>
          <p:nvPr/>
        </p:nvSpPr>
        <p:spPr>
          <a:xfrm>
            <a:off x="2834640" y="2331720"/>
            <a:ext cx="731520" cy="0"/>
          </a:xfrm>
          <a:prstGeom prst="line">
            <a:avLst/>
          </a:prstGeom>
          <a:noFill/>
          <a:ln w="28575">
            <a:solidFill>
              <a:schemeClr val="accent2"/>
            </a:solidFill>
            <a:prstDash val="solid"/>
            <a:tailEnd type="triangle"/>
          </a:ln>
        </p:spPr>
      </p:sp>
      <p:sp>
        <p:nvSpPr>
          <p:cNvPr id="8" name="Wi-Fi label"/>
          <p:cNvSpPr txBox="1"/>
          <p:nvPr/>
        </p:nvSpPr>
        <p:spPr>
          <a:xfrm>
            <a:off x="548640" y="2971800"/>
            <a:ext cx="2240280" cy="320040"/>
          </a:xfrm>
          <a:prstGeom prst="rect">
            <a:avLst/>
          </a:prstGeom>
          <a:noFill/>
          <a:ln/>
        </p:spPr>
        <p:txBody>
          <a:bodyPr wrap="square" lIns="0" tIns="0" rIns="0" bIns="0" rtlCol="0" anchor="t"/>
          <a:lstStyle/>
          <a:p>
            <a:pPr algn="ctr" indent="0" marL="0">
              <a:buNone/>
            </a:pPr>
            <a:r>
              <a:rPr lang="en-US" sz="1200" b="1" dirty="0">
                <a:solidFill>
                  <a:schemeClr val="accent2"/>
                </a:solidFill>
              </a:rPr>
              <a:t>Wi-Fi · HTTP :8080</a:t>
            </a:r>
            <a:endParaRPr lang="en-US" sz="1200" dirty="0"/>
          </a:p>
        </p:txBody>
      </p:sp>
      <p:sp>
        <p:nvSpPr>
          <p:cNvPr id="9" name="LiDAR to computer"/>
          <p:cNvSpPr/>
          <p:nvPr/>
        </p:nvSpPr>
        <p:spPr>
          <a:xfrm flipH="1">
            <a:off x="7955280" y="2331720"/>
            <a:ext cx="731520" cy="0"/>
          </a:xfrm>
          <a:prstGeom prst="line">
            <a:avLst/>
          </a:prstGeom>
          <a:noFill/>
          <a:ln w="28575">
            <a:solidFill>
              <a:schemeClr val="accent2"/>
            </a:solidFill>
            <a:prstDash val="solid"/>
            <a:tailEnd type="triangle"/>
          </a:ln>
        </p:spPr>
      </p:sp>
      <p:sp>
        <p:nvSpPr>
          <p:cNvPr id="10" name="LiDAR USB label"/>
          <p:cNvSpPr txBox="1"/>
          <p:nvPr/>
        </p:nvSpPr>
        <p:spPr>
          <a:xfrm>
            <a:off x="8732520" y="2971800"/>
            <a:ext cx="2907792" cy="320040"/>
          </a:xfrm>
          <a:prstGeom prst="rect">
            <a:avLst/>
          </a:prstGeom>
          <a:noFill/>
          <a:ln/>
        </p:spPr>
        <p:txBody>
          <a:bodyPr wrap="square" lIns="0" tIns="0" rIns="0" bIns="0" rtlCol="0" anchor="t"/>
          <a:lstStyle/>
          <a:p>
            <a:pPr algn="ctr" indent="0" marL="0">
              <a:buNone/>
            </a:pPr>
            <a:r>
              <a:rPr lang="en-US" sz="1200" b="1" dirty="0">
                <a:solidFill>
                  <a:schemeClr val="accent2"/>
                </a:solidFill>
              </a:rPr>
              <a:t>USB · /scan</a:t>
            </a:r>
            <a:endParaRPr lang="en-US" sz="1200" dirty="0"/>
          </a:p>
        </p:txBody>
      </p:sp>
      <p:sp>
        <p:nvSpPr>
          <p:cNvPr id="11" name="ESP32"/>
          <p:cNvSpPr/>
          <p:nvPr/>
        </p:nvSpPr>
        <p:spPr>
          <a:xfrm>
            <a:off x="3611880" y="4160520"/>
            <a:ext cx="4297680" cy="960120"/>
          </a:xfrm>
          <a:prstGeom prst="roundRect">
            <a:avLst>
              <a:gd name="adj" fmla="val 7619"/>
            </a:avLst>
          </a:prstGeom>
          <a:solidFill>
            <a:schemeClr val="accent3"/>
          </a:solidFill>
          <a:ln w="6350">
            <a:solidFill>
              <a:schemeClr val="accent3"/>
            </a:solidFill>
          </a:ln>
        </p:spPr>
        <p:txBody>
          <a:bodyPr wrap="square" lIns="76200" tIns="76200" rIns="76200" bIns="76200" rtlCol="0" anchor="ctr"/>
          <a:lstStyle/>
          <a:p>
            <a:pPr algn="ctr" indent="0" marL="0">
              <a:buNone/>
            </a:pPr>
            <a:r>
              <a:rPr lang="en-US" sz="1500" b="1" dirty="0">
                <a:solidFill>
                  <a:schemeClr val="bg1"/>
                </a:solidFill>
              </a:rPr>
              <a:t>ESP32</a:t>
            </a:r>
            <a:endParaRPr lang="en-US" sz="1500" dirty="0"/>
          </a:p>
          <a:p>
            <a:pPr algn="ctr" indent="0" marL="0">
              <a:buNone/>
            </a:pPr>
            <a:r>
              <a:rPr lang="en-US" sz="1500" dirty="0">
                <a:solidFill>
                  <a:schemeClr val="bg1"/>
                </a:solidFill>
              </a:rPr>
              <a:t>counts encoder pulses, makes PWM</a:t>
            </a:r>
            <a:endParaRPr lang="en-US" sz="1500" dirty="0"/>
          </a:p>
        </p:txBody>
      </p:sp>
      <p:sp>
        <p:nvSpPr>
          <p:cNvPr id="12" name="Serial link"/>
          <p:cNvSpPr/>
          <p:nvPr/>
        </p:nvSpPr>
        <p:spPr>
          <a:xfrm>
            <a:off x="5760720" y="3291840"/>
            <a:ext cx="0" cy="822960"/>
          </a:xfrm>
          <a:prstGeom prst="line">
            <a:avLst/>
          </a:prstGeom>
          <a:noFill/>
          <a:ln w="28575">
            <a:solidFill>
              <a:schemeClr val="accent3"/>
            </a:solidFill>
            <a:prstDash val="solid"/>
            <a:headEnd type="triangle"/>
            <a:tailEnd type="triangle"/>
          </a:ln>
        </p:spPr>
      </p:sp>
      <p:sp>
        <p:nvSpPr>
          <p:cNvPr id="13" name="Serial label"/>
          <p:cNvSpPr txBox="1"/>
          <p:nvPr/>
        </p:nvSpPr>
        <p:spPr>
          <a:xfrm>
            <a:off x="5897880" y="3520440"/>
            <a:ext cx="1828800" cy="320040"/>
          </a:xfrm>
          <a:prstGeom prst="rect">
            <a:avLst/>
          </a:prstGeom>
          <a:noFill/>
          <a:ln/>
        </p:spPr>
        <p:txBody>
          <a:bodyPr wrap="square" lIns="0" tIns="0" rIns="0" bIns="0" rtlCol="0" anchor="t"/>
          <a:lstStyle/>
          <a:p>
            <a:pPr algn="l" indent="0" marL="0">
              <a:buNone/>
            </a:pPr>
            <a:r>
              <a:rPr lang="en-US" sz="1200" b="1" dirty="0">
                <a:solidFill>
                  <a:schemeClr val="accent3"/>
                </a:solidFill>
              </a:rPr>
              <a:t>USB serial 115200</a:t>
            </a:r>
            <a:endParaRPr lang="en-US" sz="1200" dirty="0"/>
          </a:p>
        </p:txBody>
      </p:sp>
      <p:sp>
        <p:nvSpPr>
          <p:cNvPr id="14" name="Motor driver"/>
          <p:cNvSpPr/>
          <p:nvPr/>
        </p:nvSpPr>
        <p:spPr>
          <a:xfrm>
            <a:off x="8732520" y="4160520"/>
            <a:ext cx="2907792" cy="960120"/>
          </a:xfrm>
          <a:prstGeom prst="roundRect">
            <a:avLst>
              <a:gd name="adj" fmla="val 7619"/>
            </a:avLst>
          </a:prstGeom>
          <a:solidFill>
            <a:schemeClr val="bg2"/>
          </a:solidFill>
          <a:ln w="6350">
            <a:solidFill>
              <a:schemeClr val="bg2"/>
            </a:solidFill>
          </a:ln>
        </p:spPr>
        <p:txBody>
          <a:bodyPr wrap="square" lIns="76200" tIns="76200" rIns="76200" bIns="76200" rtlCol="0" anchor="ctr"/>
          <a:lstStyle/>
          <a:p>
            <a:pPr algn="ctr" indent="0" marL="0">
              <a:buNone/>
            </a:pPr>
            <a:r>
              <a:rPr lang="en-US" sz="1500" b="1" dirty="0">
                <a:solidFill>
                  <a:schemeClr val="tx1"/>
                </a:solidFill>
              </a:rPr>
              <a:t>MDD10A</a:t>
            </a:r>
            <a:endParaRPr lang="en-US" sz="1500" dirty="0"/>
          </a:p>
          <a:p>
            <a:pPr algn="ctr" indent="0" marL="0">
              <a:buNone/>
            </a:pPr>
            <a:r>
              <a:rPr lang="en-US" sz="1500" dirty="0">
                <a:solidFill>
                  <a:schemeClr val="tx1"/>
                </a:solidFill>
              </a:rPr>
              <a:t>dual motor driver</a:t>
            </a:r>
            <a:endParaRPr lang="en-US" sz="1500" dirty="0"/>
          </a:p>
        </p:txBody>
      </p:sp>
      <p:sp>
        <p:nvSpPr>
          <p:cNvPr id="15" name="PWM link"/>
          <p:cNvSpPr/>
          <p:nvPr/>
        </p:nvSpPr>
        <p:spPr>
          <a:xfrm>
            <a:off x="7955280" y="4636008"/>
            <a:ext cx="731520" cy="0"/>
          </a:xfrm>
          <a:prstGeom prst="line">
            <a:avLst/>
          </a:prstGeom>
          <a:noFill/>
          <a:ln w="28575">
            <a:solidFill>
              <a:schemeClr val="accent3"/>
            </a:solidFill>
            <a:prstDash val="solid"/>
            <a:tailEnd type="triangle"/>
          </a:ln>
        </p:spPr>
      </p:sp>
      <p:sp>
        <p:nvSpPr>
          <p:cNvPr id="16" name="PWM label"/>
          <p:cNvSpPr txBox="1"/>
          <p:nvPr/>
        </p:nvSpPr>
        <p:spPr>
          <a:xfrm>
            <a:off x="7818120" y="4206240"/>
            <a:ext cx="1005840" cy="320040"/>
          </a:xfrm>
          <a:prstGeom prst="rect">
            <a:avLst/>
          </a:prstGeom>
          <a:noFill/>
          <a:ln/>
        </p:spPr>
        <p:txBody>
          <a:bodyPr wrap="square" lIns="0" tIns="0" rIns="0" bIns="0" rtlCol="0" anchor="t"/>
          <a:lstStyle/>
          <a:p>
            <a:pPr algn="ctr" indent="0" marL="0">
              <a:buNone/>
            </a:pPr>
            <a:r>
              <a:rPr lang="en-US" sz="1200" b="1" dirty="0">
                <a:solidFill>
                  <a:schemeClr val="accent3"/>
                </a:solidFill>
              </a:rPr>
              <a:t>PWM + DIR</a:t>
            </a:r>
            <a:endParaRPr lang="en-US" sz="1200" dirty="0"/>
          </a:p>
        </p:txBody>
      </p:sp>
      <p:sp>
        <p:nvSpPr>
          <p:cNvPr id="17" name="Motors"/>
          <p:cNvSpPr/>
          <p:nvPr/>
        </p:nvSpPr>
        <p:spPr>
          <a:xfrm>
            <a:off x="8732520" y="5349240"/>
            <a:ext cx="2907792" cy="777240"/>
          </a:xfrm>
          <a:prstGeom prst="roundRect">
            <a:avLst>
              <a:gd name="adj" fmla="val 9412"/>
            </a:avLst>
          </a:prstGeom>
          <a:solidFill>
            <a:schemeClr val="bg2"/>
          </a:solidFill>
          <a:ln w="6350">
            <a:solidFill>
              <a:schemeClr val="bg2"/>
            </a:solidFill>
          </a:ln>
        </p:spPr>
        <p:txBody>
          <a:bodyPr wrap="square" lIns="76200" tIns="76200" rIns="76200" bIns="76200" rtlCol="0" anchor="ctr"/>
          <a:lstStyle/>
          <a:p>
            <a:pPr algn="ctr" indent="0" marL="0">
              <a:buNone/>
            </a:pPr>
            <a:r>
              <a:rPr lang="en-US" sz="1400" b="1" dirty="0">
                <a:solidFill>
                  <a:schemeClr val="tx1"/>
                </a:solidFill>
              </a:rPr>
              <a:t>2 × DC gear motors</a:t>
            </a:r>
            <a:endParaRPr lang="en-US" sz="1400" dirty="0"/>
          </a:p>
          <a:p>
            <a:pPr algn="ctr" indent="0" marL="0">
              <a:buNone/>
            </a:pPr>
            <a:r>
              <a:rPr lang="en-US" sz="1400" dirty="0">
                <a:solidFill>
                  <a:schemeClr val="tx1"/>
                </a:solidFill>
              </a:rPr>
              <a:t>19.2:1 · 7-pulse encoders</a:t>
            </a:r>
            <a:endParaRPr lang="en-US" sz="1400" dirty="0"/>
          </a:p>
        </p:txBody>
      </p:sp>
      <p:sp>
        <p:nvSpPr>
          <p:cNvPr id="18" name="Driver to motors"/>
          <p:cNvSpPr/>
          <p:nvPr/>
        </p:nvSpPr>
        <p:spPr>
          <a:xfrm>
            <a:off x="10186416" y="5120640"/>
            <a:ext cx="0" cy="210312"/>
          </a:xfrm>
          <a:prstGeom prst="line">
            <a:avLst/>
          </a:prstGeom>
          <a:noFill/>
          <a:ln w="25400">
            <a:solidFill>
              <a:schemeClr val="accent6"/>
            </a:solidFill>
            <a:prstDash val="solid"/>
            <a:tailEnd type="triangle"/>
          </a:ln>
        </p:spPr>
      </p:sp>
      <p:sp>
        <p:nvSpPr>
          <p:cNvPr id="19" name="Encoder line 1"/>
          <p:cNvSpPr/>
          <p:nvPr/>
        </p:nvSpPr>
        <p:spPr>
          <a:xfrm flipH="1">
            <a:off x="5760720" y="5733288"/>
            <a:ext cx="2926080" cy="0"/>
          </a:xfrm>
          <a:prstGeom prst="line">
            <a:avLst/>
          </a:prstGeom>
          <a:noFill/>
          <a:ln w="25400">
            <a:solidFill>
              <a:schemeClr val="accent6"/>
            </a:solidFill>
            <a:prstDash val="solid"/>
          </a:ln>
        </p:spPr>
      </p:sp>
      <p:sp>
        <p:nvSpPr>
          <p:cNvPr id="20" name="Encoder line 2"/>
          <p:cNvSpPr/>
          <p:nvPr/>
        </p:nvSpPr>
        <p:spPr>
          <a:xfrm flipV="1">
            <a:off x="5760720" y="5166360"/>
            <a:ext cx="0" cy="566928"/>
          </a:xfrm>
          <a:prstGeom prst="line">
            <a:avLst/>
          </a:prstGeom>
          <a:noFill/>
          <a:ln w="25400">
            <a:solidFill>
              <a:schemeClr val="accent6"/>
            </a:solidFill>
            <a:prstDash val="solid"/>
            <a:tailEnd type="triangle"/>
          </a:ln>
        </p:spPr>
      </p:sp>
      <p:sp>
        <p:nvSpPr>
          <p:cNvPr id="21" name="Encoder label"/>
          <p:cNvSpPr txBox="1"/>
          <p:nvPr/>
        </p:nvSpPr>
        <p:spPr>
          <a:xfrm>
            <a:off x="5897880" y="5760720"/>
            <a:ext cx="2194560" cy="320040"/>
          </a:xfrm>
          <a:prstGeom prst="rect">
            <a:avLst/>
          </a:prstGeom>
          <a:noFill/>
          <a:ln/>
        </p:spPr>
        <p:txBody>
          <a:bodyPr wrap="square" lIns="0" tIns="0" rIns="0" bIns="0" rtlCol="0" anchor="t"/>
          <a:lstStyle/>
          <a:p>
            <a:pPr algn="l" indent="0" marL="0">
              <a:buNone/>
            </a:pPr>
            <a:r>
              <a:rPr lang="en-US" sz="1200" b="1" dirty="0">
                <a:solidFill>
                  <a:schemeClr val="accent6"/>
                </a:solidFill>
              </a:rPr>
              <a:t>encoder A/B pulses</a:t>
            </a:r>
            <a:endParaRPr lang="en-US" sz="1200" dirty="0"/>
          </a:p>
        </p:txBody>
      </p:sp>
      <p:sp>
        <p:nvSpPr>
          <p:cNvPr id="22" name="Serial protocol background"/>
          <p:cNvSpPr/>
          <p:nvPr/>
        </p:nvSpPr>
        <p:spPr>
          <a:xfrm>
            <a:off x="548640" y="3657600"/>
            <a:ext cx="2743200" cy="1600200"/>
          </a:xfrm>
          <a:prstGeom prst="roundRect">
            <a:avLst>
              <a:gd name="adj" fmla="val 4571"/>
            </a:avLst>
          </a:prstGeom>
          <a:solidFill>
            <a:schemeClr val="tx1"/>
          </a:solidFill>
          <a:ln w="6350">
            <a:solidFill>
              <a:schemeClr val="tx1"/>
            </a:solidFill>
            <a:prstDash val="solid"/>
          </a:ln>
        </p:spPr>
      </p:sp>
      <p:sp>
        <p:nvSpPr>
          <p:cNvPr id="23" name="Serial protocol text"/>
          <p:cNvSpPr txBox="1"/>
          <p:nvPr/>
        </p:nvSpPr>
        <p:spPr>
          <a:xfrm>
            <a:off x="749808" y="3803904"/>
            <a:ext cx="2340864" cy="130759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PC → ESP32, 20 Hz</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s 0.095 0.265</a:t>
            </a:r>
            <a:endParaRPr lang="en-US" sz="1400" dirty="0"/>
          </a:p>
          <a:p>
            <a:pPr indent="0" marL="0">
              <a:buNone/>
            </a:pPr>
            <a:r>
              <a:rPr lang="en-US" sz="1400" b="1" dirty="0">
                <a:solidFill>
                  <a:schemeClr val="accent1"/>
                </a:solidFill>
                <a:latin typeface="Courier New" pitchFamily="34" charset="0"/>
                <a:ea typeface="Courier New" pitchFamily="34" charset="-122"/>
                <a:cs typeface="Courier New" pitchFamily="34" charset="-120"/>
              </a:rPr>
              <a:t># ESP32 → PC, ~30 Hz</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e 12345 12290</a:t>
            </a:r>
            <a:endParaRPr lang="en-US" sz="1400" dirty="0"/>
          </a:p>
        </p:txBody>
      </p:sp>
      <p:sp>
        <p:nvSpPr>
          <p:cNvPr id="24" name="Protocol caption"/>
          <p:cNvSpPr txBox="1"/>
          <p:nvPr/>
        </p:nvSpPr>
        <p:spPr>
          <a:xfrm>
            <a:off x="548640" y="5349240"/>
            <a:ext cx="2743200" cy="548640"/>
          </a:xfrm>
          <a:prstGeom prst="rect">
            <a:avLst/>
          </a:prstGeom>
          <a:noFill/>
          <a:ln/>
        </p:spPr>
        <p:txBody>
          <a:bodyPr wrap="square" lIns="0" tIns="0" rIns="0" bIns="0" rtlCol="0" anchor="t"/>
          <a:lstStyle/>
          <a:p>
            <a:pPr algn="l" indent="0" marL="0">
              <a:buNone/>
            </a:pPr>
            <a:r>
              <a:rPr lang="en-US" sz="1200" dirty="0">
                <a:solidFill>
                  <a:schemeClr val="tx2"/>
                </a:solidFill>
              </a:rPr>
              <a:t>wheel speeds in m/s · encoder tick counts</a:t>
            </a:r>
            <a:endParaRPr lang="en-US" sz="12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Changes to nav2_params.yaml for the real robot</a:t>
            </a:r>
            <a:endParaRPr lang="en-US" sz="2800" dirty="0"/>
          </a:p>
        </p:txBody>
      </p:sp>
      <p:graphicFrame>
        <p:nvGraphicFramePr>
          <p:cNvPr id="31" name="Parameter change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429000"/>
                <a:gridCol w="2148840"/>
                <a:gridCol w="1737360"/>
                <a:gridCol w="3776472"/>
              </a:tblGrid>
              <a:tr h="457200">
                <a:tc>
                  <a:txBody>
                    <a:bodyPr/>
                    <a:lstStyle/>
                    <a:p>
                      <a:pPr indent="0" marL="0">
                        <a:buNone/>
                      </a:pPr>
                      <a:r>
                        <a:rPr lang="en-US" sz="1400" b="1" dirty="0">
                          <a:solidFill>
                            <a:schemeClr val="bg1"/>
                          </a:solidFill>
                        </a:rPr>
                        <a:t>Parameter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Before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Now</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use_sim_time (all nodes)</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True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False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Gazebo clock on the real robot</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scan topic (AMCL, costmaps)</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/bcr_bot/scan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/scan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Name used by the real LiDAR driver</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local_costmap robot_radius</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0.12</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0.22</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Same as global; robot ≈ 0.38 m wide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local_costmap size</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 × 2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 × 3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obstacles before reaching them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velocity_smoother max_velocity</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0.26 m/s, 1.0 rad/s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0.18, 0.5</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Equal to the ESP32 driver limits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velocity_smoother max_accel</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 m/s²</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0.4 m/s²</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motors slip with simulation values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AMCL laser range</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 100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0.2 … 12 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RPLidar A1 range; ignore own body</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progress_checker</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0.5 m in 10 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0.25 m in 15 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Slow robot that also turns in place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behavior_server rotation</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 rad/s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0.5 rad/s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Spin recovery within motor limits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Changes to launch files and code, plus three new pieces</a:t>
            </a:r>
            <a:endParaRPr lang="en-US" sz="2800" dirty="0"/>
          </a:p>
        </p:txBody>
      </p:sp>
      <p:sp>
        <p:nvSpPr>
          <p:cNvPr id="4" name="File row 1"/>
          <p:cNvSpPr/>
          <p:nvPr/>
        </p:nvSpPr>
        <p:spPr>
          <a:xfrm>
            <a:off x="548640" y="1417320"/>
            <a:ext cx="11091672" cy="576072"/>
          </a:xfrm>
          <a:prstGeom prst="roundRect">
            <a:avLst>
              <a:gd name="adj" fmla="val 15873"/>
            </a:avLst>
          </a:prstGeom>
          <a:solidFill>
            <a:schemeClr val="bg2"/>
          </a:solidFill>
          <a:ln w="6350">
            <a:solidFill>
              <a:schemeClr val="bg2"/>
            </a:solidFill>
            <a:prstDash val="solid"/>
          </a:ln>
        </p:spPr>
      </p:sp>
      <p:sp>
        <p:nvSpPr>
          <p:cNvPr id="5" name="Tag 1"/>
          <p:cNvSpPr/>
          <p:nvPr/>
        </p:nvSpPr>
        <p:spPr>
          <a:xfrm>
            <a:off x="685800" y="1527048"/>
            <a:ext cx="1097280" cy="356616"/>
          </a:xfrm>
          <a:prstGeom prst="roundRect">
            <a:avLst>
              <a:gd name="adj" fmla="val 48718"/>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CHANGED</a:t>
            </a:r>
            <a:endParaRPr lang="en-US" sz="1200" dirty="0"/>
          </a:p>
        </p:txBody>
      </p:sp>
      <p:sp>
        <p:nvSpPr>
          <p:cNvPr id="6" name="File 1"/>
          <p:cNvSpPr txBox="1"/>
          <p:nvPr/>
        </p:nvSpPr>
        <p:spPr>
          <a:xfrm>
            <a:off x="1965960" y="1417320"/>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bcr_bot/launch/nav2.launch.py</a:t>
            </a:r>
            <a:endParaRPr lang="en-US" sz="1300" dirty="0"/>
          </a:p>
        </p:txBody>
      </p:sp>
      <p:sp>
        <p:nvSpPr>
          <p:cNvPr id="7" name="File description 1"/>
          <p:cNvSpPr txBox="1"/>
          <p:nvPr/>
        </p:nvSpPr>
        <p:spPr>
          <a:xfrm>
            <a:off x="7040880" y="1417320"/>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map:= argument (your room), use_rviz:=; sim-only remapper removed</a:t>
            </a:r>
            <a:endParaRPr lang="en-US" sz="1400" dirty="0"/>
          </a:p>
        </p:txBody>
      </p:sp>
      <p:sp>
        <p:nvSpPr>
          <p:cNvPr id="8" name="File row 2"/>
          <p:cNvSpPr/>
          <p:nvPr/>
        </p:nvSpPr>
        <p:spPr>
          <a:xfrm>
            <a:off x="548640" y="2084832"/>
            <a:ext cx="11091672" cy="576072"/>
          </a:xfrm>
          <a:prstGeom prst="roundRect">
            <a:avLst>
              <a:gd name="adj" fmla="val 15873"/>
            </a:avLst>
          </a:prstGeom>
          <a:solidFill>
            <a:schemeClr val="bg2"/>
          </a:solidFill>
          <a:ln w="6350">
            <a:solidFill>
              <a:schemeClr val="bg2"/>
            </a:solidFill>
            <a:prstDash val="solid"/>
          </a:ln>
        </p:spPr>
      </p:sp>
      <p:sp>
        <p:nvSpPr>
          <p:cNvPr id="9" name="Tag 2"/>
          <p:cNvSpPr/>
          <p:nvPr/>
        </p:nvSpPr>
        <p:spPr>
          <a:xfrm>
            <a:off x="685800" y="2194560"/>
            <a:ext cx="1097280" cy="356616"/>
          </a:xfrm>
          <a:prstGeom prst="roundRect">
            <a:avLst>
              <a:gd name="adj" fmla="val 48718"/>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10" name="File 2"/>
          <p:cNvSpPr txBox="1"/>
          <p:nvPr/>
        </p:nvSpPr>
        <p:spPr>
          <a:xfrm>
            <a:off x="1965960" y="2084832"/>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bcr_bot/launch/robot_bringup.launch.py</a:t>
            </a:r>
            <a:endParaRPr lang="en-US" sz="1300" dirty="0"/>
          </a:p>
        </p:txBody>
      </p:sp>
      <p:sp>
        <p:nvSpPr>
          <p:cNvPr id="11" name="File description 2"/>
          <p:cNvSpPr txBox="1"/>
          <p:nvPr/>
        </p:nvSpPr>
        <p:spPr>
          <a:xfrm>
            <a:off x="7040880" y="2084832"/>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LiDAR + base_link → laser TF + ESP32 driver, exactly one odometry source</a:t>
            </a:r>
            <a:endParaRPr lang="en-US" sz="1400" dirty="0"/>
          </a:p>
        </p:txBody>
      </p:sp>
      <p:sp>
        <p:nvSpPr>
          <p:cNvPr id="12" name="File row 3"/>
          <p:cNvSpPr/>
          <p:nvPr/>
        </p:nvSpPr>
        <p:spPr>
          <a:xfrm>
            <a:off x="548640" y="2752344"/>
            <a:ext cx="11091672" cy="576072"/>
          </a:xfrm>
          <a:prstGeom prst="roundRect">
            <a:avLst>
              <a:gd name="adj" fmla="val 15873"/>
            </a:avLst>
          </a:prstGeom>
          <a:solidFill>
            <a:schemeClr val="bg2"/>
          </a:solidFill>
          <a:ln w="6350">
            <a:solidFill>
              <a:schemeClr val="bg2"/>
            </a:solidFill>
            <a:prstDash val="solid"/>
          </a:ln>
        </p:spPr>
      </p:sp>
      <p:sp>
        <p:nvSpPr>
          <p:cNvPr id="13" name="Tag 3"/>
          <p:cNvSpPr/>
          <p:nvPr/>
        </p:nvSpPr>
        <p:spPr>
          <a:xfrm>
            <a:off x="685800" y="2862072"/>
            <a:ext cx="1097280" cy="356616"/>
          </a:xfrm>
          <a:prstGeom prst="roundRect">
            <a:avLst>
              <a:gd name="adj" fmla="val 48718"/>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CHANGED</a:t>
            </a:r>
            <a:endParaRPr lang="en-US" sz="1200" dirty="0"/>
          </a:p>
        </p:txBody>
      </p:sp>
      <p:sp>
        <p:nvSpPr>
          <p:cNvPr id="14" name="File 3"/>
          <p:cNvSpPr txBox="1"/>
          <p:nvPr/>
        </p:nvSpPr>
        <p:spPr>
          <a:xfrm>
            <a:off x="1965960" y="2752344"/>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bcr_bot/config/nav2_params.yaml</a:t>
            </a:r>
            <a:endParaRPr lang="en-US" sz="1300" dirty="0"/>
          </a:p>
        </p:txBody>
      </p:sp>
      <p:sp>
        <p:nvSpPr>
          <p:cNvPr id="15" name="File description 3"/>
          <p:cNvSpPr txBox="1"/>
          <p:nvPr/>
        </p:nvSpPr>
        <p:spPr>
          <a:xfrm>
            <a:off x="7040880" y="2752344"/>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values on the previous slide</a:t>
            </a:r>
            <a:endParaRPr lang="en-US" sz="1400" dirty="0"/>
          </a:p>
        </p:txBody>
      </p:sp>
      <p:sp>
        <p:nvSpPr>
          <p:cNvPr id="16" name="File row 4"/>
          <p:cNvSpPr/>
          <p:nvPr/>
        </p:nvSpPr>
        <p:spPr>
          <a:xfrm>
            <a:off x="548640" y="3419856"/>
            <a:ext cx="11091672" cy="576072"/>
          </a:xfrm>
          <a:prstGeom prst="roundRect">
            <a:avLst>
              <a:gd name="adj" fmla="val 15873"/>
            </a:avLst>
          </a:prstGeom>
          <a:solidFill>
            <a:schemeClr val="bg2"/>
          </a:solidFill>
          <a:ln w="6350">
            <a:solidFill>
              <a:schemeClr val="bg2"/>
            </a:solidFill>
            <a:prstDash val="solid"/>
          </a:ln>
        </p:spPr>
      </p:sp>
      <p:sp>
        <p:nvSpPr>
          <p:cNvPr id="17" name="Tag 4"/>
          <p:cNvSpPr/>
          <p:nvPr/>
        </p:nvSpPr>
        <p:spPr>
          <a:xfrm>
            <a:off x="685800" y="3529584"/>
            <a:ext cx="1097280" cy="356616"/>
          </a:xfrm>
          <a:prstGeom prst="roundRect">
            <a:avLst>
              <a:gd name="adj" fmla="val 48718"/>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CHANGED</a:t>
            </a:r>
            <a:endParaRPr lang="en-US" sz="1200" dirty="0"/>
          </a:p>
        </p:txBody>
      </p:sp>
      <p:sp>
        <p:nvSpPr>
          <p:cNvPr id="18" name="File 4"/>
          <p:cNvSpPr txBox="1"/>
          <p:nvPr/>
        </p:nvSpPr>
        <p:spPr>
          <a:xfrm>
            <a:off x="1965960" y="3419856"/>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my_python_pkg/…/esp32_teleop_odometry_node.py</a:t>
            </a:r>
            <a:endParaRPr lang="en-US" sz="1300" dirty="0"/>
          </a:p>
        </p:txBody>
      </p:sp>
      <p:sp>
        <p:nvSpPr>
          <p:cNvPr id="19" name="File description 4"/>
          <p:cNvSpPr txBox="1"/>
          <p:nvPr/>
        </p:nvSpPr>
        <p:spPr>
          <a:xfrm>
            <a:off x="7040880" y="3419856"/>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scales v and ω together, keeping the planned curve</a:t>
            </a:r>
            <a:endParaRPr lang="en-US" sz="1400" dirty="0"/>
          </a:p>
        </p:txBody>
      </p:sp>
      <p:sp>
        <p:nvSpPr>
          <p:cNvPr id="20" name="File row 5"/>
          <p:cNvSpPr/>
          <p:nvPr/>
        </p:nvSpPr>
        <p:spPr>
          <a:xfrm>
            <a:off x="548640" y="4087368"/>
            <a:ext cx="11091672" cy="576072"/>
          </a:xfrm>
          <a:prstGeom prst="roundRect">
            <a:avLst>
              <a:gd name="adj" fmla="val 15873"/>
            </a:avLst>
          </a:prstGeom>
          <a:solidFill>
            <a:schemeClr val="bg2"/>
          </a:solidFill>
          <a:ln w="6350">
            <a:solidFill>
              <a:schemeClr val="bg2"/>
            </a:solidFill>
            <a:prstDash val="solid"/>
          </a:ln>
        </p:spPr>
      </p:sp>
      <p:sp>
        <p:nvSpPr>
          <p:cNvPr id="21" name="Tag 5"/>
          <p:cNvSpPr/>
          <p:nvPr/>
        </p:nvSpPr>
        <p:spPr>
          <a:xfrm>
            <a:off x="685800" y="4197096"/>
            <a:ext cx="1097280" cy="356616"/>
          </a:xfrm>
          <a:prstGeom prst="roundRect">
            <a:avLst>
              <a:gd name="adj" fmla="val 48718"/>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22" name="File 5"/>
          <p:cNvSpPr txBox="1"/>
          <p:nvPr/>
        </p:nvSpPr>
        <p:spPr>
          <a:xfrm>
            <a:off x="1965960" y="4087368"/>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my_python_pkg/…/odom_check.py</a:t>
            </a:r>
            <a:endParaRPr lang="en-US" sz="1300" dirty="0"/>
          </a:p>
        </p:txBody>
      </p:sp>
      <p:sp>
        <p:nvSpPr>
          <p:cNvPr id="23" name="File description 5"/>
          <p:cNvSpPr txBox="1"/>
          <p:nvPr/>
        </p:nvSpPr>
        <p:spPr>
          <a:xfrm>
            <a:off x="7040880" y="4087368"/>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prints distance and total rotation for calibration</a:t>
            </a:r>
            <a:endParaRPr lang="en-US" sz="1400" dirty="0"/>
          </a:p>
        </p:txBody>
      </p:sp>
      <p:sp>
        <p:nvSpPr>
          <p:cNvPr id="24" name="File row 6"/>
          <p:cNvSpPr/>
          <p:nvPr/>
        </p:nvSpPr>
        <p:spPr>
          <a:xfrm>
            <a:off x="548640" y="4754880"/>
            <a:ext cx="11091672" cy="576072"/>
          </a:xfrm>
          <a:prstGeom prst="roundRect">
            <a:avLst>
              <a:gd name="adj" fmla="val 15873"/>
            </a:avLst>
          </a:prstGeom>
          <a:solidFill>
            <a:schemeClr val="bg2"/>
          </a:solidFill>
          <a:ln w="6350">
            <a:solidFill>
              <a:schemeClr val="bg2"/>
            </a:solidFill>
            <a:prstDash val="solid"/>
          </a:ln>
        </p:spPr>
      </p:sp>
      <p:sp>
        <p:nvSpPr>
          <p:cNvPr id="25" name="Tag 6"/>
          <p:cNvSpPr/>
          <p:nvPr/>
        </p:nvSpPr>
        <p:spPr>
          <a:xfrm>
            <a:off x="685800" y="4864608"/>
            <a:ext cx="1097280" cy="356616"/>
          </a:xfrm>
          <a:prstGeom prst="roundRect">
            <a:avLst>
              <a:gd name="adj" fmla="val 48718"/>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26" name="File 6"/>
          <p:cNvSpPr txBox="1"/>
          <p:nvPr/>
        </p:nvSpPr>
        <p:spPr>
          <a:xfrm>
            <a:off x="1965960" y="4754880"/>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table_nav_web/</a:t>
            </a:r>
            <a:endParaRPr lang="en-US" sz="1300" dirty="0"/>
          </a:p>
        </p:txBody>
      </p:sp>
      <p:sp>
        <p:nvSpPr>
          <p:cNvPr id="27" name="File description 6"/>
          <p:cNvSpPr txBox="1"/>
          <p:nvPr/>
        </p:nvSpPr>
        <p:spPr>
          <a:xfrm>
            <a:off x="7040880" y="4754880"/>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web page + HTTP API → Nav2 NavigateToPose (“go to table1”)</a:t>
            </a:r>
            <a:endParaRPr lang="en-US" sz="1400" dirty="0"/>
          </a:p>
        </p:txBody>
      </p:sp>
      <p:sp>
        <p:nvSpPr>
          <p:cNvPr id="28" name="File row 7"/>
          <p:cNvSpPr/>
          <p:nvPr/>
        </p:nvSpPr>
        <p:spPr>
          <a:xfrm>
            <a:off x="548640" y="5422392"/>
            <a:ext cx="11091672" cy="576072"/>
          </a:xfrm>
          <a:prstGeom prst="roundRect">
            <a:avLst>
              <a:gd name="adj" fmla="val 15873"/>
            </a:avLst>
          </a:prstGeom>
          <a:solidFill>
            <a:schemeClr val="bg2"/>
          </a:solidFill>
          <a:ln w="6350">
            <a:solidFill>
              <a:schemeClr val="bg2"/>
            </a:solidFill>
            <a:prstDash val="solid"/>
          </a:ln>
        </p:spPr>
      </p:sp>
      <p:sp>
        <p:nvSpPr>
          <p:cNvPr id="29" name="Tag 7"/>
          <p:cNvSpPr/>
          <p:nvPr/>
        </p:nvSpPr>
        <p:spPr>
          <a:xfrm>
            <a:off x="685800" y="5532120"/>
            <a:ext cx="1097280" cy="356616"/>
          </a:xfrm>
          <a:prstGeom prst="roundRect">
            <a:avLst>
              <a:gd name="adj" fmla="val 48718"/>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NEW</a:t>
            </a:r>
            <a:endParaRPr lang="en-US" sz="1200" dirty="0"/>
          </a:p>
        </p:txBody>
      </p:sp>
      <p:sp>
        <p:nvSpPr>
          <p:cNvPr id="30" name="File 7"/>
          <p:cNvSpPr txBox="1"/>
          <p:nvPr/>
        </p:nvSpPr>
        <p:spPr>
          <a:xfrm>
            <a:off x="1965960" y="5422392"/>
            <a:ext cx="4983480" cy="576072"/>
          </a:xfrm>
          <a:prstGeom prst="rect">
            <a:avLst/>
          </a:prstGeom>
          <a:noFill/>
          <a:ln/>
        </p:spPr>
        <p:txBody>
          <a:bodyPr wrap="square" lIns="0" tIns="0" rIns="0" bIns="0" rtlCol="0" anchor="ctr"/>
          <a:lstStyle/>
          <a:p>
            <a:pPr algn="l" indent="0" marL="0">
              <a:buNone/>
            </a:pPr>
            <a:r>
              <a:rPr lang="en-US" sz="1300" b="1" dirty="0">
                <a:solidFill>
                  <a:schemeClr val="tx1"/>
                </a:solidFill>
                <a:latin typeface="Courier New" pitchFamily="34" charset="0"/>
                <a:ea typeface="Courier New" pitchFamily="34" charset="-122"/>
                <a:cs typeface="Courier New" pitchFamily="34" charset="-120"/>
              </a:rPr>
              <a:t>ROBOT_NAV_GUIDE.md</a:t>
            </a:r>
            <a:endParaRPr lang="en-US" sz="1300" dirty="0"/>
          </a:p>
        </p:txBody>
      </p:sp>
      <p:sp>
        <p:nvSpPr>
          <p:cNvPr id="31" name="File description 7"/>
          <p:cNvSpPr txBox="1"/>
          <p:nvPr/>
        </p:nvSpPr>
        <p:spPr>
          <a:xfrm>
            <a:off x="7040880" y="5422392"/>
            <a:ext cx="4480560" cy="576072"/>
          </a:xfrm>
          <a:prstGeom prst="rect">
            <a:avLst/>
          </a:prstGeom>
          <a:noFill/>
          <a:ln/>
        </p:spPr>
        <p:txBody>
          <a:bodyPr wrap="square" lIns="0" tIns="0" rIns="0" bIns="0" rtlCol="0" anchor="ctr"/>
          <a:lstStyle/>
          <a:p>
            <a:pPr algn="l" indent="0" marL="0">
              <a:buNone/>
            </a:pPr>
            <a:r>
              <a:rPr lang="en-US" sz="1400" dirty="0">
                <a:solidFill>
                  <a:schemeClr val="tx2"/>
                </a:solidFill>
              </a:rPr>
              <a:t>step-by-step guide and troubleshooting</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Five mistakes that made the real robot drive badly</a:t>
            </a:r>
            <a:endParaRPr lang="en-US" sz="2800" dirty="0"/>
          </a:p>
        </p:txBody>
      </p:sp>
      <p:sp>
        <p:nvSpPr>
          <p:cNvPr id="4" name="Header mistake"/>
          <p:cNvSpPr txBox="1"/>
          <p:nvPr/>
        </p:nvSpPr>
        <p:spPr>
          <a:xfrm>
            <a:off x="1371600" y="1325880"/>
            <a:ext cx="2651760" cy="320040"/>
          </a:xfrm>
          <a:prstGeom prst="rect">
            <a:avLst/>
          </a:prstGeom>
          <a:noFill/>
          <a:ln/>
        </p:spPr>
        <p:txBody>
          <a:bodyPr wrap="square" lIns="0" tIns="0" rIns="0" bIns="0" rtlCol="0" anchor="t"/>
          <a:lstStyle/>
          <a:p>
            <a:pPr algn="l" indent="0" marL="0">
              <a:buNone/>
            </a:pPr>
            <a:r>
              <a:rPr lang="en-US" sz="1200" b="1" dirty="0">
                <a:solidFill>
                  <a:schemeClr val="accent6"/>
                </a:solidFill>
              </a:rPr>
              <a:t>Mistake</a:t>
            </a:r>
            <a:endParaRPr lang="en-US" sz="1200" dirty="0"/>
          </a:p>
        </p:txBody>
      </p:sp>
      <p:sp>
        <p:nvSpPr>
          <p:cNvPr id="5" name="Header symptom"/>
          <p:cNvSpPr txBox="1"/>
          <p:nvPr/>
        </p:nvSpPr>
        <p:spPr>
          <a:xfrm>
            <a:off x="4206240" y="1325880"/>
            <a:ext cx="3566160" cy="320040"/>
          </a:xfrm>
          <a:prstGeom prst="rect">
            <a:avLst/>
          </a:prstGeom>
          <a:noFill/>
          <a:ln/>
        </p:spPr>
        <p:txBody>
          <a:bodyPr wrap="square" lIns="0" tIns="0" rIns="0" bIns="0" rtlCol="0" anchor="t"/>
          <a:lstStyle/>
          <a:p>
            <a:pPr algn="l" indent="0" marL="0">
              <a:buNone/>
            </a:pPr>
            <a:r>
              <a:rPr lang="en-US" sz="1200" b="1" dirty="0">
                <a:solidFill>
                  <a:schemeClr val="accent6"/>
                </a:solidFill>
              </a:rPr>
              <a:t>What you see</a:t>
            </a:r>
            <a:endParaRPr lang="en-US" sz="1200" dirty="0"/>
          </a:p>
        </p:txBody>
      </p:sp>
      <p:sp>
        <p:nvSpPr>
          <p:cNvPr id="6" name="Header fix"/>
          <p:cNvSpPr txBox="1"/>
          <p:nvPr/>
        </p:nvSpPr>
        <p:spPr>
          <a:xfrm>
            <a:off x="7955280" y="1325880"/>
            <a:ext cx="3566160" cy="320040"/>
          </a:xfrm>
          <a:prstGeom prst="rect">
            <a:avLst/>
          </a:prstGeom>
          <a:noFill/>
          <a:ln/>
        </p:spPr>
        <p:txBody>
          <a:bodyPr wrap="square" lIns="0" tIns="0" rIns="0" bIns="0" rtlCol="0" anchor="t"/>
          <a:lstStyle/>
          <a:p>
            <a:pPr algn="l" indent="0" marL="0">
              <a:buNone/>
            </a:pPr>
            <a:r>
              <a:rPr lang="en-US" sz="1200" b="1" dirty="0">
                <a:solidFill>
                  <a:schemeClr val="accent6"/>
                </a:solidFill>
              </a:rPr>
              <a:t>Fix</a:t>
            </a:r>
            <a:endParaRPr lang="en-US" sz="1200" dirty="0"/>
          </a:p>
        </p:txBody>
      </p:sp>
      <p:sp>
        <p:nvSpPr>
          <p:cNvPr id="7" name="Mistake row 1"/>
          <p:cNvSpPr/>
          <p:nvPr/>
        </p:nvSpPr>
        <p:spPr>
          <a:xfrm>
            <a:off x="548640" y="1691640"/>
            <a:ext cx="11091672" cy="795528"/>
          </a:xfrm>
          <a:prstGeom prst="roundRect">
            <a:avLst>
              <a:gd name="adj" fmla="val 11494"/>
            </a:avLst>
          </a:prstGeom>
          <a:solidFill>
            <a:schemeClr val="bg2"/>
          </a:solidFill>
          <a:ln w="6350">
            <a:solidFill>
              <a:schemeClr val="bg2"/>
            </a:solidFill>
            <a:prstDash val="solid"/>
          </a:ln>
        </p:spPr>
      </p:sp>
      <p:sp>
        <p:nvSpPr>
          <p:cNvPr id="8" name="Mistake number 1"/>
          <p:cNvSpPr/>
          <p:nvPr/>
        </p:nvSpPr>
        <p:spPr>
          <a:xfrm>
            <a:off x="731520" y="1865376"/>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Mistake 1"/>
          <p:cNvSpPr txBox="1"/>
          <p:nvPr/>
        </p:nvSpPr>
        <p:spPr>
          <a:xfrm>
            <a:off x="1371600" y="1691640"/>
            <a:ext cx="2697480" cy="795528"/>
          </a:xfrm>
          <a:prstGeom prst="rect">
            <a:avLst/>
          </a:prstGeom>
          <a:noFill/>
          <a:ln/>
        </p:spPr>
        <p:txBody>
          <a:bodyPr wrap="square" lIns="0" tIns="0" rIns="0" bIns="0" rtlCol="0" anchor="ctr"/>
          <a:lstStyle/>
          <a:p>
            <a:pPr algn="l" indent="0" marL="0">
              <a:buNone/>
            </a:pPr>
            <a:r>
              <a:rPr lang="en-US" sz="1500" b="1" dirty="0">
                <a:solidFill>
                  <a:schemeClr val="tx1"/>
                </a:solidFill>
              </a:rPr>
              <a:t>Simulation map on a real robot</a:t>
            </a:r>
            <a:endParaRPr lang="en-US" sz="1500" dirty="0"/>
          </a:p>
        </p:txBody>
      </p:sp>
      <p:sp>
        <p:nvSpPr>
          <p:cNvPr id="10" name="Symptom 1"/>
          <p:cNvSpPr txBox="1"/>
          <p:nvPr/>
        </p:nvSpPr>
        <p:spPr>
          <a:xfrm>
            <a:off x="4206240" y="1691640"/>
            <a:ext cx="3611880" cy="795528"/>
          </a:xfrm>
          <a:prstGeom prst="rect">
            <a:avLst/>
          </a:prstGeom>
          <a:noFill/>
          <a:ln/>
        </p:spPr>
        <p:txBody>
          <a:bodyPr wrap="square" lIns="0" tIns="0" rIns="0" bIns="0" rtlCol="0" anchor="ctr"/>
          <a:lstStyle/>
          <a:p>
            <a:pPr algn="l" indent="0" marL="0">
              <a:buNone/>
            </a:pPr>
            <a:r>
              <a:rPr lang="en-US" sz="1400" dirty="0">
                <a:solidFill>
                  <a:schemeClr val="tx2"/>
                </a:solidFill>
              </a:rPr>
              <a:t>Pose jumps, paths through real walls</a:t>
            </a:r>
            <a:endParaRPr lang="en-US" sz="1400" dirty="0"/>
          </a:p>
        </p:txBody>
      </p:sp>
      <p:sp>
        <p:nvSpPr>
          <p:cNvPr id="11" name="Fix 1"/>
          <p:cNvSpPr txBox="1"/>
          <p:nvPr/>
        </p:nvSpPr>
        <p:spPr>
          <a:xfrm>
            <a:off x="7955280" y="1691640"/>
            <a:ext cx="3566160" cy="795528"/>
          </a:xfrm>
          <a:prstGeom prst="rect">
            <a:avLst/>
          </a:prstGeom>
          <a:noFill/>
          <a:ln/>
        </p:spPr>
        <p:txBody>
          <a:bodyPr wrap="square" lIns="0" tIns="0" rIns="0" bIns="0" rtlCol="0" anchor="ctr"/>
          <a:lstStyle/>
          <a:p>
            <a:pPr algn="l" indent="0" marL="0">
              <a:buNone/>
            </a:pPr>
            <a:r>
              <a:rPr lang="en-US" sz="1400" b="1" dirty="0">
                <a:solidFill>
                  <a:schemeClr val="accent2"/>
                </a:solidFill>
              </a:rPr>
              <a:t>Map your room; nav2.launch.py map:=</a:t>
            </a:r>
            <a:endParaRPr lang="en-US" sz="1400" dirty="0"/>
          </a:p>
        </p:txBody>
      </p:sp>
      <p:sp>
        <p:nvSpPr>
          <p:cNvPr id="12" name="Mistake row 2"/>
          <p:cNvSpPr/>
          <p:nvPr/>
        </p:nvSpPr>
        <p:spPr>
          <a:xfrm>
            <a:off x="548640" y="2578608"/>
            <a:ext cx="11091672" cy="795528"/>
          </a:xfrm>
          <a:prstGeom prst="roundRect">
            <a:avLst>
              <a:gd name="adj" fmla="val 11494"/>
            </a:avLst>
          </a:prstGeom>
          <a:solidFill>
            <a:schemeClr val="bg2"/>
          </a:solidFill>
          <a:ln w="6350">
            <a:solidFill>
              <a:schemeClr val="bg2"/>
            </a:solidFill>
            <a:prstDash val="solid"/>
          </a:ln>
        </p:spPr>
      </p:sp>
      <p:sp>
        <p:nvSpPr>
          <p:cNvPr id="13" name="Mistake number 2"/>
          <p:cNvSpPr/>
          <p:nvPr/>
        </p:nvSpPr>
        <p:spPr>
          <a:xfrm>
            <a:off x="731520" y="2752344"/>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Mistake 2"/>
          <p:cNvSpPr txBox="1"/>
          <p:nvPr/>
        </p:nvSpPr>
        <p:spPr>
          <a:xfrm>
            <a:off x="1371600" y="2578608"/>
            <a:ext cx="2697480" cy="795528"/>
          </a:xfrm>
          <a:prstGeom prst="rect">
            <a:avLst/>
          </a:prstGeom>
          <a:noFill/>
          <a:ln/>
        </p:spPr>
        <p:txBody>
          <a:bodyPr wrap="square" lIns="0" tIns="0" rIns="0" bIns="0" rtlCol="0" anchor="ctr"/>
          <a:lstStyle/>
          <a:p>
            <a:pPr algn="l" indent="0" marL="0">
              <a:buNone/>
            </a:pPr>
            <a:r>
              <a:rPr lang="en-US" sz="1500" b="1" dirty="0">
                <a:solidFill>
                  <a:schemeClr val="tx1"/>
                </a:solidFill>
              </a:rPr>
              <a:t>Two odometry publishers (esp32 + rf2o)</a:t>
            </a:r>
            <a:endParaRPr lang="en-US" sz="1500" dirty="0"/>
          </a:p>
        </p:txBody>
      </p:sp>
      <p:sp>
        <p:nvSpPr>
          <p:cNvPr id="15" name="Symptom 2"/>
          <p:cNvSpPr txBox="1"/>
          <p:nvPr/>
        </p:nvSpPr>
        <p:spPr>
          <a:xfrm>
            <a:off x="4206240" y="2578608"/>
            <a:ext cx="3611880" cy="795528"/>
          </a:xfrm>
          <a:prstGeom prst="rect">
            <a:avLst/>
          </a:prstGeom>
          <a:noFill/>
          <a:ln/>
        </p:spPr>
        <p:txBody>
          <a:bodyPr wrap="square" lIns="0" tIns="0" rIns="0" bIns="0" rtlCol="0" anchor="ctr"/>
          <a:lstStyle/>
          <a:p>
            <a:pPr algn="l" indent="0" marL="0">
              <a:buNone/>
            </a:pPr>
            <a:r>
              <a:rPr lang="en-US" sz="1400" dirty="0">
                <a:solidFill>
                  <a:schemeClr val="tx2"/>
                </a:solidFill>
              </a:rPr>
              <a:t>Robot jerks, pose flickers</a:t>
            </a:r>
            <a:endParaRPr lang="en-US" sz="1400" dirty="0"/>
          </a:p>
        </p:txBody>
      </p:sp>
      <p:sp>
        <p:nvSpPr>
          <p:cNvPr id="16" name="Fix 2"/>
          <p:cNvSpPr txBox="1"/>
          <p:nvPr/>
        </p:nvSpPr>
        <p:spPr>
          <a:xfrm>
            <a:off x="7955280" y="2578608"/>
            <a:ext cx="3566160" cy="795528"/>
          </a:xfrm>
          <a:prstGeom prst="rect">
            <a:avLst/>
          </a:prstGeom>
          <a:noFill/>
          <a:ln/>
        </p:spPr>
        <p:txBody>
          <a:bodyPr wrap="square" lIns="0" tIns="0" rIns="0" bIns="0" rtlCol="0" anchor="ctr"/>
          <a:lstStyle/>
          <a:p>
            <a:pPr algn="l" indent="0" marL="0">
              <a:buNone/>
            </a:pPr>
            <a:r>
              <a:rPr lang="en-US" sz="1400" b="1" dirty="0">
                <a:solidFill>
                  <a:schemeClr val="accent2"/>
                </a:solidFill>
              </a:rPr>
              <a:t>One source: odom_source:=wheel or laser</a:t>
            </a:r>
            <a:endParaRPr lang="en-US" sz="1400" dirty="0"/>
          </a:p>
        </p:txBody>
      </p:sp>
      <p:sp>
        <p:nvSpPr>
          <p:cNvPr id="17" name="Mistake row 3"/>
          <p:cNvSpPr/>
          <p:nvPr/>
        </p:nvSpPr>
        <p:spPr>
          <a:xfrm>
            <a:off x="548640" y="3465576"/>
            <a:ext cx="11091672" cy="795528"/>
          </a:xfrm>
          <a:prstGeom prst="roundRect">
            <a:avLst>
              <a:gd name="adj" fmla="val 11494"/>
            </a:avLst>
          </a:prstGeom>
          <a:solidFill>
            <a:schemeClr val="bg2"/>
          </a:solidFill>
          <a:ln w="6350">
            <a:solidFill>
              <a:schemeClr val="bg2"/>
            </a:solidFill>
            <a:prstDash val="solid"/>
          </a:ln>
        </p:spPr>
      </p:sp>
      <p:sp>
        <p:nvSpPr>
          <p:cNvPr id="18" name="Mistake number 3"/>
          <p:cNvSpPr/>
          <p:nvPr/>
        </p:nvSpPr>
        <p:spPr>
          <a:xfrm>
            <a:off x="731520" y="3639312"/>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Mistake 3"/>
          <p:cNvSpPr txBox="1"/>
          <p:nvPr/>
        </p:nvSpPr>
        <p:spPr>
          <a:xfrm>
            <a:off x="1371600" y="3465576"/>
            <a:ext cx="2697480" cy="795528"/>
          </a:xfrm>
          <a:prstGeom prst="rect">
            <a:avLst/>
          </a:prstGeom>
          <a:noFill/>
          <a:ln/>
        </p:spPr>
        <p:txBody>
          <a:bodyPr wrap="square" lIns="0" tIns="0" rIns="0" bIns="0" rtlCol="0" anchor="ctr"/>
          <a:lstStyle/>
          <a:p>
            <a:pPr algn="l" indent="0" marL="0">
              <a:buNone/>
            </a:pPr>
            <a:r>
              <a:rPr lang="en-US" sz="1500" b="1" dirty="0">
                <a:solidFill>
                  <a:schemeClr val="tx1"/>
                </a:solidFill>
              </a:rPr>
              <a:t>Speeds clamped separately</a:t>
            </a:r>
            <a:endParaRPr lang="en-US" sz="1500" dirty="0"/>
          </a:p>
        </p:txBody>
      </p:sp>
      <p:sp>
        <p:nvSpPr>
          <p:cNvPr id="20" name="Symptom 3"/>
          <p:cNvSpPr txBox="1"/>
          <p:nvPr/>
        </p:nvSpPr>
        <p:spPr>
          <a:xfrm>
            <a:off x="4206240" y="3465576"/>
            <a:ext cx="3611880" cy="795528"/>
          </a:xfrm>
          <a:prstGeom prst="rect">
            <a:avLst/>
          </a:prstGeom>
          <a:noFill/>
          <a:ln/>
        </p:spPr>
        <p:txBody>
          <a:bodyPr wrap="square" lIns="0" tIns="0" rIns="0" bIns="0" rtlCol="0" anchor="ctr"/>
          <a:lstStyle/>
          <a:p>
            <a:pPr algn="l" indent="0" marL="0">
              <a:buNone/>
            </a:pPr>
            <a:r>
              <a:rPr lang="en-US" sz="1400" dirty="0">
                <a:solidFill>
                  <a:schemeClr val="tx2"/>
                </a:solidFill>
              </a:rPr>
              <a:t>Robot drifts off the planned curve</a:t>
            </a:r>
            <a:endParaRPr lang="en-US" sz="1400" dirty="0"/>
          </a:p>
        </p:txBody>
      </p:sp>
      <p:sp>
        <p:nvSpPr>
          <p:cNvPr id="21" name="Fix 3"/>
          <p:cNvSpPr txBox="1"/>
          <p:nvPr/>
        </p:nvSpPr>
        <p:spPr>
          <a:xfrm>
            <a:off x="7955280" y="3465576"/>
            <a:ext cx="3566160" cy="795528"/>
          </a:xfrm>
          <a:prstGeom prst="rect">
            <a:avLst/>
          </a:prstGeom>
          <a:noFill/>
          <a:ln/>
        </p:spPr>
        <p:txBody>
          <a:bodyPr wrap="square" lIns="0" tIns="0" rIns="0" bIns="0" rtlCol="0" anchor="ctr"/>
          <a:lstStyle/>
          <a:p>
            <a:pPr algn="l" indent="0" marL="0">
              <a:buNone/>
            </a:pPr>
            <a:r>
              <a:rPr lang="en-US" sz="1400" b="1" dirty="0">
                <a:solidFill>
                  <a:schemeClr val="accent2"/>
                </a:solidFill>
              </a:rPr>
              <a:t>Equal limits; scale v and ω together</a:t>
            </a:r>
            <a:endParaRPr lang="en-US" sz="1400" dirty="0"/>
          </a:p>
        </p:txBody>
      </p:sp>
      <p:sp>
        <p:nvSpPr>
          <p:cNvPr id="22" name="Mistake row 4"/>
          <p:cNvSpPr/>
          <p:nvPr/>
        </p:nvSpPr>
        <p:spPr>
          <a:xfrm>
            <a:off x="548640" y="4352544"/>
            <a:ext cx="11091672" cy="795528"/>
          </a:xfrm>
          <a:prstGeom prst="roundRect">
            <a:avLst>
              <a:gd name="adj" fmla="val 11494"/>
            </a:avLst>
          </a:prstGeom>
          <a:solidFill>
            <a:schemeClr val="bg2"/>
          </a:solidFill>
          <a:ln w="6350">
            <a:solidFill>
              <a:schemeClr val="bg2"/>
            </a:solidFill>
            <a:prstDash val="solid"/>
          </a:ln>
        </p:spPr>
      </p:sp>
      <p:sp>
        <p:nvSpPr>
          <p:cNvPr id="23" name="Mistake number 4"/>
          <p:cNvSpPr/>
          <p:nvPr/>
        </p:nvSpPr>
        <p:spPr>
          <a:xfrm>
            <a:off x="731520" y="4526280"/>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Mistake 4"/>
          <p:cNvSpPr txBox="1"/>
          <p:nvPr/>
        </p:nvSpPr>
        <p:spPr>
          <a:xfrm>
            <a:off x="1371600" y="4352544"/>
            <a:ext cx="2697480" cy="795528"/>
          </a:xfrm>
          <a:prstGeom prst="rect">
            <a:avLst/>
          </a:prstGeom>
          <a:noFill/>
          <a:ln/>
        </p:spPr>
        <p:txBody>
          <a:bodyPr wrap="square" lIns="0" tIns="0" rIns="0" bIns="0" rtlCol="0" anchor="ctr"/>
          <a:lstStyle/>
          <a:p>
            <a:pPr algn="l" indent="0" marL="0">
              <a:buNone/>
            </a:pPr>
            <a:r>
              <a:rPr lang="en-US" sz="1500" b="1" dirty="0">
                <a:solidFill>
                  <a:schemeClr val="tx1"/>
                </a:solidFill>
              </a:rPr>
              <a:t>Costmap robot_radius 0.12 m</a:t>
            </a:r>
            <a:endParaRPr lang="en-US" sz="1500" dirty="0"/>
          </a:p>
        </p:txBody>
      </p:sp>
      <p:sp>
        <p:nvSpPr>
          <p:cNvPr id="25" name="Symptom 4"/>
          <p:cNvSpPr txBox="1"/>
          <p:nvPr/>
        </p:nvSpPr>
        <p:spPr>
          <a:xfrm>
            <a:off x="4206240" y="4352544"/>
            <a:ext cx="3611880" cy="795528"/>
          </a:xfrm>
          <a:prstGeom prst="rect">
            <a:avLst/>
          </a:prstGeom>
          <a:noFill/>
          <a:ln/>
        </p:spPr>
        <p:txBody>
          <a:bodyPr wrap="square" lIns="0" tIns="0" rIns="0" bIns="0" rtlCol="0" anchor="ctr"/>
          <a:lstStyle/>
          <a:p>
            <a:pPr algn="l" indent="0" marL="0">
              <a:buNone/>
            </a:pPr>
            <a:r>
              <a:rPr lang="en-US" sz="1400" dirty="0">
                <a:solidFill>
                  <a:schemeClr val="tx2"/>
                </a:solidFill>
              </a:rPr>
              <a:t>Cuts corners, brushes tables</a:t>
            </a:r>
            <a:endParaRPr lang="en-US" sz="1400" dirty="0"/>
          </a:p>
        </p:txBody>
      </p:sp>
      <p:sp>
        <p:nvSpPr>
          <p:cNvPr id="26" name="Fix 4"/>
          <p:cNvSpPr txBox="1"/>
          <p:nvPr/>
        </p:nvSpPr>
        <p:spPr>
          <a:xfrm>
            <a:off x="7955280" y="4352544"/>
            <a:ext cx="3566160" cy="795528"/>
          </a:xfrm>
          <a:prstGeom prst="rect">
            <a:avLst/>
          </a:prstGeom>
          <a:noFill/>
          <a:ln/>
        </p:spPr>
        <p:txBody>
          <a:bodyPr wrap="square" lIns="0" tIns="0" rIns="0" bIns="0" rtlCol="0" anchor="ctr"/>
          <a:lstStyle/>
          <a:p>
            <a:pPr algn="l" indent="0" marL="0">
              <a:buNone/>
            </a:pPr>
            <a:r>
              <a:rPr lang="en-US" sz="1400" b="1" dirty="0">
                <a:solidFill>
                  <a:schemeClr val="accent2"/>
                </a:solidFill>
              </a:rPr>
              <a:t>Measure the robot: robot_radius 0.22 m</a:t>
            </a:r>
            <a:endParaRPr lang="en-US" sz="1400" dirty="0"/>
          </a:p>
        </p:txBody>
      </p:sp>
      <p:sp>
        <p:nvSpPr>
          <p:cNvPr id="27" name="Mistake row 5"/>
          <p:cNvSpPr/>
          <p:nvPr/>
        </p:nvSpPr>
        <p:spPr>
          <a:xfrm>
            <a:off x="548640" y="5239512"/>
            <a:ext cx="11091672" cy="795528"/>
          </a:xfrm>
          <a:prstGeom prst="roundRect">
            <a:avLst>
              <a:gd name="adj" fmla="val 11494"/>
            </a:avLst>
          </a:prstGeom>
          <a:solidFill>
            <a:schemeClr val="bg2"/>
          </a:solidFill>
          <a:ln w="6350">
            <a:solidFill>
              <a:schemeClr val="bg2"/>
            </a:solidFill>
            <a:prstDash val="solid"/>
          </a:ln>
        </p:spPr>
      </p:sp>
      <p:sp>
        <p:nvSpPr>
          <p:cNvPr id="28" name="Mistake number 5"/>
          <p:cNvSpPr/>
          <p:nvPr/>
        </p:nvSpPr>
        <p:spPr>
          <a:xfrm>
            <a:off x="731520" y="5413248"/>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9" name="Mistake 5"/>
          <p:cNvSpPr txBox="1"/>
          <p:nvPr/>
        </p:nvSpPr>
        <p:spPr>
          <a:xfrm>
            <a:off x="1371600" y="5239512"/>
            <a:ext cx="2697480" cy="795528"/>
          </a:xfrm>
          <a:prstGeom prst="rect">
            <a:avLst/>
          </a:prstGeom>
          <a:noFill/>
          <a:ln/>
        </p:spPr>
        <p:txBody>
          <a:bodyPr wrap="square" lIns="0" tIns="0" rIns="0" bIns="0" rtlCol="0" anchor="ctr"/>
          <a:lstStyle/>
          <a:p>
            <a:pPr algn="l" indent="0" marL="0">
              <a:buNone/>
            </a:pPr>
            <a:r>
              <a:rPr lang="en-US" sz="1500" b="1" dirty="0">
                <a:solidFill>
                  <a:schemeClr val="tx1"/>
                </a:solidFill>
              </a:rPr>
              <a:t>F/B/L/R serial driver (cmd_vel_serial)</a:t>
            </a:r>
            <a:endParaRPr lang="en-US" sz="1500" dirty="0"/>
          </a:p>
        </p:txBody>
      </p:sp>
      <p:sp>
        <p:nvSpPr>
          <p:cNvPr id="30" name="Symptom 5"/>
          <p:cNvSpPr txBox="1"/>
          <p:nvPr/>
        </p:nvSpPr>
        <p:spPr>
          <a:xfrm>
            <a:off x="4206240" y="5239512"/>
            <a:ext cx="3611880" cy="795528"/>
          </a:xfrm>
          <a:prstGeom prst="rect">
            <a:avLst/>
          </a:prstGeom>
          <a:noFill/>
          <a:ln/>
        </p:spPr>
        <p:txBody>
          <a:bodyPr wrap="square" lIns="0" tIns="0" rIns="0" bIns="0" rtlCol="0" anchor="ctr"/>
          <a:lstStyle/>
          <a:p>
            <a:pPr algn="l" indent="0" marL="0">
              <a:buNone/>
            </a:pPr>
            <a:r>
              <a:rPr lang="en-US" sz="1400" dirty="0">
                <a:solidFill>
                  <a:schemeClr val="tx2"/>
                </a:solidFill>
              </a:rPr>
              <a:t>Cannot turn while driving forward</a:t>
            </a:r>
            <a:endParaRPr lang="en-US" sz="1400" dirty="0"/>
          </a:p>
        </p:txBody>
      </p:sp>
      <p:sp>
        <p:nvSpPr>
          <p:cNvPr id="31" name="Fix 5"/>
          <p:cNvSpPr txBox="1"/>
          <p:nvPr/>
        </p:nvSpPr>
        <p:spPr>
          <a:xfrm>
            <a:off x="7955280" y="5239512"/>
            <a:ext cx="3566160" cy="795528"/>
          </a:xfrm>
          <a:prstGeom prst="rect">
            <a:avLst/>
          </a:prstGeom>
          <a:noFill/>
          <a:ln/>
        </p:spPr>
        <p:txBody>
          <a:bodyPr wrap="square" lIns="0" tIns="0" rIns="0" bIns="0" rtlCol="0" anchor="ctr"/>
          <a:lstStyle/>
          <a:p>
            <a:pPr algn="l" indent="0" marL="0">
              <a:buNone/>
            </a:pPr>
            <a:r>
              <a:rPr lang="en-US" sz="1400" b="1" dirty="0">
                <a:solidFill>
                  <a:schemeClr val="accent2"/>
                </a:solidFill>
              </a:rPr>
              <a:t>Use esp32_driver (wheel speeds)</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number"/>
          <p:cNvSpPr txBox="1"/>
          <p:nvPr/>
        </p:nvSpPr>
        <p:spPr>
          <a:xfrm>
            <a:off x="731520" y="1143000"/>
            <a:ext cx="2743200" cy="1280160"/>
          </a:xfrm>
          <a:prstGeom prst="rect">
            <a:avLst/>
          </a:prstGeom>
          <a:noFill/>
          <a:ln/>
        </p:spPr>
        <p:txBody>
          <a:bodyPr wrap="square" lIns="0" tIns="0" rIns="0" bIns="0" rtlCol="0" anchor="b"/>
          <a:lstStyle/>
          <a:p>
            <a:pPr indent="0" marL="0">
              <a:buNone/>
            </a:pPr>
            <a:r>
              <a:rPr lang="en-US" sz="8000" b="1" dirty="0">
                <a:solidFill>
                  <a:schemeClr val="accent1"/>
                </a:solidFill>
              </a:rPr>
              <a:t>05</a:t>
            </a:r>
            <a:endParaRPr lang="en-US" sz="8000" dirty="0"/>
          </a:p>
        </p:txBody>
      </p:sp>
      <p:sp>
        <p:nvSpPr>
          <p:cNvPr id="3" name="Text 0"/>
          <p:cNvSpPr/>
          <p:nvPr>
            <p:ph idx="100" type="title" hasCustomPrompt="1"/>
          </p:nvPr>
        </p:nvSpPr>
        <p:spPr>
          <a:xfrm>
            <a:off x="731520" y="2514600"/>
            <a:ext cx="7680960" cy="1280160"/>
          </a:xfrm>
          <a:prstGeom prst="rect">
            <a:avLst/>
          </a:prstGeom>
          <a:noFill/>
          <a:ln/>
        </p:spPr>
        <p:txBody>
          <a:bodyPr wrap="square" lIns="0" tIns="0" rIns="0" bIns="0" rtlCol="0" anchor="b"/>
          <a:lstStyle/>
          <a:p>
            <a:pPr algn="l" indent="0" marL="0">
              <a:buNone/>
            </a:pPr>
            <a:r>
              <a:rPr lang="en-US" sz="4000" b="1" dirty="0">
                <a:solidFill>
                  <a:schemeClr val="bg1"/>
                </a:solidFill>
              </a:rPr>
              <a:t>Hands-on lab</a:t>
            </a:r>
            <a:endParaRPr lang="en-US" sz="4000" dirty="0"/>
          </a:p>
        </p:txBody>
      </p:sp>
      <p:sp>
        <p:nvSpPr>
          <p:cNvPr id="4" name="Text 0"/>
          <p:cNvSpPr/>
          <p:nvPr>
            <p:ph idx="101" type="body" hasCustomPrompt="1"/>
          </p:nvPr>
        </p:nvSpPr>
        <p:spPr>
          <a:xfrm>
            <a:off x="731520" y="397764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Six steps from an empty workspace to “go to Table 1” — each one checked before the next</a:t>
            </a:r>
            <a:endParaRPr lang="en-US" sz="1800" dirty="0"/>
          </a:p>
        </p:txBody>
      </p:sp>
      <p:sp>
        <p:nvSpPr>
          <p:cNvPr id="5" name="Section icon circle"/>
          <p:cNvSpPr/>
          <p:nvPr/>
        </p:nvSpPr>
        <p:spPr>
          <a:xfrm>
            <a:off x="8823960" y="2057400"/>
            <a:ext cx="2560320" cy="2560320"/>
          </a:xfrm>
          <a:prstGeom prst="ellipse">
            <a:avLst/>
          </a:prstGeom>
          <a:solidFill>
            <a:schemeClr val="accent2"/>
          </a:solidFill>
          <a:ln w="12700">
            <a:solidFill>
              <a:schemeClr val="accent2"/>
            </a:solidFill>
            <a:prstDash val="solid"/>
          </a:ln>
        </p:spPr>
      </p:sp>
      <p:pic>
        <p:nvPicPr>
          <p:cNvPr id="6" name="Section icon" descr="preencoded.png">    </p:cNvPr>
          <p:cNvPicPr>
            <a:picLocks noChangeAspect="1"/>
          </p:cNvPicPr>
          <p:nvPr/>
        </p:nvPicPr>
        <p:blipFill>
          <a:blip r:embed="rId1"/>
          <a:stretch>
            <a:fillRect/>
          </a:stretch>
        </p:blipFill>
        <p:spPr>
          <a:xfrm>
            <a:off x="9464040" y="2697480"/>
            <a:ext cx="1280160" cy="12801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Lab workflow: six steps, each one checked before the next</a:t>
            </a:r>
            <a:endParaRPr lang="en-US" sz="2800" dirty="0"/>
          </a:p>
        </p:txBody>
      </p:sp>
      <p:sp>
        <p:nvSpPr>
          <p:cNvPr id="4" name="Timeline"/>
          <p:cNvSpPr/>
          <p:nvPr/>
        </p:nvSpPr>
        <p:spPr>
          <a:xfrm>
            <a:off x="1325880" y="3429000"/>
            <a:ext cx="9674352" cy="0"/>
          </a:xfrm>
          <a:prstGeom prst="line">
            <a:avLst/>
          </a:prstGeom>
          <a:noFill/>
          <a:ln w="31750">
            <a:solidFill>
              <a:schemeClr val="accent6"/>
            </a:solidFill>
            <a:prstDash val="solid"/>
          </a:ln>
        </p:spPr>
      </p:sp>
      <p:sp>
        <p:nvSpPr>
          <p:cNvPr id="5" name="Step 1 tile"/>
          <p:cNvSpPr/>
          <p:nvPr/>
        </p:nvSpPr>
        <p:spPr>
          <a:xfrm>
            <a:off x="1024128" y="1965960"/>
            <a:ext cx="603504" cy="603504"/>
          </a:xfrm>
          <a:prstGeom prst="roundRect">
            <a:avLst>
              <a:gd name="adj" fmla="val 20000"/>
            </a:avLst>
          </a:prstGeom>
          <a:solidFill>
            <a:schemeClr val="accent3"/>
          </a:solidFill>
          <a:ln w="6350">
            <a:solidFill>
              <a:schemeClr val="accent3"/>
            </a:solidFill>
            <a:prstDash val="solid"/>
          </a:ln>
        </p:spPr>
      </p:sp>
      <p:pic>
        <p:nvPicPr>
          <p:cNvPr id="6" name="Step 1 icon" descr="preencoded.png">    </p:cNvPr>
          <p:cNvPicPr>
            <a:picLocks noChangeAspect="1"/>
          </p:cNvPicPr>
          <p:nvPr/>
        </p:nvPicPr>
        <p:blipFill>
          <a:blip r:embed="rId1"/>
          <a:stretch>
            <a:fillRect/>
          </a:stretch>
        </p:blipFill>
        <p:spPr>
          <a:xfrm>
            <a:off x="1156899" y="2098731"/>
            <a:ext cx="337962" cy="337962"/>
          </a:xfrm>
          <a:prstGeom prst="rect">
            <a:avLst/>
          </a:prstGeom>
        </p:spPr>
      </p:pic>
      <p:sp>
        <p:nvSpPr>
          <p:cNvPr id="7" name="Step number 1"/>
          <p:cNvSpPr/>
          <p:nvPr/>
        </p:nvSpPr>
        <p:spPr>
          <a:xfrm>
            <a:off x="914400"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Step title 1"/>
          <p:cNvSpPr txBox="1"/>
          <p:nvPr/>
        </p:nvSpPr>
        <p:spPr>
          <a:xfrm>
            <a:off x="411480"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Build</a:t>
            </a:r>
            <a:endParaRPr lang="en-US" sz="1700" dirty="0"/>
          </a:p>
        </p:txBody>
      </p:sp>
      <p:sp>
        <p:nvSpPr>
          <p:cNvPr id="9" name="Step check 1"/>
          <p:cNvSpPr txBox="1"/>
          <p:nvPr/>
        </p:nvSpPr>
        <p:spPr>
          <a:xfrm>
            <a:off x="411480"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colcon build succeeds and the workspace is sourced</a:t>
            </a:r>
            <a:endParaRPr lang="en-US" sz="1400" dirty="0"/>
          </a:p>
        </p:txBody>
      </p:sp>
      <p:sp>
        <p:nvSpPr>
          <p:cNvPr id="10" name="Step 2 tile"/>
          <p:cNvSpPr/>
          <p:nvPr/>
        </p:nvSpPr>
        <p:spPr>
          <a:xfrm>
            <a:off x="2958998" y="1965960"/>
            <a:ext cx="603504" cy="603504"/>
          </a:xfrm>
          <a:prstGeom prst="roundRect">
            <a:avLst>
              <a:gd name="adj" fmla="val 20000"/>
            </a:avLst>
          </a:prstGeom>
          <a:solidFill>
            <a:schemeClr val="accent3"/>
          </a:solidFill>
          <a:ln w="6350">
            <a:solidFill>
              <a:schemeClr val="accent3"/>
            </a:solidFill>
            <a:prstDash val="solid"/>
          </a:ln>
        </p:spPr>
      </p:sp>
      <p:pic>
        <p:nvPicPr>
          <p:cNvPr id="11" name="Step 2 icon" descr="preencoded.png">    </p:cNvPr>
          <p:cNvPicPr>
            <a:picLocks noChangeAspect="1"/>
          </p:cNvPicPr>
          <p:nvPr/>
        </p:nvPicPr>
        <p:blipFill>
          <a:blip r:embed="rId2"/>
          <a:stretch>
            <a:fillRect/>
          </a:stretch>
        </p:blipFill>
        <p:spPr>
          <a:xfrm>
            <a:off x="3091769" y="2098731"/>
            <a:ext cx="337962" cy="337962"/>
          </a:xfrm>
          <a:prstGeom prst="rect">
            <a:avLst/>
          </a:prstGeom>
        </p:spPr>
      </p:pic>
      <p:sp>
        <p:nvSpPr>
          <p:cNvPr id="12" name="Step number 2"/>
          <p:cNvSpPr/>
          <p:nvPr/>
        </p:nvSpPr>
        <p:spPr>
          <a:xfrm>
            <a:off x="2849270"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3" name="Step title 2"/>
          <p:cNvSpPr txBox="1"/>
          <p:nvPr/>
        </p:nvSpPr>
        <p:spPr>
          <a:xfrm>
            <a:off x="2346350"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Bring-up</a:t>
            </a:r>
            <a:endParaRPr lang="en-US" sz="1700" dirty="0"/>
          </a:p>
        </p:txBody>
      </p:sp>
      <p:sp>
        <p:nvSpPr>
          <p:cNvPr id="14" name="Step check 2"/>
          <p:cNvSpPr txBox="1"/>
          <p:nvPr/>
        </p:nvSpPr>
        <p:spPr>
          <a:xfrm>
            <a:off x="2346350"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/scan and /odom publish; one odometry publisher</a:t>
            </a:r>
            <a:endParaRPr lang="en-US" sz="1400" dirty="0"/>
          </a:p>
        </p:txBody>
      </p:sp>
      <p:sp>
        <p:nvSpPr>
          <p:cNvPr id="15" name="Step 3 tile"/>
          <p:cNvSpPr/>
          <p:nvPr/>
        </p:nvSpPr>
        <p:spPr>
          <a:xfrm>
            <a:off x="4893869" y="1965960"/>
            <a:ext cx="603504" cy="603504"/>
          </a:xfrm>
          <a:prstGeom prst="roundRect">
            <a:avLst>
              <a:gd name="adj" fmla="val 20000"/>
            </a:avLst>
          </a:prstGeom>
          <a:solidFill>
            <a:schemeClr val="accent3"/>
          </a:solidFill>
          <a:ln w="6350">
            <a:solidFill>
              <a:schemeClr val="accent3"/>
            </a:solidFill>
            <a:prstDash val="solid"/>
          </a:ln>
        </p:spPr>
      </p:sp>
      <p:pic>
        <p:nvPicPr>
          <p:cNvPr id="16" name="Step 3 icon" descr="preencoded.png">    </p:cNvPr>
          <p:cNvPicPr>
            <a:picLocks noChangeAspect="1"/>
          </p:cNvPicPr>
          <p:nvPr/>
        </p:nvPicPr>
        <p:blipFill>
          <a:blip r:embed="rId3"/>
          <a:stretch>
            <a:fillRect/>
          </a:stretch>
        </p:blipFill>
        <p:spPr>
          <a:xfrm>
            <a:off x="5026640" y="2098731"/>
            <a:ext cx="337962" cy="337962"/>
          </a:xfrm>
          <a:prstGeom prst="rect">
            <a:avLst/>
          </a:prstGeom>
        </p:spPr>
      </p:pic>
      <p:sp>
        <p:nvSpPr>
          <p:cNvPr id="17" name="Step number 3"/>
          <p:cNvSpPr/>
          <p:nvPr/>
        </p:nvSpPr>
        <p:spPr>
          <a:xfrm>
            <a:off x="4784141"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Step title 3"/>
          <p:cNvSpPr txBox="1"/>
          <p:nvPr/>
        </p:nvSpPr>
        <p:spPr>
          <a:xfrm>
            <a:off x="4281221"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Calibrate</a:t>
            </a:r>
            <a:endParaRPr lang="en-US" sz="1700" dirty="0"/>
          </a:p>
        </p:txBody>
      </p:sp>
      <p:sp>
        <p:nvSpPr>
          <p:cNvPr id="19" name="Step check 3"/>
          <p:cNvSpPr txBox="1"/>
          <p:nvPr/>
        </p:nvSpPr>
        <p:spPr>
          <a:xfrm>
            <a:off x="4281221"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1 m drive and 5 turns match odom_check</a:t>
            </a:r>
            <a:endParaRPr lang="en-US" sz="1400" dirty="0"/>
          </a:p>
        </p:txBody>
      </p:sp>
      <p:sp>
        <p:nvSpPr>
          <p:cNvPr id="20" name="Step 4 tile"/>
          <p:cNvSpPr/>
          <p:nvPr/>
        </p:nvSpPr>
        <p:spPr>
          <a:xfrm>
            <a:off x="6828739" y="1965960"/>
            <a:ext cx="603504" cy="603504"/>
          </a:xfrm>
          <a:prstGeom prst="roundRect">
            <a:avLst>
              <a:gd name="adj" fmla="val 20000"/>
            </a:avLst>
          </a:prstGeom>
          <a:solidFill>
            <a:schemeClr val="accent3"/>
          </a:solidFill>
          <a:ln w="6350">
            <a:solidFill>
              <a:schemeClr val="accent3"/>
            </a:solidFill>
            <a:prstDash val="solid"/>
          </a:ln>
        </p:spPr>
      </p:sp>
      <p:pic>
        <p:nvPicPr>
          <p:cNvPr id="21" name="Step 4 icon" descr="preencoded.png">    </p:cNvPr>
          <p:cNvPicPr>
            <a:picLocks noChangeAspect="1"/>
          </p:cNvPicPr>
          <p:nvPr/>
        </p:nvPicPr>
        <p:blipFill>
          <a:blip r:embed="rId4"/>
          <a:stretch>
            <a:fillRect/>
          </a:stretch>
        </p:blipFill>
        <p:spPr>
          <a:xfrm>
            <a:off x="6961510" y="2098731"/>
            <a:ext cx="337962" cy="337962"/>
          </a:xfrm>
          <a:prstGeom prst="rect">
            <a:avLst/>
          </a:prstGeom>
        </p:spPr>
      </p:pic>
      <p:sp>
        <p:nvSpPr>
          <p:cNvPr id="22" name="Step number 4"/>
          <p:cNvSpPr/>
          <p:nvPr/>
        </p:nvSpPr>
        <p:spPr>
          <a:xfrm>
            <a:off x="6719011"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3" name="Step title 4"/>
          <p:cNvSpPr txBox="1"/>
          <p:nvPr/>
        </p:nvSpPr>
        <p:spPr>
          <a:xfrm>
            <a:off x="6216091"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Map</a:t>
            </a:r>
            <a:endParaRPr lang="en-US" sz="1700" dirty="0"/>
          </a:p>
        </p:txBody>
      </p:sp>
      <p:sp>
        <p:nvSpPr>
          <p:cNvPr id="24" name="Step check 4"/>
          <p:cNvSpPr txBox="1"/>
          <p:nvPr/>
        </p:nvSpPr>
        <p:spPr>
          <a:xfrm>
            <a:off x="6216091"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map looks like the room; saved in ~/maps</a:t>
            </a:r>
            <a:endParaRPr lang="en-US" sz="1400" dirty="0"/>
          </a:p>
        </p:txBody>
      </p:sp>
      <p:sp>
        <p:nvSpPr>
          <p:cNvPr id="25" name="Step 5 tile"/>
          <p:cNvSpPr/>
          <p:nvPr/>
        </p:nvSpPr>
        <p:spPr>
          <a:xfrm>
            <a:off x="8763610" y="1965960"/>
            <a:ext cx="603504" cy="603504"/>
          </a:xfrm>
          <a:prstGeom prst="roundRect">
            <a:avLst>
              <a:gd name="adj" fmla="val 20000"/>
            </a:avLst>
          </a:prstGeom>
          <a:solidFill>
            <a:schemeClr val="accent3"/>
          </a:solidFill>
          <a:ln w="6350">
            <a:solidFill>
              <a:schemeClr val="accent3"/>
            </a:solidFill>
            <a:prstDash val="solid"/>
          </a:ln>
        </p:spPr>
      </p:sp>
      <p:pic>
        <p:nvPicPr>
          <p:cNvPr id="26" name="Step 5 icon" descr="preencoded.png">    </p:cNvPr>
          <p:cNvPicPr>
            <a:picLocks noChangeAspect="1"/>
          </p:cNvPicPr>
          <p:nvPr/>
        </p:nvPicPr>
        <p:blipFill>
          <a:blip r:embed="rId5"/>
          <a:stretch>
            <a:fillRect/>
          </a:stretch>
        </p:blipFill>
        <p:spPr>
          <a:xfrm>
            <a:off x="8896380" y="2098731"/>
            <a:ext cx="337962" cy="337962"/>
          </a:xfrm>
          <a:prstGeom prst="rect">
            <a:avLst/>
          </a:prstGeom>
        </p:spPr>
      </p:pic>
      <p:sp>
        <p:nvSpPr>
          <p:cNvPr id="27" name="Step number 5"/>
          <p:cNvSpPr/>
          <p:nvPr/>
        </p:nvSpPr>
        <p:spPr>
          <a:xfrm>
            <a:off x="8653882"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8" name="Step title 5"/>
          <p:cNvSpPr txBox="1"/>
          <p:nvPr/>
        </p:nvSpPr>
        <p:spPr>
          <a:xfrm>
            <a:off x="8150962"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Navigate</a:t>
            </a:r>
            <a:endParaRPr lang="en-US" sz="1700" dirty="0"/>
          </a:p>
        </p:txBody>
      </p:sp>
      <p:sp>
        <p:nvSpPr>
          <p:cNvPr id="29" name="Step check 5"/>
          <p:cNvSpPr txBox="1"/>
          <p:nvPr/>
        </p:nvSpPr>
        <p:spPr>
          <a:xfrm>
            <a:off x="8150962"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robot reaches RViz goals reliably</a:t>
            </a:r>
            <a:endParaRPr lang="en-US" sz="1400" dirty="0"/>
          </a:p>
        </p:txBody>
      </p:sp>
      <p:sp>
        <p:nvSpPr>
          <p:cNvPr id="30" name="Step 6 tile"/>
          <p:cNvSpPr/>
          <p:nvPr/>
        </p:nvSpPr>
        <p:spPr>
          <a:xfrm>
            <a:off x="10698480" y="1965960"/>
            <a:ext cx="603504" cy="603504"/>
          </a:xfrm>
          <a:prstGeom prst="roundRect">
            <a:avLst>
              <a:gd name="adj" fmla="val 20000"/>
            </a:avLst>
          </a:prstGeom>
          <a:solidFill>
            <a:schemeClr val="accent3"/>
          </a:solidFill>
          <a:ln w="6350">
            <a:solidFill>
              <a:schemeClr val="accent3"/>
            </a:solidFill>
            <a:prstDash val="solid"/>
          </a:ln>
        </p:spPr>
      </p:sp>
      <p:pic>
        <p:nvPicPr>
          <p:cNvPr id="31" name="Step 6 icon" descr="preencoded.png">    </p:cNvPr>
          <p:cNvPicPr>
            <a:picLocks noChangeAspect="1"/>
          </p:cNvPicPr>
          <p:nvPr/>
        </p:nvPicPr>
        <p:blipFill>
          <a:blip r:embed="rId6"/>
          <a:stretch>
            <a:fillRect/>
          </a:stretch>
        </p:blipFill>
        <p:spPr>
          <a:xfrm>
            <a:off x="10831251" y="2098731"/>
            <a:ext cx="337962" cy="337962"/>
          </a:xfrm>
          <a:prstGeom prst="rect">
            <a:avLst/>
          </a:prstGeom>
        </p:spPr>
      </p:pic>
      <p:sp>
        <p:nvSpPr>
          <p:cNvPr id="32" name="Step number 6"/>
          <p:cNvSpPr/>
          <p:nvPr/>
        </p:nvSpPr>
        <p:spPr>
          <a:xfrm>
            <a:off x="10588752" y="3017520"/>
            <a:ext cx="822960" cy="8229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33" name="Step title 6"/>
          <p:cNvSpPr txBox="1"/>
          <p:nvPr/>
        </p:nvSpPr>
        <p:spPr>
          <a:xfrm>
            <a:off x="10085832" y="4023360"/>
            <a:ext cx="1828800" cy="411480"/>
          </a:xfrm>
          <a:prstGeom prst="rect">
            <a:avLst/>
          </a:prstGeom>
          <a:noFill/>
          <a:ln/>
        </p:spPr>
        <p:txBody>
          <a:bodyPr wrap="square" lIns="0" tIns="0" rIns="0" bIns="0" rtlCol="0" anchor="t"/>
          <a:lstStyle/>
          <a:p>
            <a:pPr algn="ctr" indent="0" marL="0">
              <a:buNone/>
            </a:pPr>
            <a:r>
              <a:rPr lang="en-US" sz="1700" b="1" dirty="0">
                <a:solidFill>
                  <a:schemeClr val="tx1"/>
                </a:solidFill>
              </a:rPr>
              <a:t>Web app</a:t>
            </a:r>
            <a:endParaRPr lang="en-US" sz="1700" dirty="0"/>
          </a:p>
        </p:txBody>
      </p:sp>
      <p:sp>
        <p:nvSpPr>
          <p:cNvPr id="34" name="Step check 6"/>
          <p:cNvSpPr txBox="1"/>
          <p:nvPr/>
        </p:nvSpPr>
        <p:spPr>
          <a:xfrm>
            <a:off x="10085832" y="4480560"/>
            <a:ext cx="1828800" cy="1463040"/>
          </a:xfrm>
          <a:prstGeom prst="rect">
            <a:avLst/>
          </a:prstGeom>
          <a:noFill/>
          <a:ln/>
        </p:spPr>
        <p:txBody>
          <a:bodyPr wrap="square" lIns="0" tIns="0" rIns="0" bIns="0" rtlCol="0" anchor="t"/>
          <a:lstStyle/>
          <a:p>
            <a:pPr algn="ctr" indent="0" marL="0">
              <a:buNone/>
            </a:pPr>
            <a:r>
              <a:rPr lang="en-US" sz="1400" b="1" dirty="0">
                <a:solidFill>
                  <a:schemeClr val="accent2"/>
                </a:solidFill>
              </a:rPr>
              <a:t>Done when: </a:t>
            </a:r>
            <a:pPr algn="ctr" indent="0" marL="0">
              <a:buNone/>
            </a:pPr>
            <a:r>
              <a:rPr lang="en-US" sz="1400" dirty="0">
                <a:solidFill>
                  <a:schemeClr val="tx1"/>
                </a:solidFill>
              </a:rPr>
              <a:t>tapping “table1” drives to Table 1</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Steps 1–2: build, start the robot and check the hardware</a:t>
            </a:r>
            <a:endParaRPr lang="en-US" sz="2800" dirty="0"/>
          </a:p>
        </p:txBody>
      </p:sp>
      <p:sp>
        <p:nvSpPr>
          <p:cNvPr id="4" name="Bring-up commands background"/>
          <p:cNvSpPr/>
          <p:nvPr/>
        </p:nvSpPr>
        <p:spPr>
          <a:xfrm>
            <a:off x="548640" y="1417320"/>
            <a:ext cx="6172200" cy="4663440"/>
          </a:xfrm>
          <a:prstGeom prst="roundRect">
            <a:avLst>
              <a:gd name="adj" fmla="val 1569"/>
            </a:avLst>
          </a:prstGeom>
          <a:solidFill>
            <a:schemeClr val="tx1"/>
          </a:solidFill>
          <a:ln w="6350">
            <a:solidFill>
              <a:schemeClr val="tx1"/>
            </a:solidFill>
            <a:prstDash val="solid"/>
          </a:ln>
        </p:spPr>
      </p:sp>
      <p:sp>
        <p:nvSpPr>
          <p:cNvPr id="5" name="Bring-up commands text"/>
          <p:cNvSpPr txBox="1"/>
          <p:nvPr/>
        </p:nvSpPr>
        <p:spPr>
          <a:xfrm>
            <a:off x="749808" y="1563624"/>
            <a:ext cx="5769864" cy="43708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1: build (once)</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cd ~/ros2_ws &amp;&amp; colcon build --symlink-install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source install/setup.bash</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chemeClr val="accent1"/>
                </a:solidFill>
                <a:latin typeface="Courier New" pitchFamily="34" charset="0"/>
                <a:ea typeface="Courier New" pitchFamily="34" charset="-122"/>
                <a:cs typeface="Courier New" pitchFamily="34" charset="-120"/>
              </a:rPr>
              <a:t># Step 2: LiDAR + TF + ESP32 driver</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launch bcr_bot robot_bringup.launch.py \</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lidar_port:=/dev/ttyUSB0 esp32_port:=/dev/ttyUSB1</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b="1" dirty="0">
                <a:solidFill>
                  <a:schemeClr val="accent1"/>
                </a:solidFill>
                <a:latin typeface="Courier New" pitchFamily="34" charset="0"/>
                <a:ea typeface="Courier New" pitchFamily="34" charset="-122"/>
                <a:cs typeface="Courier New" pitchFamily="34" charset="-120"/>
              </a:rPr>
              <a:t># checks (new terminal)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topic hz /scan</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topic info /odom      </a:t>
            </a:r>
            <a:pPr indent="0" marL="0">
              <a:buNone/>
            </a:pPr>
            <a:r>
              <a:rPr lang="en-US" sz="1400" b="1" dirty="0">
                <a:solidFill>
                  <a:schemeClr val="accent1"/>
                </a:solidFill>
                <a:latin typeface="Courier New" pitchFamily="34" charset="0"/>
                <a:ea typeface="Courier New" pitchFamily="34" charset="-122"/>
                <a:cs typeface="Courier New" pitchFamily="34" charset="-120"/>
              </a:rPr>
              <a:t># Publisher count: 1</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run tf2_ros tf2_echo odom base_link</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run teleop_twist_keyboard teleop_twist_keyboard</a:t>
            </a:r>
            <a:endParaRPr lang="en-US" sz="1400" dirty="0"/>
          </a:p>
        </p:txBody>
      </p:sp>
      <p:sp>
        <p:nvSpPr>
          <p:cNvPr id="6" name="Check LiDAR"/>
          <p:cNvSpPr/>
          <p:nvPr/>
        </p:nvSpPr>
        <p:spPr>
          <a:xfrm>
            <a:off x="6949440" y="1417320"/>
            <a:ext cx="4690872" cy="1051560"/>
          </a:xfrm>
          <a:prstGeom prst="roundRect">
            <a:avLst>
              <a:gd name="adj" fmla="val 8696"/>
            </a:avLst>
          </a:prstGeom>
          <a:solidFill>
            <a:schemeClr val="bg2"/>
          </a:solidFill>
          <a:ln w="6350">
            <a:solidFill>
              <a:schemeClr val="bg2"/>
            </a:solidFill>
            <a:prstDash val="solid"/>
          </a:ln>
        </p:spPr>
      </p:sp>
      <p:sp>
        <p:nvSpPr>
          <p:cNvPr id="7" name="Check LiDAR tile"/>
          <p:cNvSpPr/>
          <p:nvPr/>
        </p:nvSpPr>
        <p:spPr>
          <a:xfrm>
            <a:off x="7132320" y="1645920"/>
            <a:ext cx="594360" cy="594360"/>
          </a:xfrm>
          <a:prstGeom prst="roundRect">
            <a:avLst>
              <a:gd name="adj" fmla="val 20000"/>
            </a:avLst>
          </a:prstGeom>
          <a:solidFill>
            <a:schemeClr val="accent2"/>
          </a:solidFill>
          <a:ln w="6350">
            <a:solidFill>
              <a:schemeClr val="accent2"/>
            </a:solidFill>
            <a:prstDash val="solid"/>
          </a:ln>
        </p:spPr>
      </p:sp>
      <p:pic>
        <p:nvPicPr>
          <p:cNvPr id="8" name="Check LiDAR icon" descr="preencoded.png">    </p:cNvPr>
          <p:cNvPicPr>
            <a:picLocks noChangeAspect="1"/>
          </p:cNvPicPr>
          <p:nvPr/>
        </p:nvPicPr>
        <p:blipFill>
          <a:blip r:embed="rId1"/>
          <a:stretch>
            <a:fillRect/>
          </a:stretch>
        </p:blipFill>
        <p:spPr>
          <a:xfrm>
            <a:off x="7263079" y="1776679"/>
            <a:ext cx="332842" cy="332842"/>
          </a:xfrm>
          <a:prstGeom prst="rect">
            <a:avLst/>
          </a:prstGeom>
        </p:spPr>
      </p:pic>
      <p:sp>
        <p:nvSpPr>
          <p:cNvPr id="9" name="Check text LiDAR"/>
          <p:cNvSpPr txBox="1"/>
          <p:nvPr/>
        </p:nvSpPr>
        <p:spPr>
          <a:xfrm>
            <a:off x="7909560" y="1490472"/>
            <a:ext cx="3611880" cy="914400"/>
          </a:xfrm>
          <a:prstGeom prst="rect">
            <a:avLst/>
          </a:prstGeom>
          <a:noFill/>
          <a:ln/>
        </p:spPr>
        <p:txBody>
          <a:bodyPr wrap="square" lIns="0" tIns="0" rIns="0" bIns="0" rtlCol="0" anchor="ctr"/>
          <a:lstStyle/>
          <a:p>
            <a:pPr algn="l" indent="0" marL="0">
              <a:buNone/>
            </a:pPr>
            <a:r>
              <a:rPr lang="en-US" sz="1400" b="1" dirty="0">
                <a:solidFill>
                  <a:schemeClr val="tx1"/>
                </a:solidFill>
              </a:rPr>
              <a:t>LiDAR</a:t>
            </a:r>
            <a:endParaRPr lang="en-US" sz="1400" dirty="0"/>
          </a:p>
          <a:p>
            <a:pPr algn="l" indent="0" marL="0">
              <a:buNone/>
            </a:pPr>
            <a:r>
              <a:rPr lang="en-US" sz="1400" dirty="0">
                <a:solidFill>
                  <a:schemeClr val="tx2"/>
                </a:solidFill>
              </a:rPr>
              <a:t>box in front shows on the red X axis in RViz — else laser_yaw:=3.14159</a:t>
            </a:r>
            <a:endParaRPr lang="en-US" sz="1400" dirty="0"/>
          </a:p>
        </p:txBody>
      </p:sp>
      <p:sp>
        <p:nvSpPr>
          <p:cNvPr id="10" name="Check Odometry"/>
          <p:cNvSpPr/>
          <p:nvPr/>
        </p:nvSpPr>
        <p:spPr>
          <a:xfrm>
            <a:off x="6949440" y="2606040"/>
            <a:ext cx="4690872" cy="1051560"/>
          </a:xfrm>
          <a:prstGeom prst="roundRect">
            <a:avLst>
              <a:gd name="adj" fmla="val 8696"/>
            </a:avLst>
          </a:prstGeom>
          <a:solidFill>
            <a:schemeClr val="bg2"/>
          </a:solidFill>
          <a:ln w="6350">
            <a:solidFill>
              <a:schemeClr val="bg2"/>
            </a:solidFill>
            <a:prstDash val="solid"/>
          </a:ln>
        </p:spPr>
      </p:sp>
      <p:sp>
        <p:nvSpPr>
          <p:cNvPr id="11" name="Check Odometry tile"/>
          <p:cNvSpPr/>
          <p:nvPr/>
        </p:nvSpPr>
        <p:spPr>
          <a:xfrm>
            <a:off x="7132320" y="2834640"/>
            <a:ext cx="594360" cy="594360"/>
          </a:xfrm>
          <a:prstGeom prst="roundRect">
            <a:avLst>
              <a:gd name="adj" fmla="val 20000"/>
            </a:avLst>
          </a:prstGeom>
          <a:solidFill>
            <a:schemeClr val="accent2"/>
          </a:solidFill>
          <a:ln w="6350">
            <a:solidFill>
              <a:schemeClr val="accent2"/>
            </a:solidFill>
            <a:prstDash val="solid"/>
          </a:ln>
        </p:spPr>
      </p:sp>
      <p:pic>
        <p:nvPicPr>
          <p:cNvPr id="12" name="Check Odometry icon" descr="preencoded.png">    </p:cNvPr>
          <p:cNvPicPr>
            <a:picLocks noChangeAspect="1"/>
          </p:cNvPicPr>
          <p:nvPr/>
        </p:nvPicPr>
        <p:blipFill>
          <a:blip r:embed="rId2"/>
          <a:stretch>
            <a:fillRect/>
          </a:stretch>
        </p:blipFill>
        <p:spPr>
          <a:xfrm>
            <a:off x="7263079" y="2965399"/>
            <a:ext cx="332842" cy="332842"/>
          </a:xfrm>
          <a:prstGeom prst="rect">
            <a:avLst/>
          </a:prstGeom>
        </p:spPr>
      </p:pic>
      <p:sp>
        <p:nvSpPr>
          <p:cNvPr id="13" name="Check text Odometry"/>
          <p:cNvSpPr txBox="1"/>
          <p:nvPr/>
        </p:nvSpPr>
        <p:spPr>
          <a:xfrm>
            <a:off x="7909560" y="2679192"/>
            <a:ext cx="3611880" cy="914400"/>
          </a:xfrm>
          <a:prstGeom prst="rect">
            <a:avLst/>
          </a:prstGeom>
          <a:noFill/>
          <a:ln/>
        </p:spPr>
        <p:txBody>
          <a:bodyPr wrap="square" lIns="0" tIns="0" rIns="0" bIns="0" rtlCol="0" anchor="ctr"/>
          <a:lstStyle/>
          <a:p>
            <a:pPr algn="l" indent="0" marL="0">
              <a:buNone/>
            </a:pPr>
            <a:r>
              <a:rPr lang="en-US" sz="1400" b="1" dirty="0">
                <a:solidFill>
                  <a:schemeClr val="tx1"/>
                </a:solidFill>
              </a:rPr>
              <a:t>Odometry</a:t>
            </a:r>
            <a:endParaRPr lang="en-US" sz="1400" dirty="0"/>
          </a:p>
          <a:p>
            <a:pPr algn="l" indent="0" marL="0">
              <a:buNone/>
            </a:pPr>
            <a:r>
              <a:rPr lang="en-US" sz="1400" dirty="0">
                <a:solidFill>
                  <a:schemeClr val="tx2"/>
                </a:solidFill>
              </a:rPr>
              <a:t>exactly 1 publisher on /odom</a:t>
            </a:r>
            <a:endParaRPr lang="en-US" sz="1400" dirty="0"/>
          </a:p>
        </p:txBody>
      </p:sp>
      <p:sp>
        <p:nvSpPr>
          <p:cNvPr id="14" name="Check Direction"/>
          <p:cNvSpPr/>
          <p:nvPr/>
        </p:nvSpPr>
        <p:spPr>
          <a:xfrm>
            <a:off x="6949440" y="3794760"/>
            <a:ext cx="4690872" cy="1051560"/>
          </a:xfrm>
          <a:prstGeom prst="roundRect">
            <a:avLst>
              <a:gd name="adj" fmla="val 8696"/>
            </a:avLst>
          </a:prstGeom>
          <a:solidFill>
            <a:schemeClr val="bg2"/>
          </a:solidFill>
          <a:ln w="6350">
            <a:solidFill>
              <a:schemeClr val="bg2"/>
            </a:solidFill>
            <a:prstDash val="solid"/>
          </a:ln>
        </p:spPr>
      </p:sp>
      <p:sp>
        <p:nvSpPr>
          <p:cNvPr id="15" name="Check Direction tile"/>
          <p:cNvSpPr/>
          <p:nvPr/>
        </p:nvSpPr>
        <p:spPr>
          <a:xfrm>
            <a:off x="7132320" y="4023360"/>
            <a:ext cx="594360" cy="594360"/>
          </a:xfrm>
          <a:prstGeom prst="roundRect">
            <a:avLst>
              <a:gd name="adj" fmla="val 20000"/>
            </a:avLst>
          </a:prstGeom>
          <a:solidFill>
            <a:schemeClr val="accent2"/>
          </a:solidFill>
          <a:ln w="6350">
            <a:solidFill>
              <a:schemeClr val="accent2"/>
            </a:solidFill>
            <a:prstDash val="solid"/>
          </a:ln>
        </p:spPr>
      </p:sp>
      <p:pic>
        <p:nvPicPr>
          <p:cNvPr id="16" name="Check Direction icon" descr="preencoded.png">    </p:cNvPr>
          <p:cNvPicPr>
            <a:picLocks noChangeAspect="1"/>
          </p:cNvPicPr>
          <p:nvPr/>
        </p:nvPicPr>
        <p:blipFill>
          <a:blip r:embed="rId3"/>
          <a:stretch>
            <a:fillRect/>
          </a:stretch>
        </p:blipFill>
        <p:spPr>
          <a:xfrm>
            <a:off x="7263079" y="4154119"/>
            <a:ext cx="332842" cy="332842"/>
          </a:xfrm>
          <a:prstGeom prst="rect">
            <a:avLst/>
          </a:prstGeom>
        </p:spPr>
      </p:pic>
      <p:sp>
        <p:nvSpPr>
          <p:cNvPr id="17" name="Check text Direction"/>
          <p:cNvSpPr txBox="1"/>
          <p:nvPr/>
        </p:nvSpPr>
        <p:spPr>
          <a:xfrm>
            <a:off x="7909560" y="3867912"/>
            <a:ext cx="3611880" cy="914400"/>
          </a:xfrm>
          <a:prstGeom prst="rect">
            <a:avLst/>
          </a:prstGeom>
          <a:noFill/>
          <a:ln/>
        </p:spPr>
        <p:txBody>
          <a:bodyPr wrap="square" lIns="0" tIns="0" rIns="0" bIns="0" rtlCol="0" anchor="ctr"/>
          <a:lstStyle/>
          <a:p>
            <a:pPr algn="l" indent="0" marL="0">
              <a:buNone/>
            </a:pPr>
            <a:r>
              <a:rPr lang="en-US" sz="1400" b="1" dirty="0">
                <a:solidFill>
                  <a:schemeClr val="tx1"/>
                </a:solidFill>
              </a:rPr>
              <a:t>Direction</a:t>
            </a:r>
            <a:endParaRPr lang="en-US" sz="1400" dirty="0"/>
          </a:p>
          <a:p>
            <a:pPr algn="l" indent="0" marL="0">
              <a:buNone/>
            </a:pPr>
            <a:r>
              <a:rPr lang="en-US" sz="1400" dirty="0">
                <a:solidFill>
                  <a:schemeClr val="tx2"/>
                </a:solidFill>
              </a:rPr>
              <a:t>key i → odom x increases; key j → yaw increases</a:t>
            </a:r>
            <a:endParaRPr lang="en-US" sz="1400" dirty="0"/>
          </a:p>
        </p:txBody>
      </p:sp>
      <p:sp>
        <p:nvSpPr>
          <p:cNvPr id="18" name="Check Slow speed"/>
          <p:cNvSpPr/>
          <p:nvPr/>
        </p:nvSpPr>
        <p:spPr>
          <a:xfrm>
            <a:off x="6949440" y="4983480"/>
            <a:ext cx="4690872" cy="1051560"/>
          </a:xfrm>
          <a:prstGeom prst="roundRect">
            <a:avLst>
              <a:gd name="adj" fmla="val 8696"/>
            </a:avLst>
          </a:prstGeom>
          <a:solidFill>
            <a:schemeClr val="bg2"/>
          </a:solidFill>
          <a:ln w="6350">
            <a:solidFill>
              <a:schemeClr val="bg2"/>
            </a:solidFill>
            <a:prstDash val="solid"/>
          </a:ln>
        </p:spPr>
      </p:sp>
      <p:sp>
        <p:nvSpPr>
          <p:cNvPr id="19" name="Check Slow speed tile"/>
          <p:cNvSpPr/>
          <p:nvPr/>
        </p:nvSpPr>
        <p:spPr>
          <a:xfrm>
            <a:off x="7132320" y="5212080"/>
            <a:ext cx="594360" cy="594360"/>
          </a:xfrm>
          <a:prstGeom prst="roundRect">
            <a:avLst>
              <a:gd name="adj" fmla="val 20000"/>
            </a:avLst>
          </a:prstGeom>
          <a:solidFill>
            <a:schemeClr val="accent2"/>
          </a:solidFill>
          <a:ln w="6350">
            <a:solidFill>
              <a:schemeClr val="accent2"/>
            </a:solidFill>
            <a:prstDash val="solid"/>
          </a:ln>
        </p:spPr>
      </p:sp>
      <p:pic>
        <p:nvPicPr>
          <p:cNvPr id="20" name="Check Slow speed icon" descr="preencoded.png">    </p:cNvPr>
          <p:cNvPicPr>
            <a:picLocks noChangeAspect="1"/>
          </p:cNvPicPr>
          <p:nvPr/>
        </p:nvPicPr>
        <p:blipFill>
          <a:blip r:embed="rId4"/>
          <a:stretch>
            <a:fillRect/>
          </a:stretch>
        </p:blipFill>
        <p:spPr>
          <a:xfrm>
            <a:off x="7263079" y="5342839"/>
            <a:ext cx="332842" cy="332842"/>
          </a:xfrm>
          <a:prstGeom prst="rect">
            <a:avLst/>
          </a:prstGeom>
        </p:spPr>
      </p:pic>
      <p:sp>
        <p:nvSpPr>
          <p:cNvPr id="21" name="Check text Slow speed"/>
          <p:cNvSpPr txBox="1"/>
          <p:nvPr/>
        </p:nvSpPr>
        <p:spPr>
          <a:xfrm>
            <a:off x="7909560" y="5056632"/>
            <a:ext cx="3611880" cy="914400"/>
          </a:xfrm>
          <a:prstGeom prst="rect">
            <a:avLst/>
          </a:prstGeom>
          <a:noFill/>
          <a:ln/>
        </p:spPr>
        <p:txBody>
          <a:bodyPr wrap="square" lIns="0" tIns="0" rIns="0" bIns="0" rtlCol="0" anchor="ctr"/>
          <a:lstStyle/>
          <a:p>
            <a:pPr algn="l" indent="0" marL="0">
              <a:buNone/>
            </a:pPr>
            <a:r>
              <a:rPr lang="en-US" sz="1400" b="1" dirty="0">
                <a:solidFill>
                  <a:schemeClr val="tx1"/>
                </a:solidFill>
              </a:rPr>
              <a:t>Slow speed</a:t>
            </a:r>
            <a:endParaRPr lang="en-US" sz="1400" dirty="0"/>
          </a:p>
          <a:p>
            <a:pPr algn="l" indent="0" marL="0">
              <a:buNone/>
            </a:pPr>
            <a:r>
              <a:rPr lang="en-US" sz="1400" dirty="0">
                <a:solidFill>
                  <a:schemeClr val="tx2"/>
                </a:solidFill>
              </a:rPr>
              <a:t>wheels still turn at 0.05 m/s</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Step 3: calibrate odometry so 1 metre in ROS is 1 metre on the floor</a:t>
            </a:r>
            <a:endParaRPr lang="en-US" sz="2800" dirty="0"/>
          </a:p>
        </p:txBody>
      </p:sp>
      <p:sp>
        <p:nvSpPr>
          <p:cNvPr id="4" name="odom_check command background"/>
          <p:cNvSpPr/>
          <p:nvPr/>
        </p:nvSpPr>
        <p:spPr>
          <a:xfrm>
            <a:off x="548640" y="1417320"/>
            <a:ext cx="11091672" cy="548640"/>
          </a:xfrm>
          <a:prstGeom prst="roundRect">
            <a:avLst>
              <a:gd name="adj" fmla="val 13333"/>
            </a:avLst>
          </a:prstGeom>
          <a:solidFill>
            <a:schemeClr val="tx1"/>
          </a:solidFill>
          <a:ln w="6350">
            <a:solidFill>
              <a:schemeClr val="tx1"/>
            </a:solidFill>
            <a:prstDash val="solid"/>
          </a:ln>
        </p:spPr>
      </p:sp>
      <p:sp>
        <p:nvSpPr>
          <p:cNvPr id="5" name="odom_check command text"/>
          <p:cNvSpPr txBox="1"/>
          <p:nvPr/>
        </p:nvSpPr>
        <p:spPr>
          <a:xfrm>
            <a:off x="749808" y="1563624"/>
            <a:ext cx="10689336" cy="256032"/>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ros2 run my_python_pkg odom_check    </a:t>
            </a:r>
            <a:pPr indent="0" marL="0">
              <a:buNone/>
            </a:pPr>
            <a:r>
              <a:rPr lang="en-US" sz="1400" b="1" dirty="0">
                <a:solidFill>
                  <a:schemeClr val="accent1"/>
                </a:solidFill>
                <a:latin typeface="Courier New" pitchFamily="34" charset="0"/>
                <a:ea typeface="Courier New" pitchFamily="34" charset="-122"/>
                <a:cs typeface="Courier New" pitchFamily="34" charset="-120"/>
              </a:rPr>
              <a:t># → distance 0.930 m | rotation 1910.0 deg</a:t>
            </a:r>
            <a:endParaRPr lang="en-US" sz="1400" dirty="0"/>
          </a:p>
        </p:txBody>
      </p:sp>
      <p:sp>
        <p:nvSpPr>
          <p:cNvPr id="6" name="Test 1 · drive straight 1.00 m card"/>
          <p:cNvSpPr/>
          <p:nvPr/>
        </p:nvSpPr>
        <p:spPr>
          <a:xfrm>
            <a:off x="548640" y="2194560"/>
            <a:ext cx="5440680" cy="2788920"/>
          </a:xfrm>
          <a:prstGeom prst="roundRect">
            <a:avLst>
              <a:gd name="adj" fmla="val 3279"/>
            </a:avLst>
          </a:prstGeom>
          <a:solidFill>
            <a:schemeClr val="bg2"/>
          </a:solidFill>
          <a:ln w="6350">
            <a:solidFill>
              <a:schemeClr val="bg2"/>
            </a:solidFill>
            <a:prstDash val="solid"/>
          </a:ln>
        </p:spPr>
      </p:sp>
      <p:sp>
        <p:nvSpPr>
          <p:cNvPr id="7" name="Test 1 · drive straight 1.00 m tile"/>
          <p:cNvSpPr/>
          <p:nvPr/>
        </p:nvSpPr>
        <p:spPr>
          <a:xfrm>
            <a:off x="777240" y="2423160"/>
            <a:ext cx="594360" cy="594360"/>
          </a:xfrm>
          <a:prstGeom prst="roundRect">
            <a:avLst>
              <a:gd name="adj" fmla="val 20000"/>
            </a:avLst>
          </a:prstGeom>
          <a:solidFill>
            <a:schemeClr val="accent1"/>
          </a:solidFill>
          <a:ln w="6350">
            <a:solidFill>
              <a:schemeClr val="accent1"/>
            </a:solidFill>
            <a:prstDash val="solid"/>
          </a:ln>
        </p:spPr>
      </p:sp>
      <p:pic>
        <p:nvPicPr>
          <p:cNvPr id="8" name="Test 1 · drive straight 1.00 m icon" descr="preencoded.png">    </p:cNvPr>
          <p:cNvPicPr>
            <a:picLocks noChangeAspect="1"/>
          </p:cNvPicPr>
          <p:nvPr/>
        </p:nvPicPr>
        <p:blipFill>
          <a:blip r:embed="rId1"/>
          <a:stretch>
            <a:fillRect/>
          </a:stretch>
        </p:blipFill>
        <p:spPr>
          <a:xfrm>
            <a:off x="907999" y="2553919"/>
            <a:ext cx="332842" cy="332842"/>
          </a:xfrm>
          <a:prstGeom prst="rect">
            <a:avLst/>
          </a:prstGeom>
        </p:spPr>
      </p:pic>
      <p:sp>
        <p:nvSpPr>
          <p:cNvPr id="9" name="Test 1 · drive straight 1.00 m title"/>
          <p:cNvSpPr txBox="1"/>
          <p:nvPr/>
        </p:nvSpPr>
        <p:spPr>
          <a:xfrm>
            <a:off x="1554480" y="2423160"/>
            <a:ext cx="4251960" cy="594360"/>
          </a:xfrm>
          <a:prstGeom prst="rect">
            <a:avLst/>
          </a:prstGeom>
          <a:noFill/>
          <a:ln/>
        </p:spPr>
        <p:txBody>
          <a:bodyPr wrap="square" lIns="0" tIns="0" rIns="0" bIns="0" rtlCol="0" anchor="ctr"/>
          <a:lstStyle/>
          <a:p>
            <a:pPr algn="l" indent="0" marL="0">
              <a:buNone/>
            </a:pPr>
            <a:r>
              <a:rPr lang="en-US" sz="1800" b="1" dirty="0">
                <a:solidFill>
                  <a:schemeClr val="tx1"/>
                </a:solidFill>
              </a:rPr>
              <a:t>Test 1 · drive straight 1.00 m</a:t>
            </a:r>
            <a:endParaRPr lang="en-US" sz="1800" dirty="0"/>
          </a:p>
        </p:txBody>
      </p:sp>
      <p:sp>
        <p:nvSpPr>
          <p:cNvPr id="10" name="Test 1 · drive straight 1.00 m text"/>
          <p:cNvSpPr txBox="1"/>
          <p:nvPr/>
        </p:nvSpPr>
        <p:spPr>
          <a:xfrm>
            <a:off x="777240" y="3154680"/>
            <a:ext cx="4983480" cy="457200"/>
          </a:xfrm>
          <a:prstGeom prst="rect">
            <a:avLst/>
          </a:prstGeom>
          <a:noFill/>
          <a:ln/>
        </p:spPr>
        <p:txBody>
          <a:bodyPr wrap="square" lIns="0" tIns="0" rIns="0" bIns="0" rtlCol="0" anchor="t"/>
          <a:lstStyle/>
          <a:p>
            <a:pPr algn="l" indent="0" marL="0">
              <a:buNone/>
            </a:pPr>
            <a:r>
              <a:rPr lang="en-US" sz="1500" dirty="0">
                <a:solidFill>
                  <a:schemeClr val="tx1"/>
                </a:solidFill>
              </a:rPr>
              <a:t>Mark the floor with tape and drive exactly 1.00 m.</a:t>
            </a:r>
            <a:endParaRPr lang="en-US" sz="1500" dirty="0"/>
          </a:p>
        </p:txBody>
      </p:sp>
      <p:sp>
        <p:nvSpPr>
          <p:cNvPr id="11" name="Test 1 · drive straight 1.00 m formula"/>
          <p:cNvSpPr txBox="1"/>
          <p:nvPr/>
        </p:nvSpPr>
        <p:spPr>
          <a:xfrm>
            <a:off x="777240" y="3657600"/>
            <a:ext cx="4983480" cy="457200"/>
          </a:xfrm>
          <a:prstGeom prst="rect">
            <a:avLst/>
          </a:prstGeom>
          <a:noFill/>
          <a:ln/>
        </p:spPr>
        <p:txBody>
          <a:bodyPr wrap="square" lIns="0" tIns="0" rIns="0" bIns="0" rtlCol="0" anchor="t"/>
          <a:lstStyle/>
          <a:p>
            <a:pPr algn="l" indent="0" marL="0">
              <a:buNone/>
            </a:pPr>
            <a:r>
              <a:rPr lang="en-US" sz="1900" i="1" dirty="0">
                <a:solidFill>
                  <a:schemeClr val="accent2"/>
                </a:solidFill>
                <a:latin typeface="Cambria" pitchFamily="34" charset="0"/>
                <a:ea typeface="Cambria" pitchFamily="34" charset="-122"/>
                <a:cs typeface="Cambria" pitchFamily="34" charset="-120"/>
              </a:rPr>
              <a:t>linear_scale = 1.00 ÷ distance</a:t>
            </a:r>
            <a:endParaRPr lang="en-US" sz="1900" dirty="0"/>
          </a:p>
        </p:txBody>
      </p:sp>
      <p:sp>
        <p:nvSpPr>
          <p:cNvPr id="12" name="Test 1 · drive straight 1.00 m example"/>
          <p:cNvSpPr txBox="1"/>
          <p:nvPr/>
        </p:nvSpPr>
        <p:spPr>
          <a:xfrm>
            <a:off x="777240" y="4251960"/>
            <a:ext cx="4983480" cy="548640"/>
          </a:xfrm>
          <a:prstGeom prst="rect">
            <a:avLst/>
          </a:prstGeom>
          <a:noFill/>
          <a:ln/>
        </p:spPr>
        <p:txBody>
          <a:bodyPr wrap="square" lIns="0" tIns="0" rIns="0" bIns="0" rtlCol="0" anchor="t"/>
          <a:lstStyle/>
          <a:p>
            <a:pPr algn="l" indent="0" marL="0">
              <a:buNone/>
            </a:pPr>
            <a:r>
              <a:rPr lang="en-US" sz="1500" b="1" dirty="0">
                <a:solidFill>
                  <a:schemeClr val="tx1"/>
                </a:solidFill>
              </a:rPr>
              <a:t>Example: </a:t>
            </a:r>
            <a:pPr algn="l" indent="0" marL="0">
              <a:buNone/>
            </a:pPr>
            <a:r>
              <a:rPr lang="en-US" sz="1500" dirty="0">
                <a:solidFill>
                  <a:schemeClr val="tx1"/>
                </a:solidFill>
              </a:rPr>
              <a:t>odom says 0.930 m → linear_scale 1.075</a:t>
            </a:r>
            <a:endParaRPr lang="en-US" sz="1500" dirty="0"/>
          </a:p>
        </p:txBody>
      </p:sp>
      <p:sp>
        <p:nvSpPr>
          <p:cNvPr id="13" name="Test 2 · spin 5 full turns card"/>
          <p:cNvSpPr/>
          <p:nvPr/>
        </p:nvSpPr>
        <p:spPr>
          <a:xfrm>
            <a:off x="6199632" y="2194560"/>
            <a:ext cx="5440680" cy="2788920"/>
          </a:xfrm>
          <a:prstGeom prst="roundRect">
            <a:avLst>
              <a:gd name="adj" fmla="val 3279"/>
            </a:avLst>
          </a:prstGeom>
          <a:solidFill>
            <a:schemeClr val="bg2"/>
          </a:solidFill>
          <a:ln w="6350">
            <a:solidFill>
              <a:schemeClr val="bg2"/>
            </a:solidFill>
            <a:prstDash val="solid"/>
          </a:ln>
        </p:spPr>
      </p:sp>
      <p:sp>
        <p:nvSpPr>
          <p:cNvPr id="14" name="Test 2 · spin 5 full turns tile"/>
          <p:cNvSpPr/>
          <p:nvPr/>
        </p:nvSpPr>
        <p:spPr>
          <a:xfrm>
            <a:off x="6428232" y="2423160"/>
            <a:ext cx="594360" cy="594360"/>
          </a:xfrm>
          <a:prstGeom prst="roundRect">
            <a:avLst>
              <a:gd name="adj" fmla="val 20000"/>
            </a:avLst>
          </a:prstGeom>
          <a:solidFill>
            <a:schemeClr val="accent1"/>
          </a:solidFill>
          <a:ln w="6350">
            <a:solidFill>
              <a:schemeClr val="accent1"/>
            </a:solidFill>
            <a:prstDash val="solid"/>
          </a:ln>
        </p:spPr>
      </p:sp>
      <p:pic>
        <p:nvPicPr>
          <p:cNvPr id="15" name="Test 2 · spin 5 full turns icon" descr="preencoded.png">    </p:cNvPr>
          <p:cNvPicPr>
            <a:picLocks noChangeAspect="1"/>
          </p:cNvPicPr>
          <p:nvPr/>
        </p:nvPicPr>
        <p:blipFill>
          <a:blip r:embed="rId2"/>
          <a:stretch>
            <a:fillRect/>
          </a:stretch>
        </p:blipFill>
        <p:spPr>
          <a:xfrm>
            <a:off x="6558991" y="2553919"/>
            <a:ext cx="332842" cy="332842"/>
          </a:xfrm>
          <a:prstGeom prst="rect">
            <a:avLst/>
          </a:prstGeom>
        </p:spPr>
      </p:pic>
      <p:sp>
        <p:nvSpPr>
          <p:cNvPr id="16" name="Test 2 · spin 5 full turns title"/>
          <p:cNvSpPr txBox="1"/>
          <p:nvPr/>
        </p:nvSpPr>
        <p:spPr>
          <a:xfrm>
            <a:off x="7205472" y="2423160"/>
            <a:ext cx="4251960" cy="594360"/>
          </a:xfrm>
          <a:prstGeom prst="rect">
            <a:avLst/>
          </a:prstGeom>
          <a:noFill/>
          <a:ln/>
        </p:spPr>
        <p:txBody>
          <a:bodyPr wrap="square" lIns="0" tIns="0" rIns="0" bIns="0" rtlCol="0" anchor="ctr"/>
          <a:lstStyle/>
          <a:p>
            <a:pPr algn="l" indent="0" marL="0">
              <a:buNone/>
            </a:pPr>
            <a:r>
              <a:rPr lang="en-US" sz="1800" b="1" dirty="0">
                <a:solidFill>
                  <a:schemeClr val="tx1"/>
                </a:solidFill>
              </a:rPr>
              <a:t>Test 2 · spin 5 full turns</a:t>
            </a:r>
            <a:endParaRPr lang="en-US" sz="1800" dirty="0"/>
          </a:p>
        </p:txBody>
      </p:sp>
      <p:sp>
        <p:nvSpPr>
          <p:cNvPr id="17" name="Test 2 · spin 5 full turns text"/>
          <p:cNvSpPr txBox="1"/>
          <p:nvPr/>
        </p:nvSpPr>
        <p:spPr>
          <a:xfrm>
            <a:off x="6428232" y="3154680"/>
            <a:ext cx="4983480" cy="457200"/>
          </a:xfrm>
          <a:prstGeom prst="rect">
            <a:avLst/>
          </a:prstGeom>
          <a:noFill/>
          <a:ln/>
        </p:spPr>
        <p:txBody>
          <a:bodyPr wrap="square" lIns="0" tIns="0" rIns="0" bIns="0" rtlCol="0" anchor="t"/>
          <a:lstStyle/>
          <a:p>
            <a:pPr algn="l" indent="0" marL="0">
              <a:buNone/>
            </a:pPr>
            <a:r>
              <a:rPr lang="en-US" sz="1500" dirty="0">
                <a:solidFill>
                  <a:schemeClr val="tx1"/>
                </a:solidFill>
              </a:rPr>
              <a:t>Restart odom_check, then spin in place exactly 5 turns.</a:t>
            </a:r>
            <a:endParaRPr lang="en-US" sz="1500" dirty="0"/>
          </a:p>
        </p:txBody>
      </p:sp>
      <p:sp>
        <p:nvSpPr>
          <p:cNvPr id="18" name="Test 2 · spin 5 full turns formula"/>
          <p:cNvSpPr txBox="1"/>
          <p:nvPr/>
        </p:nvSpPr>
        <p:spPr>
          <a:xfrm>
            <a:off x="6428232" y="3657600"/>
            <a:ext cx="4983480" cy="457200"/>
          </a:xfrm>
          <a:prstGeom prst="rect">
            <a:avLst/>
          </a:prstGeom>
          <a:noFill/>
          <a:ln/>
        </p:spPr>
        <p:txBody>
          <a:bodyPr wrap="square" lIns="0" tIns="0" rIns="0" bIns="0" rtlCol="0" anchor="t"/>
          <a:lstStyle/>
          <a:p>
            <a:pPr algn="l" indent="0" marL="0">
              <a:buNone/>
            </a:pPr>
            <a:r>
              <a:rPr lang="en-US" sz="1900" i="1" dirty="0">
                <a:solidFill>
                  <a:schemeClr val="accent2"/>
                </a:solidFill>
                <a:latin typeface="Cambria" pitchFamily="34" charset="0"/>
                <a:ea typeface="Cambria" pitchFamily="34" charset="-122"/>
                <a:cs typeface="Cambria" pitchFamily="34" charset="-120"/>
              </a:rPr>
              <a:t>wheel_separation = 0.34 × rotation ÷ 1800</a:t>
            </a:r>
            <a:endParaRPr lang="en-US" sz="1900" dirty="0"/>
          </a:p>
        </p:txBody>
      </p:sp>
      <p:sp>
        <p:nvSpPr>
          <p:cNvPr id="19" name="Test 2 · spin 5 full turns example"/>
          <p:cNvSpPr txBox="1"/>
          <p:nvPr/>
        </p:nvSpPr>
        <p:spPr>
          <a:xfrm>
            <a:off x="6428232" y="4251960"/>
            <a:ext cx="4983480" cy="548640"/>
          </a:xfrm>
          <a:prstGeom prst="rect">
            <a:avLst/>
          </a:prstGeom>
          <a:noFill/>
          <a:ln/>
        </p:spPr>
        <p:txBody>
          <a:bodyPr wrap="square" lIns="0" tIns="0" rIns="0" bIns="0" rtlCol="0" anchor="t"/>
          <a:lstStyle/>
          <a:p>
            <a:pPr algn="l" indent="0" marL="0">
              <a:buNone/>
            </a:pPr>
            <a:r>
              <a:rPr lang="en-US" sz="1500" b="1" dirty="0">
                <a:solidFill>
                  <a:schemeClr val="tx1"/>
                </a:solidFill>
              </a:rPr>
              <a:t>Example: </a:t>
            </a:r>
            <a:pPr algn="l" indent="0" marL="0">
              <a:buNone/>
            </a:pPr>
            <a:r>
              <a:rPr lang="en-US" sz="1500" dirty="0">
                <a:solidFill>
                  <a:schemeClr val="tx1"/>
                </a:solidFill>
              </a:rPr>
              <a:t>odom says 1910° → wheel_separation 0.361 m</a:t>
            </a:r>
            <a:endParaRPr lang="en-US" sz="1500" dirty="0"/>
          </a:p>
        </p:txBody>
      </p:sp>
      <p:sp>
        <p:nvSpPr>
          <p:cNvPr id="20" name="Calibration note card"/>
          <p:cNvSpPr/>
          <p:nvPr/>
        </p:nvSpPr>
        <p:spPr>
          <a:xfrm>
            <a:off x="548640" y="5212080"/>
            <a:ext cx="11091672" cy="868680"/>
          </a:xfrm>
          <a:prstGeom prst="roundRect">
            <a:avLst>
              <a:gd name="adj" fmla="val 10526"/>
            </a:avLst>
          </a:prstGeom>
          <a:solidFill>
            <a:schemeClr val="accent2">
              <a:alpha val="12000"/>
            </a:schemeClr>
          </a:solidFill>
          <a:ln w="6350">
            <a:solidFill>
              <a:schemeClr val="accent2">
                <a:alpha val="12000"/>
              </a:schemeClr>
            </a:solidFill>
            <a:prstDash val="solid"/>
          </a:ln>
        </p:spPr>
      </p:sp>
      <p:sp>
        <p:nvSpPr>
          <p:cNvPr id="21" name="Calibration note"/>
          <p:cNvSpPr txBox="1"/>
          <p:nvPr/>
        </p:nvSpPr>
        <p:spPr>
          <a:xfrm>
            <a:off x="777240" y="5257800"/>
            <a:ext cx="10698480" cy="777240"/>
          </a:xfrm>
          <a:prstGeom prst="rect">
            <a:avLst/>
          </a:prstGeom>
          <a:noFill/>
          <a:ln/>
        </p:spPr>
        <p:txBody>
          <a:bodyPr wrap="square" lIns="0" tIns="0" rIns="0" bIns="0" rtlCol="0" anchor="ctr"/>
          <a:lstStyle/>
          <a:p>
            <a:pPr algn="l" indent="0" marL="0">
              <a:buNone/>
            </a:pPr>
            <a:r>
              <a:rPr lang="en-US" sz="1500" b="1" dirty="0">
                <a:solidFill>
                  <a:schemeClr val="tx1"/>
                </a:solidFill>
              </a:rPr>
              <a:t>Then: </a:t>
            </a:r>
            <a:pPr algn="l" indent="0" marL="0">
              <a:buNone/>
            </a:pPr>
            <a:r>
              <a:rPr lang="en-US" sz="1500" dirty="0">
                <a:solidFill>
                  <a:schemeClr val="tx1"/>
                </a:solidFill>
              </a:rPr>
              <a:t>write both values into bcr_bot/launch/robot_bringup.launch.py (esp32 parameters), restart, and repeat until the error is under 2 %. Do Test 1 first — linear_scale also affects rotation.</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Step 4: build a map of your room with slam_toolbox</a:t>
            </a:r>
            <a:endParaRPr lang="en-US" sz="2800" dirty="0"/>
          </a:p>
        </p:txBody>
      </p:sp>
      <p:sp>
        <p:nvSpPr>
          <p:cNvPr id="4" name="Mapping commands background"/>
          <p:cNvSpPr/>
          <p:nvPr/>
        </p:nvSpPr>
        <p:spPr>
          <a:xfrm>
            <a:off x="548640" y="1417320"/>
            <a:ext cx="6355080" cy="3291840"/>
          </a:xfrm>
          <a:prstGeom prst="roundRect">
            <a:avLst>
              <a:gd name="adj" fmla="val 2222"/>
            </a:avLst>
          </a:prstGeom>
          <a:solidFill>
            <a:schemeClr val="tx1"/>
          </a:solidFill>
          <a:ln w="6350">
            <a:solidFill>
              <a:schemeClr val="tx1"/>
            </a:solidFill>
            <a:prstDash val="solid"/>
          </a:ln>
        </p:spPr>
      </p:sp>
      <p:sp>
        <p:nvSpPr>
          <p:cNvPr id="5" name="Mapping commands text"/>
          <p:cNvSpPr txBox="1"/>
          <p:nvPr/>
        </p:nvSpPr>
        <p:spPr>
          <a:xfrm>
            <a:off x="749808" y="1563624"/>
            <a:ext cx="5952744" cy="2999232"/>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terminal 1: robot</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ros2 launch bcr_bot robot_bringup.launch.py</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terminal 2: SLAM + RViz</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ros2 launch bcr_bot mapping.launch.py</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terminal 3: drive slowly around the room</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ros2 run teleop_twist_keyboard teleop_twist_keyboard</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when the map is complete</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mkdir -p ~/maps</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ros2 run nav2_map_server map_saver_cli -f ~/maps/my_map</a:t>
            </a:r>
            <a:endParaRPr lang="en-US" sz="1300" dirty="0"/>
          </a:p>
        </p:txBody>
      </p:sp>
      <p:sp>
        <p:nvSpPr>
          <p:cNvPr id="6" name="Map result card"/>
          <p:cNvSpPr/>
          <p:nvPr/>
        </p:nvSpPr>
        <p:spPr>
          <a:xfrm>
            <a:off x="548640" y="4892040"/>
            <a:ext cx="6355080" cy="1188720"/>
          </a:xfrm>
          <a:prstGeom prst="roundRect">
            <a:avLst>
              <a:gd name="adj" fmla="val 7692"/>
            </a:avLst>
          </a:prstGeom>
          <a:solidFill>
            <a:schemeClr val="bg2"/>
          </a:solidFill>
          <a:ln w="6350">
            <a:solidFill>
              <a:schemeClr val="bg2"/>
            </a:solidFill>
            <a:prstDash val="solid"/>
          </a:ln>
        </p:spPr>
      </p:sp>
      <p:sp>
        <p:nvSpPr>
          <p:cNvPr id="7" name="Map result tile"/>
          <p:cNvSpPr/>
          <p:nvPr/>
        </p:nvSpPr>
        <p:spPr>
          <a:xfrm>
            <a:off x="777240" y="5120640"/>
            <a:ext cx="731520" cy="731520"/>
          </a:xfrm>
          <a:prstGeom prst="roundRect">
            <a:avLst>
              <a:gd name="adj" fmla="val 20000"/>
            </a:avLst>
          </a:prstGeom>
          <a:solidFill>
            <a:schemeClr val="accent3"/>
          </a:solidFill>
          <a:ln w="6350">
            <a:solidFill>
              <a:schemeClr val="accent3"/>
            </a:solidFill>
            <a:prstDash val="solid"/>
          </a:ln>
        </p:spPr>
      </p:sp>
      <p:pic>
        <p:nvPicPr>
          <p:cNvPr id="8" name="Map result icon" descr="preencoded.png">    </p:cNvPr>
          <p:cNvPicPr>
            <a:picLocks noChangeAspect="1"/>
          </p:cNvPicPr>
          <p:nvPr/>
        </p:nvPicPr>
        <p:blipFill>
          <a:blip r:embed="rId1"/>
          <a:stretch>
            <a:fillRect/>
          </a:stretch>
        </p:blipFill>
        <p:spPr>
          <a:xfrm>
            <a:off x="938174" y="5281574"/>
            <a:ext cx="409651" cy="409651"/>
          </a:xfrm>
          <a:prstGeom prst="rect">
            <a:avLst/>
          </a:prstGeom>
        </p:spPr>
      </p:pic>
      <p:sp>
        <p:nvSpPr>
          <p:cNvPr id="9" name="Map result text"/>
          <p:cNvSpPr txBox="1"/>
          <p:nvPr/>
        </p:nvSpPr>
        <p:spPr>
          <a:xfrm>
            <a:off x="1691640" y="4937760"/>
            <a:ext cx="5074920" cy="1097280"/>
          </a:xfrm>
          <a:prstGeom prst="rect">
            <a:avLst/>
          </a:prstGeom>
          <a:noFill/>
          <a:ln/>
        </p:spPr>
        <p:txBody>
          <a:bodyPr wrap="square" lIns="0" tIns="0" rIns="0" bIns="0" rtlCol="0" anchor="ctr"/>
          <a:lstStyle/>
          <a:p>
            <a:pPr algn="l" indent="0" marL="0">
              <a:buNone/>
            </a:pPr>
            <a:r>
              <a:rPr lang="en-US" sz="1500" b="1" dirty="0">
                <a:solidFill>
                  <a:schemeClr val="tx1"/>
                </a:solidFill>
              </a:rPr>
              <a:t>Result: </a:t>
            </a:r>
            <a:pPr algn="l" indent="0" marL="0">
              <a:buNone/>
            </a:pPr>
            <a:r>
              <a:rPr lang="en-US" sz="1500" dirty="0">
                <a:solidFill>
                  <a:schemeClr val="tx1"/>
                </a:solidFill>
              </a:rPr>
              <a:t>my_map.pgm (picture) + my_map.yaml (resolution, origin). New map → save the table places again.</a:t>
            </a:r>
            <a:endParaRPr lang="en-US" sz="1500" dirty="0"/>
          </a:p>
        </p:txBody>
      </p:sp>
      <p:sp>
        <p:nvSpPr>
          <p:cNvPr id="10" name="Tip Drive slowly"/>
          <p:cNvSpPr/>
          <p:nvPr/>
        </p:nvSpPr>
        <p:spPr>
          <a:xfrm>
            <a:off x="7132320" y="1417320"/>
            <a:ext cx="4507992" cy="1051560"/>
          </a:xfrm>
          <a:prstGeom prst="roundRect">
            <a:avLst>
              <a:gd name="adj" fmla="val 8696"/>
            </a:avLst>
          </a:prstGeom>
          <a:solidFill>
            <a:schemeClr val="bg2"/>
          </a:solidFill>
          <a:ln w="6350">
            <a:solidFill>
              <a:schemeClr val="bg2"/>
            </a:solidFill>
            <a:prstDash val="solid"/>
          </a:ln>
        </p:spPr>
      </p:sp>
      <p:sp>
        <p:nvSpPr>
          <p:cNvPr id="11" name="Tip Drive slowly tile"/>
          <p:cNvSpPr/>
          <p:nvPr/>
        </p:nvSpPr>
        <p:spPr>
          <a:xfrm>
            <a:off x="7315200" y="1645920"/>
            <a:ext cx="594360" cy="594360"/>
          </a:xfrm>
          <a:prstGeom prst="roundRect">
            <a:avLst>
              <a:gd name="adj" fmla="val 20000"/>
            </a:avLst>
          </a:prstGeom>
          <a:solidFill>
            <a:schemeClr val="accent2"/>
          </a:solidFill>
          <a:ln w="6350">
            <a:solidFill>
              <a:schemeClr val="accent2"/>
            </a:solidFill>
            <a:prstDash val="solid"/>
          </a:ln>
        </p:spPr>
      </p:sp>
      <p:pic>
        <p:nvPicPr>
          <p:cNvPr id="12" name="Tip Drive slowly icon" descr="preencoded.png">    </p:cNvPr>
          <p:cNvPicPr>
            <a:picLocks noChangeAspect="1"/>
          </p:cNvPicPr>
          <p:nvPr/>
        </p:nvPicPr>
        <p:blipFill>
          <a:blip r:embed="rId2"/>
          <a:stretch>
            <a:fillRect/>
          </a:stretch>
        </p:blipFill>
        <p:spPr>
          <a:xfrm>
            <a:off x="7445959" y="1776679"/>
            <a:ext cx="332842" cy="332842"/>
          </a:xfrm>
          <a:prstGeom prst="rect">
            <a:avLst/>
          </a:prstGeom>
        </p:spPr>
      </p:pic>
      <p:sp>
        <p:nvSpPr>
          <p:cNvPr id="13" name="Tip text Drive slowly"/>
          <p:cNvSpPr txBox="1"/>
          <p:nvPr/>
        </p:nvSpPr>
        <p:spPr>
          <a:xfrm>
            <a:off x="8092440" y="1490472"/>
            <a:ext cx="3429000" cy="914400"/>
          </a:xfrm>
          <a:prstGeom prst="rect">
            <a:avLst/>
          </a:prstGeom>
          <a:noFill/>
          <a:ln/>
        </p:spPr>
        <p:txBody>
          <a:bodyPr wrap="square" lIns="0" tIns="0" rIns="0" bIns="0" rtlCol="0" anchor="ctr"/>
          <a:lstStyle/>
          <a:p>
            <a:pPr algn="l" indent="0" marL="0">
              <a:buNone/>
            </a:pPr>
            <a:r>
              <a:rPr lang="en-US" sz="1500" b="1" dirty="0">
                <a:solidFill>
                  <a:schemeClr val="tx1"/>
                </a:solidFill>
              </a:rPr>
              <a:t>Drive slowly</a:t>
            </a:r>
            <a:endParaRPr lang="en-US" sz="1500" dirty="0"/>
          </a:p>
          <a:p>
            <a:pPr algn="l" indent="0" marL="0">
              <a:buNone/>
            </a:pPr>
            <a:r>
              <a:rPr lang="en-US" sz="1500" dirty="0">
                <a:solidFill>
                  <a:schemeClr val="tx2"/>
                </a:solidFill>
              </a:rPr>
              <a:t>about 0.1–0.2 m/s and turn slowly</a:t>
            </a:r>
            <a:endParaRPr lang="en-US" sz="1500" dirty="0"/>
          </a:p>
        </p:txBody>
      </p:sp>
      <p:sp>
        <p:nvSpPr>
          <p:cNvPr id="14" name="Tip Close the loop"/>
          <p:cNvSpPr/>
          <p:nvPr/>
        </p:nvSpPr>
        <p:spPr>
          <a:xfrm>
            <a:off x="7132320" y="2606040"/>
            <a:ext cx="4507992" cy="1051560"/>
          </a:xfrm>
          <a:prstGeom prst="roundRect">
            <a:avLst>
              <a:gd name="adj" fmla="val 8696"/>
            </a:avLst>
          </a:prstGeom>
          <a:solidFill>
            <a:schemeClr val="bg2"/>
          </a:solidFill>
          <a:ln w="6350">
            <a:solidFill>
              <a:schemeClr val="bg2"/>
            </a:solidFill>
            <a:prstDash val="solid"/>
          </a:ln>
        </p:spPr>
      </p:sp>
      <p:sp>
        <p:nvSpPr>
          <p:cNvPr id="15" name="Tip Close the loop tile"/>
          <p:cNvSpPr/>
          <p:nvPr/>
        </p:nvSpPr>
        <p:spPr>
          <a:xfrm>
            <a:off x="7315200" y="2834640"/>
            <a:ext cx="594360" cy="594360"/>
          </a:xfrm>
          <a:prstGeom prst="roundRect">
            <a:avLst>
              <a:gd name="adj" fmla="val 20000"/>
            </a:avLst>
          </a:prstGeom>
          <a:solidFill>
            <a:schemeClr val="accent2"/>
          </a:solidFill>
          <a:ln w="6350">
            <a:solidFill>
              <a:schemeClr val="accent2"/>
            </a:solidFill>
            <a:prstDash val="solid"/>
          </a:ln>
        </p:spPr>
      </p:sp>
      <p:pic>
        <p:nvPicPr>
          <p:cNvPr id="16" name="Tip Close the loop icon" descr="preencoded.png">    </p:cNvPr>
          <p:cNvPicPr>
            <a:picLocks noChangeAspect="1"/>
          </p:cNvPicPr>
          <p:nvPr/>
        </p:nvPicPr>
        <p:blipFill>
          <a:blip r:embed="rId3"/>
          <a:stretch>
            <a:fillRect/>
          </a:stretch>
        </p:blipFill>
        <p:spPr>
          <a:xfrm>
            <a:off x="7445959" y="2965399"/>
            <a:ext cx="332842" cy="332842"/>
          </a:xfrm>
          <a:prstGeom prst="rect">
            <a:avLst/>
          </a:prstGeom>
        </p:spPr>
      </p:pic>
      <p:sp>
        <p:nvSpPr>
          <p:cNvPr id="17" name="Tip text Close the loop"/>
          <p:cNvSpPr txBox="1"/>
          <p:nvPr/>
        </p:nvSpPr>
        <p:spPr>
          <a:xfrm>
            <a:off x="8092440" y="2679192"/>
            <a:ext cx="3429000" cy="914400"/>
          </a:xfrm>
          <a:prstGeom prst="rect">
            <a:avLst/>
          </a:prstGeom>
          <a:noFill/>
          <a:ln/>
        </p:spPr>
        <p:txBody>
          <a:bodyPr wrap="square" lIns="0" tIns="0" rIns="0" bIns="0" rtlCol="0" anchor="ctr"/>
          <a:lstStyle/>
          <a:p>
            <a:pPr algn="l" indent="0" marL="0">
              <a:buNone/>
            </a:pPr>
            <a:r>
              <a:rPr lang="en-US" sz="1500" b="1" dirty="0">
                <a:solidFill>
                  <a:schemeClr val="tx1"/>
                </a:solidFill>
              </a:rPr>
              <a:t>Close the loop</a:t>
            </a:r>
            <a:endParaRPr lang="en-US" sz="1500" dirty="0"/>
          </a:p>
          <a:p>
            <a:pPr algn="l" indent="0" marL="0">
              <a:buNone/>
            </a:pPr>
            <a:r>
              <a:rPr lang="en-US" sz="1500" dirty="0">
                <a:solidFill>
                  <a:schemeClr val="tx2"/>
                </a:solidFill>
              </a:rPr>
              <a:t>finish where you started</a:t>
            </a:r>
            <a:endParaRPr lang="en-US" sz="1500" dirty="0"/>
          </a:p>
        </p:txBody>
      </p:sp>
      <p:sp>
        <p:nvSpPr>
          <p:cNvPr id="18" name="Tip Visit every table"/>
          <p:cNvSpPr/>
          <p:nvPr/>
        </p:nvSpPr>
        <p:spPr>
          <a:xfrm>
            <a:off x="7132320" y="3794760"/>
            <a:ext cx="4507992" cy="1051560"/>
          </a:xfrm>
          <a:prstGeom prst="roundRect">
            <a:avLst>
              <a:gd name="adj" fmla="val 8696"/>
            </a:avLst>
          </a:prstGeom>
          <a:solidFill>
            <a:schemeClr val="bg2"/>
          </a:solidFill>
          <a:ln w="6350">
            <a:solidFill>
              <a:schemeClr val="bg2"/>
            </a:solidFill>
            <a:prstDash val="solid"/>
          </a:ln>
        </p:spPr>
      </p:sp>
      <p:sp>
        <p:nvSpPr>
          <p:cNvPr id="19" name="Tip Visit every table tile"/>
          <p:cNvSpPr/>
          <p:nvPr/>
        </p:nvSpPr>
        <p:spPr>
          <a:xfrm>
            <a:off x="7315200" y="4023360"/>
            <a:ext cx="594360" cy="594360"/>
          </a:xfrm>
          <a:prstGeom prst="roundRect">
            <a:avLst>
              <a:gd name="adj" fmla="val 20000"/>
            </a:avLst>
          </a:prstGeom>
          <a:solidFill>
            <a:schemeClr val="accent2"/>
          </a:solidFill>
          <a:ln w="6350">
            <a:solidFill>
              <a:schemeClr val="accent2"/>
            </a:solidFill>
            <a:prstDash val="solid"/>
          </a:ln>
        </p:spPr>
      </p:sp>
      <p:pic>
        <p:nvPicPr>
          <p:cNvPr id="20" name="Tip Visit every table icon" descr="preencoded.png">    </p:cNvPr>
          <p:cNvPicPr>
            <a:picLocks noChangeAspect="1"/>
          </p:cNvPicPr>
          <p:nvPr/>
        </p:nvPicPr>
        <p:blipFill>
          <a:blip r:embed="rId4"/>
          <a:stretch>
            <a:fillRect/>
          </a:stretch>
        </p:blipFill>
        <p:spPr>
          <a:xfrm>
            <a:off x="7445959" y="4154119"/>
            <a:ext cx="332842" cy="332842"/>
          </a:xfrm>
          <a:prstGeom prst="rect">
            <a:avLst/>
          </a:prstGeom>
        </p:spPr>
      </p:pic>
      <p:sp>
        <p:nvSpPr>
          <p:cNvPr id="21" name="Tip text Visit every table"/>
          <p:cNvSpPr txBox="1"/>
          <p:nvPr/>
        </p:nvSpPr>
        <p:spPr>
          <a:xfrm>
            <a:off x="8092440" y="3867912"/>
            <a:ext cx="3429000" cy="914400"/>
          </a:xfrm>
          <a:prstGeom prst="rect">
            <a:avLst/>
          </a:prstGeom>
          <a:noFill/>
          <a:ln/>
        </p:spPr>
        <p:txBody>
          <a:bodyPr wrap="square" lIns="0" tIns="0" rIns="0" bIns="0" rtlCol="0" anchor="ctr"/>
          <a:lstStyle/>
          <a:p>
            <a:pPr algn="l" indent="0" marL="0">
              <a:buNone/>
            </a:pPr>
            <a:r>
              <a:rPr lang="en-US" sz="1500" b="1" dirty="0">
                <a:solidFill>
                  <a:schemeClr val="tx1"/>
                </a:solidFill>
              </a:rPr>
              <a:t>Visit every table</a:t>
            </a:r>
            <a:endParaRPr lang="en-US" sz="1500" dirty="0"/>
          </a:p>
          <a:p>
            <a:pPr algn="l" indent="0" marL="0">
              <a:buNone/>
            </a:pPr>
            <a:r>
              <a:rPr lang="en-US" sz="1500" dirty="0">
                <a:solidFill>
                  <a:schemeClr val="tx2"/>
                </a:solidFill>
              </a:rPr>
              <a:t>so each one is on the map</a:t>
            </a:r>
            <a:endParaRPr lang="en-US" sz="1500" dirty="0"/>
          </a:p>
        </p:txBody>
      </p:sp>
      <p:sp>
        <p:nvSpPr>
          <p:cNvPr id="22" name="Tip Check before saving"/>
          <p:cNvSpPr/>
          <p:nvPr/>
        </p:nvSpPr>
        <p:spPr>
          <a:xfrm>
            <a:off x="7132320" y="4983480"/>
            <a:ext cx="4507992" cy="1051560"/>
          </a:xfrm>
          <a:prstGeom prst="roundRect">
            <a:avLst>
              <a:gd name="adj" fmla="val 8696"/>
            </a:avLst>
          </a:prstGeom>
          <a:solidFill>
            <a:schemeClr val="bg2"/>
          </a:solidFill>
          <a:ln w="6350">
            <a:solidFill>
              <a:schemeClr val="bg2"/>
            </a:solidFill>
            <a:prstDash val="solid"/>
          </a:ln>
        </p:spPr>
      </p:sp>
      <p:sp>
        <p:nvSpPr>
          <p:cNvPr id="23" name="Tip Check before saving tile"/>
          <p:cNvSpPr/>
          <p:nvPr/>
        </p:nvSpPr>
        <p:spPr>
          <a:xfrm>
            <a:off x="7315200" y="5212080"/>
            <a:ext cx="594360" cy="594360"/>
          </a:xfrm>
          <a:prstGeom prst="roundRect">
            <a:avLst>
              <a:gd name="adj" fmla="val 20000"/>
            </a:avLst>
          </a:prstGeom>
          <a:solidFill>
            <a:schemeClr val="accent2"/>
          </a:solidFill>
          <a:ln w="6350">
            <a:solidFill>
              <a:schemeClr val="accent2"/>
            </a:solidFill>
            <a:prstDash val="solid"/>
          </a:ln>
        </p:spPr>
      </p:sp>
      <p:pic>
        <p:nvPicPr>
          <p:cNvPr id="24" name="Tip Check before saving icon" descr="preencoded.png">    </p:cNvPr>
          <p:cNvPicPr>
            <a:picLocks noChangeAspect="1"/>
          </p:cNvPicPr>
          <p:nvPr/>
        </p:nvPicPr>
        <p:blipFill>
          <a:blip r:embed="rId5"/>
          <a:stretch>
            <a:fillRect/>
          </a:stretch>
        </p:blipFill>
        <p:spPr>
          <a:xfrm>
            <a:off x="7445959" y="5342839"/>
            <a:ext cx="332842" cy="332842"/>
          </a:xfrm>
          <a:prstGeom prst="rect">
            <a:avLst/>
          </a:prstGeom>
        </p:spPr>
      </p:pic>
      <p:sp>
        <p:nvSpPr>
          <p:cNvPr id="25" name="Tip text Check before saving"/>
          <p:cNvSpPr txBox="1"/>
          <p:nvPr/>
        </p:nvSpPr>
        <p:spPr>
          <a:xfrm>
            <a:off x="8092440" y="5056632"/>
            <a:ext cx="3429000" cy="914400"/>
          </a:xfrm>
          <a:prstGeom prst="rect">
            <a:avLst/>
          </a:prstGeom>
          <a:noFill/>
          <a:ln/>
        </p:spPr>
        <p:txBody>
          <a:bodyPr wrap="square" lIns="0" tIns="0" rIns="0" bIns="0" rtlCol="0" anchor="ctr"/>
          <a:lstStyle/>
          <a:p>
            <a:pPr algn="l" indent="0" marL="0">
              <a:buNone/>
            </a:pPr>
            <a:r>
              <a:rPr lang="en-US" sz="1500" b="1" dirty="0">
                <a:solidFill>
                  <a:schemeClr val="tx1"/>
                </a:solidFill>
              </a:rPr>
              <a:t>Check before saving</a:t>
            </a:r>
            <a:endParaRPr lang="en-US" sz="1500" dirty="0"/>
          </a:p>
          <a:p>
            <a:pPr algn="l" indent="0" marL="0">
              <a:buNone/>
            </a:pPr>
            <a:r>
              <a:rPr lang="en-US" sz="1500" dirty="0">
                <a:solidFill>
                  <a:schemeClr val="tx2"/>
                </a:solidFill>
              </a:rPr>
              <a:t>straight, single walls in RViz</a:t>
            </a:r>
            <a:endParaRPr lang="en-US" sz="15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Step 5: navigate on your map</a:t>
            </a:r>
            <a:endParaRPr lang="en-US" sz="2800" dirty="0"/>
          </a:p>
        </p:txBody>
      </p:sp>
      <p:sp>
        <p:nvSpPr>
          <p:cNvPr id="4" name="Navigation commands background"/>
          <p:cNvSpPr/>
          <p:nvPr/>
        </p:nvSpPr>
        <p:spPr>
          <a:xfrm>
            <a:off x="548640" y="1417320"/>
            <a:ext cx="6355080" cy="2331720"/>
          </a:xfrm>
          <a:prstGeom prst="roundRect">
            <a:avLst>
              <a:gd name="adj" fmla="val 3137"/>
            </a:avLst>
          </a:prstGeom>
          <a:solidFill>
            <a:schemeClr val="tx1"/>
          </a:solidFill>
          <a:ln w="6350">
            <a:solidFill>
              <a:schemeClr val="tx1"/>
            </a:solidFill>
            <a:prstDash val="solid"/>
          </a:ln>
        </p:spPr>
      </p:sp>
      <p:sp>
        <p:nvSpPr>
          <p:cNvPr id="5" name="Navigation commands text"/>
          <p:cNvSpPr txBox="1"/>
          <p:nvPr/>
        </p:nvSpPr>
        <p:spPr>
          <a:xfrm>
            <a:off x="749808" y="1563624"/>
            <a:ext cx="5952744" cy="203911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terminal 1: robot</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launch bcr_bot robot_bringup.launch.py</a:t>
            </a:r>
            <a:endParaRPr lang="en-US" sz="1400" dirty="0"/>
          </a:p>
          <a:p>
            <a:pPr indent="0" marL="0">
              <a:buNone/>
            </a:pPr>
            <a:r>
              <a:rPr lang="en-US" sz="1400" b="1" dirty="0">
                <a:solidFill>
                  <a:schemeClr val="accent1"/>
                </a:solidFill>
                <a:latin typeface="Courier New" pitchFamily="34" charset="0"/>
                <a:ea typeface="Courier New" pitchFamily="34" charset="-122"/>
                <a:cs typeface="Courier New" pitchFamily="34" charset="-120"/>
              </a:rPr>
              <a:t># terminal 2: Nav2 with YOUR map</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ros2 launch bcr_bot nav2.launch.py \</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map:=$HOME/maps/my_map.yaml</a:t>
            </a:r>
            <a:endParaRPr lang="en-US" sz="1400" dirty="0"/>
          </a:p>
          <a:p>
            <a:pPr indent="0" marL="0">
              <a:buNone/>
            </a:pPr>
            <a:r>
              <a:rPr lang="en-US" sz="1400" b="1" dirty="0">
                <a:solidFill>
                  <a:schemeClr val="accent1"/>
                </a:solidFill>
                <a:latin typeface="Courier New" pitchFamily="34" charset="0"/>
                <a:ea typeface="Courier New" pitchFamily="34" charset="-122"/>
                <a:cs typeface="Courier New" pitchFamily="34" charset="-120"/>
              </a:rPr>
              <a:t># headless robot: add use_rviz:=False</a:t>
            </a:r>
            <a:endParaRPr lang="en-US" sz="1400" dirty="0"/>
          </a:p>
        </p:txBody>
      </p:sp>
      <p:sp>
        <p:nvSpPr>
          <p:cNvPr id="6" name="RViz step 1"/>
          <p:cNvSpPr/>
          <p:nvPr/>
        </p:nvSpPr>
        <p:spPr>
          <a:xfrm>
            <a:off x="7132320" y="1527048"/>
            <a:ext cx="457200" cy="45720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RViz step text 1"/>
          <p:cNvSpPr txBox="1"/>
          <p:nvPr/>
        </p:nvSpPr>
        <p:spPr>
          <a:xfrm>
            <a:off x="7726680" y="1417320"/>
            <a:ext cx="3913632" cy="731520"/>
          </a:xfrm>
          <a:prstGeom prst="rect">
            <a:avLst/>
          </a:prstGeom>
          <a:noFill/>
          <a:ln/>
        </p:spPr>
        <p:txBody>
          <a:bodyPr wrap="square" lIns="0" tIns="0" rIns="0" bIns="0" rtlCol="0" anchor="ctr"/>
          <a:lstStyle/>
          <a:p>
            <a:pPr algn="l" indent="0" marL="0">
              <a:buNone/>
            </a:pPr>
            <a:r>
              <a:rPr lang="en-US" sz="1500" b="1" dirty="0">
                <a:solidFill>
                  <a:schemeClr val="tx1"/>
                </a:solidFill>
              </a:rPr>
              <a:t>2D Pose Estimate</a:t>
            </a:r>
            <a:endParaRPr lang="en-US" sz="1500" dirty="0"/>
          </a:p>
          <a:p>
            <a:pPr algn="l" indent="0" marL="0">
              <a:buNone/>
            </a:pPr>
            <a:r>
              <a:rPr lang="en-US" sz="1500" dirty="0">
                <a:solidFill>
                  <a:schemeClr val="tx2"/>
                </a:solidFill>
              </a:rPr>
              <a:t>click where the robot is, drag the way it faces</a:t>
            </a:r>
            <a:endParaRPr lang="en-US" sz="1500" dirty="0"/>
          </a:p>
        </p:txBody>
      </p:sp>
      <p:sp>
        <p:nvSpPr>
          <p:cNvPr id="8" name="RViz step 2"/>
          <p:cNvSpPr/>
          <p:nvPr/>
        </p:nvSpPr>
        <p:spPr>
          <a:xfrm>
            <a:off x="7132320" y="2322576"/>
            <a:ext cx="457200" cy="45720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RViz step text 2"/>
          <p:cNvSpPr txBox="1"/>
          <p:nvPr/>
        </p:nvSpPr>
        <p:spPr>
          <a:xfrm>
            <a:off x="7726680" y="2212848"/>
            <a:ext cx="3913632" cy="731520"/>
          </a:xfrm>
          <a:prstGeom prst="rect">
            <a:avLst/>
          </a:prstGeom>
          <a:noFill/>
          <a:ln/>
        </p:spPr>
        <p:txBody>
          <a:bodyPr wrap="square" lIns="0" tIns="0" rIns="0" bIns="0" rtlCol="0" anchor="ctr"/>
          <a:lstStyle/>
          <a:p>
            <a:pPr algn="l" indent="0" marL="0">
              <a:buNone/>
            </a:pPr>
            <a:r>
              <a:rPr lang="en-US" sz="1500" b="1" dirty="0">
                <a:solidFill>
                  <a:schemeClr val="tx1"/>
                </a:solidFill>
              </a:rPr>
              <a:t>Check</a:t>
            </a:r>
            <a:endParaRPr lang="en-US" sz="1500" dirty="0"/>
          </a:p>
          <a:p>
            <a:pPr algn="l" indent="0" marL="0">
              <a:buNone/>
            </a:pPr>
            <a:r>
              <a:rPr lang="en-US" sz="1500" dirty="0">
                <a:solidFill>
                  <a:schemeClr val="tx2"/>
                </a:solidFill>
              </a:rPr>
              <a:t>laser scan lines up with the map walls</a:t>
            </a:r>
            <a:endParaRPr lang="en-US" sz="1500" dirty="0"/>
          </a:p>
        </p:txBody>
      </p:sp>
      <p:sp>
        <p:nvSpPr>
          <p:cNvPr id="10" name="RViz step 3"/>
          <p:cNvSpPr/>
          <p:nvPr/>
        </p:nvSpPr>
        <p:spPr>
          <a:xfrm>
            <a:off x="7132320" y="3118104"/>
            <a:ext cx="457200" cy="45720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RViz step text 3"/>
          <p:cNvSpPr txBox="1"/>
          <p:nvPr/>
        </p:nvSpPr>
        <p:spPr>
          <a:xfrm>
            <a:off x="7726680" y="3008376"/>
            <a:ext cx="3913632" cy="731520"/>
          </a:xfrm>
          <a:prstGeom prst="rect">
            <a:avLst/>
          </a:prstGeom>
          <a:noFill/>
          <a:ln/>
        </p:spPr>
        <p:txBody>
          <a:bodyPr wrap="square" lIns="0" tIns="0" rIns="0" bIns="0" rtlCol="0" anchor="ctr"/>
          <a:lstStyle/>
          <a:p>
            <a:pPr algn="l" indent="0" marL="0">
              <a:buNone/>
            </a:pPr>
            <a:r>
              <a:rPr lang="en-US" sz="1500" b="1" dirty="0">
                <a:solidFill>
                  <a:schemeClr val="tx1"/>
                </a:solidFill>
              </a:rPr>
              <a:t>Nav2 Goal</a:t>
            </a:r>
            <a:endParaRPr lang="en-US" sz="1500" dirty="0"/>
          </a:p>
          <a:p>
            <a:pPr algn="l" indent="0" marL="0">
              <a:buNone/>
            </a:pPr>
            <a:r>
              <a:rPr lang="en-US" sz="1500" dirty="0">
                <a:solidFill>
                  <a:schemeClr val="tx2"/>
                </a:solidFill>
              </a:rPr>
              <a:t>click a destination — the robot plans and drives</a:t>
            </a:r>
            <a:endParaRPr lang="en-US" sz="1500" dirty="0"/>
          </a:p>
        </p:txBody>
      </p:sp>
      <p:sp>
        <p:nvSpPr>
          <p:cNvPr id="12" name="Chain title"/>
          <p:cNvSpPr txBox="1"/>
          <p:nvPr/>
        </p:nvSpPr>
        <p:spPr>
          <a:xfrm>
            <a:off x="548640" y="4023360"/>
            <a:ext cx="11091672" cy="365760"/>
          </a:xfrm>
          <a:prstGeom prst="rect">
            <a:avLst/>
          </a:prstGeom>
          <a:noFill/>
          <a:ln/>
        </p:spPr>
        <p:txBody>
          <a:bodyPr wrap="square" lIns="0" tIns="0" rIns="0" bIns="0" rtlCol="0" anchor="t"/>
          <a:lstStyle/>
          <a:p>
            <a:pPr algn="l" indent="0" marL="0">
              <a:buNone/>
            </a:pPr>
            <a:r>
              <a:rPr lang="en-US" sz="1600" b="1" dirty="0">
                <a:solidFill>
                  <a:schemeClr val="tx1"/>
                </a:solidFill>
              </a:rPr>
              <a:t>What happens after you click a goal</a:t>
            </a:r>
            <a:endParaRPr lang="en-US" sz="1600" dirty="0"/>
          </a:p>
        </p:txBody>
      </p:sp>
      <p:sp>
        <p:nvSpPr>
          <p:cNvPr id="13" name="Chain Goal pose"/>
          <p:cNvSpPr/>
          <p:nvPr/>
        </p:nvSpPr>
        <p:spPr>
          <a:xfrm>
            <a:off x="548640" y="4526280"/>
            <a:ext cx="196596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600" b="1" dirty="0">
                <a:solidFill>
                  <a:schemeClr val="tx1"/>
                </a:solidFill>
              </a:rPr>
              <a:t>Goal pose</a:t>
            </a:r>
            <a:endParaRPr lang="en-US" sz="1400" dirty="0"/>
          </a:p>
          <a:p>
            <a:pPr algn="ctr" indent="0" marL="0">
              <a:buNone/>
            </a:pPr>
            <a:r>
              <a:rPr lang="en-US" sz="1400" dirty="0">
                <a:solidFill>
                  <a:schemeClr val="tx2"/>
                </a:solidFill>
              </a:rPr>
              <a:t>RViz or web app</a:t>
            </a:r>
            <a:endParaRPr lang="en-US" sz="1400" dirty="0"/>
          </a:p>
        </p:txBody>
      </p:sp>
      <p:sp>
        <p:nvSpPr>
          <p:cNvPr id="14" name="Chain arrow 1"/>
          <p:cNvSpPr/>
          <p:nvPr/>
        </p:nvSpPr>
        <p:spPr>
          <a:xfrm>
            <a:off x="2551176" y="5097780"/>
            <a:ext cx="242316" cy="0"/>
          </a:xfrm>
          <a:prstGeom prst="line">
            <a:avLst/>
          </a:prstGeom>
          <a:noFill/>
          <a:ln w="28575">
            <a:solidFill>
              <a:schemeClr val="accent1"/>
            </a:solidFill>
            <a:prstDash val="solid"/>
            <a:tailEnd type="triangle"/>
          </a:ln>
        </p:spPr>
      </p:sp>
      <p:sp>
        <p:nvSpPr>
          <p:cNvPr id="15" name="Chain BT navigator"/>
          <p:cNvSpPr/>
          <p:nvPr/>
        </p:nvSpPr>
        <p:spPr>
          <a:xfrm>
            <a:off x="2830068" y="4526280"/>
            <a:ext cx="196596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600" b="1" dirty="0">
                <a:solidFill>
                  <a:schemeClr val="tx1"/>
                </a:solidFill>
              </a:rPr>
              <a:t>BT navigator</a:t>
            </a:r>
            <a:endParaRPr lang="en-US" sz="1400" dirty="0"/>
          </a:p>
          <a:p>
            <a:pPr algn="ctr" indent="0" marL="0">
              <a:buNone/>
            </a:pPr>
            <a:r>
              <a:rPr lang="en-US" sz="1400" dirty="0">
                <a:solidFill>
                  <a:schemeClr val="tx2"/>
                </a:solidFill>
              </a:rPr>
              <a:t>behavior tree</a:t>
            </a:r>
            <a:endParaRPr lang="en-US" sz="1400" dirty="0"/>
          </a:p>
        </p:txBody>
      </p:sp>
      <p:sp>
        <p:nvSpPr>
          <p:cNvPr id="16" name="Chain arrow 2"/>
          <p:cNvSpPr/>
          <p:nvPr/>
        </p:nvSpPr>
        <p:spPr>
          <a:xfrm>
            <a:off x="4832604" y="5097780"/>
            <a:ext cx="242316" cy="0"/>
          </a:xfrm>
          <a:prstGeom prst="line">
            <a:avLst/>
          </a:prstGeom>
          <a:noFill/>
          <a:ln w="28575">
            <a:solidFill>
              <a:schemeClr val="accent1"/>
            </a:solidFill>
            <a:prstDash val="solid"/>
            <a:tailEnd type="triangle"/>
          </a:ln>
        </p:spPr>
      </p:sp>
      <p:sp>
        <p:nvSpPr>
          <p:cNvPr id="17" name="Chain Planner"/>
          <p:cNvSpPr/>
          <p:nvPr/>
        </p:nvSpPr>
        <p:spPr>
          <a:xfrm>
            <a:off x="5111496" y="4526280"/>
            <a:ext cx="196596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600" b="1" dirty="0">
                <a:solidFill>
                  <a:schemeClr val="tx1"/>
                </a:solidFill>
              </a:rPr>
              <a:t>Planner</a:t>
            </a:r>
            <a:endParaRPr lang="en-US" sz="1400" dirty="0"/>
          </a:p>
          <a:p>
            <a:pPr algn="ctr" indent="0" marL="0">
              <a:buNone/>
            </a:pPr>
            <a:r>
              <a:rPr lang="en-US" sz="1400" dirty="0">
                <a:solidFill>
                  <a:schemeClr val="tx2"/>
                </a:solidFill>
              </a:rPr>
              <a:t>path on global costmap</a:t>
            </a:r>
            <a:endParaRPr lang="en-US" sz="1400" dirty="0"/>
          </a:p>
        </p:txBody>
      </p:sp>
      <p:sp>
        <p:nvSpPr>
          <p:cNvPr id="18" name="Chain arrow 3"/>
          <p:cNvSpPr/>
          <p:nvPr/>
        </p:nvSpPr>
        <p:spPr>
          <a:xfrm>
            <a:off x="7114032" y="5097780"/>
            <a:ext cx="242316" cy="0"/>
          </a:xfrm>
          <a:prstGeom prst="line">
            <a:avLst/>
          </a:prstGeom>
          <a:noFill/>
          <a:ln w="28575">
            <a:solidFill>
              <a:schemeClr val="accent1"/>
            </a:solidFill>
            <a:prstDash val="solid"/>
            <a:tailEnd type="triangle"/>
          </a:ln>
        </p:spPr>
      </p:sp>
      <p:sp>
        <p:nvSpPr>
          <p:cNvPr id="19" name="Chain Controller"/>
          <p:cNvSpPr/>
          <p:nvPr/>
        </p:nvSpPr>
        <p:spPr>
          <a:xfrm>
            <a:off x="7392924" y="4526280"/>
            <a:ext cx="196596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600" b="1" dirty="0">
                <a:solidFill>
                  <a:schemeClr val="tx1"/>
                </a:solidFill>
              </a:rPr>
              <a:t>Controller</a:t>
            </a:r>
            <a:endParaRPr lang="en-US" sz="1400" dirty="0"/>
          </a:p>
          <a:p>
            <a:pPr algn="ctr" indent="0" marL="0">
              <a:buNone/>
            </a:pPr>
            <a:r>
              <a:rPr lang="en-US" sz="1400" dirty="0">
                <a:solidFill>
                  <a:schemeClr val="tx2"/>
                </a:solidFill>
              </a:rPr>
              <a:t>/cmd_vel at 20 Hz</a:t>
            </a:r>
            <a:endParaRPr lang="en-US" sz="1400" dirty="0"/>
          </a:p>
        </p:txBody>
      </p:sp>
      <p:sp>
        <p:nvSpPr>
          <p:cNvPr id="20" name="Chain arrow 4"/>
          <p:cNvSpPr/>
          <p:nvPr/>
        </p:nvSpPr>
        <p:spPr>
          <a:xfrm>
            <a:off x="9395460" y="5097780"/>
            <a:ext cx="242316" cy="0"/>
          </a:xfrm>
          <a:prstGeom prst="line">
            <a:avLst/>
          </a:prstGeom>
          <a:noFill/>
          <a:ln w="28575">
            <a:solidFill>
              <a:schemeClr val="accent1"/>
            </a:solidFill>
            <a:prstDash val="solid"/>
            <a:tailEnd type="triangle"/>
          </a:ln>
        </p:spPr>
      </p:sp>
      <p:sp>
        <p:nvSpPr>
          <p:cNvPr id="21" name="Chain Wheels"/>
          <p:cNvSpPr/>
          <p:nvPr/>
        </p:nvSpPr>
        <p:spPr>
          <a:xfrm>
            <a:off x="9674352" y="4526280"/>
            <a:ext cx="196596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600" b="1" dirty="0">
                <a:solidFill>
                  <a:schemeClr val="tx1"/>
                </a:solidFill>
              </a:rPr>
              <a:t>Wheels</a:t>
            </a:r>
            <a:endParaRPr lang="en-US" sz="1400" dirty="0"/>
          </a:p>
          <a:p>
            <a:pPr algn="ctr" indent="0" marL="0">
              <a:buNone/>
            </a:pPr>
            <a:r>
              <a:rPr lang="en-US" sz="1400" dirty="0">
                <a:solidFill>
                  <a:schemeClr val="tx2"/>
                </a:solidFill>
              </a:rPr>
              <a:t>esp32_driver → ESP32</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Step 6: send the robot to “Table 1” from a phone</a:t>
            </a:r>
            <a:endParaRPr lang="en-US" sz="2800" dirty="0"/>
          </a:p>
        </p:txBody>
      </p:sp>
      <p:sp>
        <p:nvSpPr>
          <p:cNvPr id="4" name="Web part Phone browser"/>
          <p:cNvSpPr/>
          <p:nvPr/>
        </p:nvSpPr>
        <p:spPr>
          <a:xfrm>
            <a:off x="548640" y="1417320"/>
            <a:ext cx="2377440" cy="1143000"/>
          </a:xfrm>
          <a:prstGeom prst="roundRect">
            <a:avLst>
              <a:gd name="adj" fmla="val 6400"/>
            </a:avLst>
          </a:prstGeom>
          <a:solidFill>
            <a:schemeClr val="bg2"/>
          </a:solidFill>
          <a:ln w="6350">
            <a:solidFill>
              <a:schemeClr val="bg2"/>
            </a:solidFill>
          </a:ln>
        </p:spPr>
        <p:txBody>
          <a:bodyPr wrap="square" lIns="76200" tIns="76200" rIns="76200" bIns="76200" rtlCol="0" anchor="ctr"/>
          <a:lstStyle/>
          <a:p>
            <a:pPr algn="ctr" indent="0" marL="0">
              <a:buNone/>
            </a:pPr>
            <a:r>
              <a:rPr lang="en-US" sz="1700" b="1" dirty="0">
                <a:solidFill>
                  <a:schemeClr val="tx1"/>
                </a:solidFill>
              </a:rPr>
              <a:t>Phone browser</a:t>
            </a:r>
            <a:endParaRPr lang="en-US" sz="1400" dirty="0"/>
          </a:p>
          <a:p>
            <a:pPr algn="ctr" indent="0" marL="0">
              <a:buNone/>
            </a:pPr>
            <a:r>
              <a:rPr lang="en-US" sz="1400" dirty="0">
                <a:solidFill>
                  <a:schemeClr val="tx1"/>
                </a:solidFill>
              </a:rPr>
              <a:t>big buttons: table1, table2…</a:t>
            </a:r>
            <a:endParaRPr lang="en-US" sz="1400" dirty="0"/>
          </a:p>
        </p:txBody>
      </p:sp>
      <p:sp>
        <p:nvSpPr>
          <p:cNvPr id="5" name="Web arrow 1"/>
          <p:cNvSpPr/>
          <p:nvPr/>
        </p:nvSpPr>
        <p:spPr>
          <a:xfrm>
            <a:off x="2962656" y="1988820"/>
            <a:ext cx="454152" cy="0"/>
          </a:xfrm>
          <a:prstGeom prst="line">
            <a:avLst/>
          </a:prstGeom>
          <a:noFill/>
          <a:ln w="28575">
            <a:solidFill>
              <a:schemeClr val="accent6"/>
            </a:solidFill>
            <a:prstDash val="solid"/>
            <a:tailEnd type="triangle"/>
          </a:ln>
        </p:spPr>
      </p:sp>
      <p:sp>
        <p:nvSpPr>
          <p:cNvPr id="6" name="Web label 1"/>
          <p:cNvSpPr txBox="1"/>
          <p:nvPr/>
        </p:nvSpPr>
        <p:spPr>
          <a:xfrm>
            <a:off x="2092452" y="2633472"/>
            <a:ext cx="219456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HTTP POST /api/goto</a:t>
            </a:r>
            <a:endParaRPr lang="en-US" sz="1200" dirty="0"/>
          </a:p>
        </p:txBody>
      </p:sp>
      <p:sp>
        <p:nvSpPr>
          <p:cNvPr id="7" name="Web part table_nav_web"/>
          <p:cNvSpPr/>
          <p:nvPr/>
        </p:nvSpPr>
        <p:spPr>
          <a:xfrm>
            <a:off x="3453384" y="1417320"/>
            <a:ext cx="2377440" cy="1143000"/>
          </a:xfrm>
          <a:prstGeom prst="roundRect">
            <a:avLst>
              <a:gd name="adj" fmla="val 6400"/>
            </a:avLst>
          </a:prstGeom>
          <a:solidFill>
            <a:schemeClr val="accent1"/>
          </a:solidFill>
          <a:ln w="6350">
            <a:solidFill>
              <a:schemeClr val="accent1"/>
            </a:solidFill>
          </a:ln>
        </p:spPr>
        <p:txBody>
          <a:bodyPr wrap="square" lIns="76200" tIns="76200" rIns="76200" bIns="76200" rtlCol="0" anchor="ctr"/>
          <a:lstStyle/>
          <a:p>
            <a:pPr algn="ctr" indent="0" marL="0">
              <a:buNone/>
            </a:pPr>
            <a:r>
              <a:rPr lang="en-US" sz="1700" b="1" dirty="0">
                <a:solidFill>
                  <a:schemeClr val="bg1"/>
                </a:solidFill>
              </a:rPr>
              <a:t>table_nav_web</a:t>
            </a:r>
            <a:endParaRPr lang="en-US" sz="1400" dirty="0"/>
          </a:p>
          <a:p>
            <a:pPr algn="ctr" indent="0" marL="0">
              <a:buNone/>
            </a:pPr>
            <a:r>
              <a:rPr lang="en-US" sz="1400" dirty="0">
                <a:solidFill>
                  <a:schemeClr val="bg1"/>
                </a:solidFill>
              </a:rPr>
              <a:t>HTTP server + ROS 2 node</a:t>
            </a:r>
            <a:endParaRPr lang="en-US" sz="1400" dirty="0"/>
          </a:p>
        </p:txBody>
      </p:sp>
      <p:sp>
        <p:nvSpPr>
          <p:cNvPr id="8" name="Web arrow 2"/>
          <p:cNvSpPr/>
          <p:nvPr/>
        </p:nvSpPr>
        <p:spPr>
          <a:xfrm>
            <a:off x="5867400" y="1988820"/>
            <a:ext cx="454152" cy="0"/>
          </a:xfrm>
          <a:prstGeom prst="line">
            <a:avLst/>
          </a:prstGeom>
          <a:noFill/>
          <a:ln w="28575">
            <a:solidFill>
              <a:schemeClr val="accent6"/>
            </a:solidFill>
            <a:prstDash val="solid"/>
            <a:tailEnd type="triangle"/>
          </a:ln>
        </p:spPr>
      </p:sp>
      <p:sp>
        <p:nvSpPr>
          <p:cNvPr id="9" name="Web label 2"/>
          <p:cNvSpPr txBox="1"/>
          <p:nvPr/>
        </p:nvSpPr>
        <p:spPr>
          <a:xfrm>
            <a:off x="4997196" y="2633472"/>
            <a:ext cx="219456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action goal</a:t>
            </a:r>
            <a:endParaRPr lang="en-US" sz="1200" dirty="0"/>
          </a:p>
        </p:txBody>
      </p:sp>
      <p:sp>
        <p:nvSpPr>
          <p:cNvPr id="10" name="Web part Nav2"/>
          <p:cNvSpPr/>
          <p:nvPr/>
        </p:nvSpPr>
        <p:spPr>
          <a:xfrm>
            <a:off x="6358128" y="1417320"/>
            <a:ext cx="2377440" cy="1143000"/>
          </a:xfrm>
          <a:prstGeom prst="roundRect">
            <a:avLst>
              <a:gd name="adj" fmla="val 6400"/>
            </a:avLst>
          </a:prstGeom>
          <a:solidFill>
            <a:schemeClr val="accent2"/>
          </a:solidFill>
          <a:ln w="6350">
            <a:solidFill>
              <a:schemeClr val="accent2"/>
            </a:solidFill>
          </a:ln>
        </p:spPr>
        <p:txBody>
          <a:bodyPr wrap="square" lIns="76200" tIns="76200" rIns="76200" bIns="76200" rtlCol="0" anchor="ctr"/>
          <a:lstStyle/>
          <a:p>
            <a:pPr algn="ctr" indent="0" marL="0">
              <a:buNone/>
            </a:pPr>
            <a:r>
              <a:rPr lang="en-US" sz="1700" b="1" dirty="0">
                <a:solidFill>
                  <a:schemeClr val="bg1"/>
                </a:solidFill>
              </a:rPr>
              <a:t>Nav2</a:t>
            </a:r>
            <a:endParaRPr lang="en-US" sz="1400" dirty="0"/>
          </a:p>
          <a:p>
            <a:pPr algn="ctr" indent="0" marL="0">
              <a:buNone/>
            </a:pPr>
            <a:r>
              <a:rPr lang="en-US" sz="1400" dirty="0">
                <a:solidFill>
                  <a:schemeClr val="bg1"/>
                </a:solidFill>
              </a:rPr>
              <a:t>NavigateToPose action</a:t>
            </a:r>
            <a:endParaRPr lang="en-US" sz="1400" dirty="0"/>
          </a:p>
        </p:txBody>
      </p:sp>
      <p:sp>
        <p:nvSpPr>
          <p:cNvPr id="11" name="Web arrow 3"/>
          <p:cNvSpPr/>
          <p:nvPr/>
        </p:nvSpPr>
        <p:spPr>
          <a:xfrm>
            <a:off x="8772144" y="1988820"/>
            <a:ext cx="454152" cy="0"/>
          </a:xfrm>
          <a:prstGeom prst="line">
            <a:avLst/>
          </a:prstGeom>
          <a:noFill/>
          <a:ln w="28575">
            <a:solidFill>
              <a:schemeClr val="accent6"/>
            </a:solidFill>
            <a:prstDash val="solid"/>
            <a:tailEnd type="triangle"/>
          </a:ln>
        </p:spPr>
      </p:sp>
      <p:sp>
        <p:nvSpPr>
          <p:cNvPr id="12" name="Web label 3"/>
          <p:cNvSpPr txBox="1"/>
          <p:nvPr/>
        </p:nvSpPr>
        <p:spPr>
          <a:xfrm>
            <a:off x="7901940" y="2633472"/>
            <a:ext cx="2194560" cy="32004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/cmd_vel</a:t>
            </a:r>
            <a:endParaRPr lang="en-US" sz="1200" dirty="0"/>
          </a:p>
        </p:txBody>
      </p:sp>
      <p:sp>
        <p:nvSpPr>
          <p:cNvPr id="13" name="Web part Robot"/>
          <p:cNvSpPr/>
          <p:nvPr/>
        </p:nvSpPr>
        <p:spPr>
          <a:xfrm>
            <a:off x="9262872" y="1417320"/>
            <a:ext cx="2377440" cy="1143000"/>
          </a:xfrm>
          <a:prstGeom prst="roundRect">
            <a:avLst>
              <a:gd name="adj" fmla="val 6400"/>
            </a:avLst>
          </a:prstGeom>
          <a:solidFill>
            <a:schemeClr val="tx1"/>
          </a:solidFill>
          <a:ln w="6350">
            <a:solidFill>
              <a:schemeClr val="tx1"/>
            </a:solidFill>
          </a:ln>
        </p:spPr>
        <p:txBody>
          <a:bodyPr wrap="square" lIns="76200" tIns="76200" rIns="76200" bIns="76200" rtlCol="0" anchor="ctr"/>
          <a:lstStyle/>
          <a:p>
            <a:pPr algn="ctr" indent="0" marL="0">
              <a:buNone/>
            </a:pPr>
            <a:r>
              <a:rPr lang="en-US" sz="1700" b="1" dirty="0">
                <a:solidFill>
                  <a:schemeClr val="bg1"/>
                </a:solidFill>
              </a:rPr>
              <a:t>Robot</a:t>
            </a:r>
            <a:endParaRPr lang="en-US" sz="1400" dirty="0"/>
          </a:p>
          <a:p>
            <a:pPr algn="ctr" indent="0" marL="0">
              <a:buNone/>
            </a:pPr>
            <a:r>
              <a:rPr lang="en-US" sz="1400" dirty="0">
                <a:solidFill>
                  <a:schemeClr val="bg1"/>
                </a:solidFill>
              </a:rPr>
              <a:t>drives to the table</a:t>
            </a:r>
            <a:endParaRPr lang="en-US" sz="1400" dirty="0"/>
          </a:p>
        </p:txBody>
      </p:sp>
      <p:sp>
        <p:nvSpPr>
          <p:cNvPr id="14" name="Feedback down"/>
          <p:cNvSpPr/>
          <p:nvPr/>
        </p:nvSpPr>
        <p:spPr>
          <a:xfrm>
            <a:off x="7546848" y="3017520"/>
            <a:ext cx="0" cy="228600"/>
          </a:xfrm>
          <a:prstGeom prst="line">
            <a:avLst/>
          </a:prstGeom>
          <a:noFill/>
          <a:ln w="22225">
            <a:solidFill>
              <a:schemeClr val="accent3"/>
            </a:solidFill>
            <a:prstDash val="solid"/>
          </a:ln>
        </p:spPr>
      </p:sp>
      <p:sp>
        <p:nvSpPr>
          <p:cNvPr id="15" name="Feedback across"/>
          <p:cNvSpPr/>
          <p:nvPr/>
        </p:nvSpPr>
        <p:spPr>
          <a:xfrm flipH="1">
            <a:off x="1737360" y="3246120"/>
            <a:ext cx="5809488" cy="0"/>
          </a:xfrm>
          <a:prstGeom prst="line">
            <a:avLst/>
          </a:prstGeom>
          <a:noFill/>
          <a:ln w="22225">
            <a:solidFill>
              <a:schemeClr val="accent3"/>
            </a:solidFill>
            <a:prstDash val="solid"/>
          </a:ln>
        </p:spPr>
      </p:sp>
      <p:sp>
        <p:nvSpPr>
          <p:cNvPr id="16" name="Feedback up"/>
          <p:cNvSpPr/>
          <p:nvPr/>
        </p:nvSpPr>
        <p:spPr>
          <a:xfrm flipV="1">
            <a:off x="1737360" y="2606040"/>
            <a:ext cx="0" cy="640080"/>
          </a:xfrm>
          <a:prstGeom prst="line">
            <a:avLst/>
          </a:prstGeom>
          <a:noFill/>
          <a:ln w="22225">
            <a:solidFill>
              <a:schemeClr val="accent3"/>
            </a:solidFill>
            <a:prstDash val="solid"/>
            <a:tailEnd type="triangle"/>
          </a:ln>
        </p:spPr>
      </p:sp>
      <p:sp>
        <p:nvSpPr>
          <p:cNvPr id="17" name="Feedback label"/>
          <p:cNvSpPr txBox="1"/>
          <p:nvPr/>
        </p:nvSpPr>
        <p:spPr>
          <a:xfrm>
            <a:off x="3474720" y="3291840"/>
            <a:ext cx="4206240" cy="320040"/>
          </a:xfrm>
          <a:prstGeom prst="rect">
            <a:avLst/>
          </a:prstGeom>
          <a:noFill/>
          <a:ln/>
        </p:spPr>
        <p:txBody>
          <a:bodyPr wrap="square" lIns="0" tIns="0" rIns="0" bIns="0" rtlCol="0" anchor="t"/>
          <a:lstStyle/>
          <a:p>
            <a:pPr algn="l" indent="0" marL="0">
              <a:buNone/>
            </a:pPr>
            <a:r>
              <a:rPr lang="en-US" sz="1300" b="1" dirty="0">
                <a:solidFill>
                  <a:schemeClr val="accent3"/>
                </a:solidFill>
              </a:rPr>
              <a:t>feedback: distance left, ETA, arrived</a:t>
            </a:r>
            <a:endParaRPr lang="en-US" sz="1300" dirty="0"/>
          </a:p>
        </p:txBody>
      </p:sp>
      <p:sp>
        <p:nvSpPr>
          <p:cNvPr id="18" name="Save title"/>
          <p:cNvSpPr txBox="1"/>
          <p:nvPr/>
        </p:nvSpPr>
        <p:spPr>
          <a:xfrm>
            <a:off x="548640" y="3794760"/>
            <a:ext cx="5303520" cy="365760"/>
          </a:xfrm>
          <a:prstGeom prst="rect">
            <a:avLst/>
          </a:prstGeom>
          <a:noFill/>
          <a:ln/>
        </p:spPr>
        <p:txBody>
          <a:bodyPr wrap="square" lIns="0" tIns="0" rIns="0" bIns="0" rtlCol="0" anchor="t"/>
          <a:lstStyle/>
          <a:p>
            <a:pPr algn="l" indent="0" marL="0">
              <a:buNone/>
            </a:pPr>
            <a:r>
              <a:rPr lang="en-US" sz="1700" b="1" dirty="0">
                <a:solidFill>
                  <a:schemeClr val="tx1"/>
                </a:solidFill>
              </a:rPr>
              <a:t>Save the tables once</a:t>
            </a:r>
            <a:endParaRPr lang="en-US" sz="1700" dirty="0"/>
          </a:p>
        </p:txBody>
      </p:sp>
      <p:sp>
        <p:nvSpPr>
          <p:cNvPr id="19" name="Save steps"/>
          <p:cNvSpPr txBox="1"/>
          <p:nvPr/>
        </p:nvSpPr>
        <p:spPr>
          <a:xfrm>
            <a:off x="548640" y="4206240"/>
            <a:ext cx="5303520" cy="1874520"/>
          </a:xfrm>
          <a:prstGeom prst="rect">
            <a:avLst/>
          </a:prstGeom>
          <a:noFill/>
          <a:ln/>
        </p:spPr>
        <p:txBody>
          <a:bodyPr wrap="square" lIns="0" tIns="0" rIns="0" bIns="0" rtlCol="0" anchor="t"/>
          <a:lstStyle/>
          <a:p>
            <a:pPr algn="l" indent="0" marL="0">
              <a:spcAft>
                <a:spcPts val="800"/>
              </a:spcAft>
              <a:buNone/>
            </a:pPr>
            <a:r>
              <a:rPr lang="en-US" sz="1500" b="1" dirty="0">
                <a:solidFill>
                  <a:schemeClr val="accent1"/>
                </a:solidFill>
              </a:rPr>
              <a:t>1   </a:t>
            </a:r>
            <a:pPr algn="l" indent="0" marL="0">
              <a:spcAft>
                <a:spcPts val="800"/>
              </a:spcAft>
              <a:buNone/>
            </a:pPr>
            <a:r>
              <a:rPr lang="en-US" sz="1500" b="1" dirty="0">
                <a:solidFill>
                  <a:schemeClr val="tx1"/>
                </a:solidFill>
              </a:rPr>
              <a:t>Robot is here</a:t>
            </a:r>
            <a:pPr algn="l" indent="0" marL="0">
              <a:spcAft>
                <a:spcPts val="800"/>
              </a:spcAft>
              <a:buNone/>
            </a:pPr>
            <a:r>
              <a:rPr lang="en-US" sz="1500" dirty="0">
                <a:solidFill>
                  <a:schemeClr val="tx1"/>
                </a:solidFill>
              </a:rPr>
              <a:t> — set the start pose on the map</a:t>
            </a:r>
            <a:endParaRPr lang="en-US" sz="1500" dirty="0"/>
          </a:p>
          <a:p>
            <a:pPr algn="l" indent="0" marL="0">
              <a:spcAft>
                <a:spcPts val="800"/>
              </a:spcAft>
              <a:buNone/>
            </a:pPr>
            <a:r>
              <a:rPr lang="en-US" sz="1500" b="1" dirty="0">
                <a:solidFill>
                  <a:schemeClr val="accent1"/>
                </a:solidFill>
              </a:rPr>
              <a:t>2   </a:t>
            </a:r>
            <a:pPr algn="l" indent="0" marL="0">
              <a:spcAft>
                <a:spcPts val="800"/>
              </a:spcAft>
              <a:buNone/>
            </a:pPr>
            <a:r>
              <a:rPr lang="en-US" sz="1500" dirty="0">
                <a:solidFill>
                  <a:schemeClr val="tx1"/>
                </a:solidFill>
              </a:rPr>
              <a:t>Drive to Table 1, facing the way it should wait</a:t>
            </a:r>
            <a:endParaRPr lang="en-US" sz="1500" dirty="0"/>
          </a:p>
          <a:p>
            <a:pPr algn="l" indent="0" marL="0">
              <a:spcAft>
                <a:spcPts val="800"/>
              </a:spcAft>
              <a:buNone/>
            </a:pPr>
            <a:r>
              <a:rPr lang="en-US" sz="1500" b="1" dirty="0">
                <a:solidFill>
                  <a:schemeClr val="accent1"/>
                </a:solidFill>
              </a:rPr>
              <a:t>3   </a:t>
            </a:r>
            <a:pPr algn="l" indent="0" marL="0">
              <a:spcAft>
                <a:spcPts val="800"/>
              </a:spcAft>
              <a:buNone/>
            </a:pPr>
            <a:r>
              <a:rPr lang="en-US" sz="1500" dirty="0">
                <a:solidFill>
                  <a:schemeClr val="tx1"/>
                </a:solidFill>
              </a:rPr>
              <a:t>Type </a:t>
            </a:r>
            <a:pPr algn="l" indent="0" marL="0">
              <a:spcAft>
                <a:spcPts val="800"/>
              </a:spcAft>
              <a:buNone/>
            </a:pPr>
            <a:r>
              <a:rPr lang="en-US" sz="1500" b="1" dirty="0">
                <a:solidFill>
                  <a:schemeClr val="tx1"/>
                </a:solidFill>
                <a:latin typeface="Courier New" pitchFamily="34" charset="0"/>
                <a:ea typeface="Courier New" pitchFamily="34" charset="-122"/>
                <a:cs typeface="Courier New" pitchFamily="34" charset="-120"/>
              </a:rPr>
              <a:t>table1</a:t>
            </a:r>
            <a:pPr algn="l" indent="0" marL="0">
              <a:spcAft>
                <a:spcPts val="800"/>
              </a:spcAft>
              <a:buNone/>
            </a:pPr>
            <a:r>
              <a:rPr lang="en-US" sz="1500" dirty="0">
                <a:solidFill>
                  <a:schemeClr val="tx1"/>
                </a:solidFill>
              </a:rPr>
              <a:t> → </a:t>
            </a:r>
            <a:pPr algn="l" indent="0" marL="0">
              <a:spcAft>
                <a:spcPts val="800"/>
              </a:spcAft>
              <a:buNone/>
            </a:pPr>
            <a:r>
              <a:rPr lang="en-US" sz="1500" b="1" dirty="0">
                <a:solidFill>
                  <a:schemeClr val="tx1"/>
                </a:solidFill>
              </a:rPr>
              <a:t>Save current position</a:t>
            </a:r>
            <a:endParaRPr lang="en-US" sz="1500" dirty="0"/>
          </a:p>
          <a:p>
            <a:pPr algn="l" indent="0" marL="0">
              <a:spcAft>
                <a:spcPts val="800"/>
              </a:spcAft>
              <a:buNone/>
            </a:pPr>
            <a:r>
              <a:rPr lang="en-US" sz="1500" b="1" dirty="0">
                <a:solidFill>
                  <a:schemeClr val="accent1"/>
                </a:solidFill>
              </a:rPr>
              <a:t>4   </a:t>
            </a:r>
            <a:pPr algn="l" indent="0" marL="0">
              <a:spcAft>
                <a:spcPts val="800"/>
              </a:spcAft>
              <a:buNone/>
            </a:pPr>
            <a:r>
              <a:rPr lang="en-US" sz="1500" dirty="0">
                <a:solidFill>
                  <a:schemeClr val="tx1"/>
                </a:solidFill>
              </a:rPr>
              <a:t>Tap </a:t>
            </a:r>
            <a:pPr algn="l" indent="0" marL="0">
              <a:spcAft>
                <a:spcPts val="800"/>
              </a:spcAft>
              <a:buNone/>
            </a:pPr>
            <a:r>
              <a:rPr lang="en-US" sz="1500" b="1" dirty="0">
                <a:solidFill>
                  <a:schemeClr val="tx1"/>
                </a:solidFill>
                <a:latin typeface="Courier New" pitchFamily="34" charset="0"/>
                <a:ea typeface="Courier New" pitchFamily="34" charset="-122"/>
                <a:cs typeface="Courier New" pitchFamily="34" charset="-120"/>
              </a:rPr>
              <a:t>table1</a:t>
            </a:r>
            <a:pPr algn="l" indent="0" marL="0">
              <a:spcAft>
                <a:spcPts val="800"/>
              </a:spcAft>
              <a:buNone/>
            </a:pPr>
            <a:r>
              <a:rPr lang="en-US" sz="1500" dirty="0">
                <a:solidFill>
                  <a:schemeClr val="tx1"/>
                </a:solidFill>
              </a:rPr>
              <a:t> any time; </a:t>
            </a:r>
            <a:pPr algn="l" indent="0" marL="0">
              <a:spcAft>
                <a:spcPts val="800"/>
              </a:spcAft>
              <a:buNone/>
            </a:pPr>
            <a:r>
              <a:rPr lang="en-US" sz="1500" b="1" dirty="0">
                <a:solidFill>
                  <a:schemeClr val="accent5"/>
                </a:solidFill>
              </a:rPr>
              <a:t>STOP</a:t>
            </a:r>
            <a:pPr algn="l" indent="0" marL="0">
              <a:spcAft>
                <a:spcPts val="800"/>
              </a:spcAft>
              <a:buNone/>
            </a:pPr>
            <a:r>
              <a:rPr lang="en-US" sz="1500" dirty="0">
                <a:solidFill>
                  <a:schemeClr val="tx1"/>
                </a:solidFill>
              </a:rPr>
              <a:t> cancels</a:t>
            </a:r>
            <a:endParaRPr lang="en-US" sz="1500" dirty="0"/>
          </a:p>
        </p:txBody>
      </p:sp>
      <p:sp>
        <p:nvSpPr>
          <p:cNvPr id="20" name="Web app commands background"/>
          <p:cNvSpPr/>
          <p:nvPr/>
        </p:nvSpPr>
        <p:spPr>
          <a:xfrm>
            <a:off x="6080760" y="3794760"/>
            <a:ext cx="5559552" cy="2286000"/>
          </a:xfrm>
          <a:prstGeom prst="roundRect">
            <a:avLst>
              <a:gd name="adj" fmla="val 3200"/>
            </a:avLst>
          </a:prstGeom>
          <a:solidFill>
            <a:schemeClr val="tx1"/>
          </a:solidFill>
          <a:ln w="6350">
            <a:solidFill>
              <a:schemeClr val="tx1"/>
            </a:solidFill>
            <a:prstDash val="solid"/>
          </a:ln>
        </p:spPr>
      </p:sp>
      <p:sp>
        <p:nvSpPr>
          <p:cNvPr id="21" name="Web app commands text"/>
          <p:cNvSpPr txBox="1"/>
          <p:nvPr/>
        </p:nvSpPr>
        <p:spPr>
          <a:xfrm>
            <a:off x="6281928" y="3941064"/>
            <a:ext cx="5157216" cy="1993392"/>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 start the web app</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ros2 launch table_nav_web table_nav_web.launch.py</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open on a phone (same Wi-Fi)</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http://&lt;robot-ip&gt;:8080</a:t>
            </a:r>
            <a:endParaRPr lang="en-US" sz="1300" dirty="0"/>
          </a:p>
          <a:p>
            <a:pPr indent="0" marL="0">
              <a:buNone/>
            </a:pPr>
            <a:r>
              <a:rPr lang="en-US" sz="1300" b="1" dirty="0">
                <a:solidFill>
                  <a:schemeClr val="accent1"/>
                </a:solidFill>
                <a:latin typeface="Courier New" pitchFamily="34" charset="0"/>
                <a:ea typeface="Courier New" pitchFamily="34" charset="-122"/>
                <a:cs typeface="Courier New" pitchFamily="34" charset="-120"/>
              </a:rPr>
              <a:t># from another program</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curl -X POST http://&lt;robot-ip&gt;:8080/api/goto \</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-H 'Content-Type: application/json' \</a:t>
            </a:r>
            <a:endParaRPr lang="en-US" sz="1300" dirty="0"/>
          </a:p>
          <a:p>
            <a:pPr indent="0" marL="0">
              <a:buNone/>
            </a:pPr>
            <a:r>
              <a:rPr lang="en-US" sz="1300" b="1" dirty="0">
                <a:solidFill>
                  <a:schemeClr val="bg1"/>
                </a:solidFill>
                <a:latin typeface="Courier New" pitchFamily="34" charset="0"/>
                <a:ea typeface="Courier New" pitchFamily="34" charset="-122"/>
                <a:cs typeface="Courier New" pitchFamily="34" charset="-120"/>
              </a:rPr>
              <a:t>  -d '{"name": "table1"}'</a:t>
            </a:r>
            <a:endParaRPr lang="en-US" sz="13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Debugging toolkit: look at the data before changing parameters</a:t>
            </a:r>
            <a:endParaRPr lang="en-US" sz="2800" dirty="0"/>
          </a:p>
        </p:txBody>
      </p:sp>
      <p:graphicFrame>
        <p:nvGraphicFramePr>
          <p:cNvPr id="41" name="Debugging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6675120"/>
                <a:gridCol w="4416552"/>
              </a:tblGrid>
              <a:tr h="457200">
                <a:tc>
                  <a:txBody>
                    <a:bodyPr/>
                    <a:lstStyle/>
                    <a:p>
                      <a:pPr indent="0" marL="0">
                        <a:buNone/>
                      </a:pPr>
                      <a:r>
                        <a:rPr lang="en-US" sz="1400" b="1" dirty="0">
                          <a:solidFill>
                            <a:schemeClr val="bg1"/>
                          </a:solidFill>
                        </a:rPr>
                        <a:t>Command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tells you</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node list</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Which nodes are running</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topic info -v /cmd_vel</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Publishers, subscribers and message type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topic hz /scan</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How often data arrives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topic echo /odom</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live values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run tf2_tools view_frames</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PDF drawing of the whole TF tree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run tf2_ros tf2_echo map base_link</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Where the robot is on the map</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rqt_graph</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Picture of nodes and topics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param get /controller_server FollowPath.desired_linear_vel</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value a parameter really has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ros2 action list</a:t>
                      </a:r>
                      <a:endParaRPr lang="en-US" sz="1300" dirty="0">
                        <a:latin typeface="Courier New" charset="0"/>
                        <a:ea typeface="Courier New" charset="0"/>
                        <a:cs typeface="Courier New" charset="0"/>
                      </a:endParaRPr>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Nav2 actions such as /navigate_to_pose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Troubleshooting: symptom → most likely cause → what to do</a:t>
            </a:r>
            <a:endParaRPr lang="en-US" sz="2800" dirty="0"/>
          </a:p>
        </p:txBody>
      </p:sp>
      <p:graphicFrame>
        <p:nvGraphicFramePr>
          <p:cNvPr id="42" name="Troubleshooting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429000"/>
                <a:gridCol w="3977640"/>
                <a:gridCol w="3685032"/>
              </a:tblGrid>
              <a:tr h="512064">
                <a:tc>
                  <a:txBody>
                    <a:bodyPr/>
                    <a:lstStyle/>
                    <a:p>
                      <a:pPr indent="0" marL="0">
                        <a:buNone/>
                      </a:pPr>
                      <a:r>
                        <a:rPr lang="en-US" sz="1400" b="1" dirty="0">
                          <a:solidFill>
                            <a:schemeClr val="bg1"/>
                          </a:solidFill>
                        </a:rPr>
                        <a:t>Symptom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Most likely cause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to do</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r>
              <a:tr h="512064">
                <a:tc>
                  <a:txBody>
                    <a:bodyPr/>
                    <a:lstStyle/>
                    <a:p>
                      <a:pPr indent="0" marL="0">
                        <a:buNone/>
                      </a:pPr>
                      <a:r>
                        <a:rPr lang="en-US" sz="1400" b="1" dirty="0">
                          <a:solidFill>
                            <a:schemeClr val="tx1"/>
                          </a:solidFill>
                        </a:rPr>
                        <a:t>Robot snakes along the path</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Odometry not calibrated, or two odometry publishers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Step 3; ros2 topic info /odom</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Pose jumps in RViz</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Wrong map, wrong initial pose or wrong laser yaw</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Your map; 2D Pose Estimate; laser_yaw</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Spins in place, never drives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Encoder or motor direction reversed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Key i / j test from Step 2</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“Failed to make progress”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Motors stall at low speed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Firmware PID or raise min speeds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Stops 20–25 cm short of the table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xy_goal_tolerance: 0.25</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Lower to 0.10 after calibration</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Will not pass between tables</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Gap &lt; 2 × robot_radius, or inflation too wide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Measure robot; inflation_radius 0.40</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Web page: “Nav2 is not running”</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Terminal not sourced or other ROS_DOMAIN_ID</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source install/setup.bash</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Nav2 runs, wheels never move</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/cmd_vel is TwistStamped (newer Nav2)</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type with topic info -v</a:t>
                      </a:r>
                      <a:endParaRPr lang="en-US" sz="1400" dirty="0"/>
                    </a:p>
                  </a:txBody>
                  <a:tcPr marL="63500" marR="6350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
            <a:ext cx="11091672" cy="914400"/>
          </a:xfrm>
          <a:prstGeom prst="rect">
            <a:avLst/>
          </a:prstGeom>
          <a:noFill/>
          <a:ln/>
        </p:spPr>
        <p:txBody>
          <a:bodyPr wrap="square" lIns="0" tIns="0" rIns="0" bIns="0" rtlCol="0" anchor="ctr"/>
          <a:lstStyle/>
          <a:p>
            <a:pPr algn="l" indent="0" marL="0">
              <a:buNone/>
            </a:pPr>
            <a:r>
              <a:rPr lang="en-US" sz="2800" b="1" dirty="0">
                <a:solidFill>
                  <a:schemeClr val="tx1"/>
                </a:solidFill>
              </a:rPr>
              <a:t>Student exercises</a:t>
            </a:r>
            <a:endParaRPr lang="en-US" sz="2800" dirty="0"/>
          </a:p>
        </p:txBody>
      </p:sp>
      <p:sp>
        <p:nvSpPr>
          <p:cNvPr id="4" name="Exercise 1"/>
          <p:cNvSpPr/>
          <p:nvPr/>
        </p:nvSpPr>
        <p:spPr>
          <a:xfrm>
            <a:off x="548640" y="1417320"/>
            <a:ext cx="3566160" cy="2240280"/>
          </a:xfrm>
          <a:prstGeom prst="roundRect">
            <a:avLst>
              <a:gd name="adj" fmla="val 4082"/>
            </a:avLst>
          </a:prstGeom>
          <a:solidFill>
            <a:schemeClr val="bg2"/>
          </a:solidFill>
          <a:ln w="6350">
            <a:solidFill>
              <a:schemeClr val="bg2"/>
            </a:solidFill>
            <a:prstDash val="solid"/>
          </a:ln>
        </p:spPr>
      </p:sp>
      <p:sp>
        <p:nvSpPr>
          <p:cNvPr id="5" name="Level 1"/>
          <p:cNvSpPr/>
          <p:nvPr/>
        </p:nvSpPr>
        <p:spPr>
          <a:xfrm>
            <a:off x="749808" y="1618488"/>
            <a:ext cx="868680" cy="329184"/>
          </a:xfrm>
          <a:prstGeom prst="roundRect">
            <a:avLst>
              <a:gd name="adj" fmla="val 50000"/>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bg1"/>
                </a:solidFill>
              </a:rPr>
              <a:t>BASIC</a:t>
            </a:r>
            <a:endParaRPr lang="en-US" sz="1100" dirty="0"/>
          </a:p>
        </p:txBody>
      </p:sp>
      <p:sp>
        <p:nvSpPr>
          <p:cNvPr id="6" name="Exercise title 1"/>
          <p:cNvSpPr txBox="1"/>
          <p:nvPr/>
        </p:nvSpPr>
        <p:spPr>
          <a:xfrm>
            <a:off x="749808" y="205740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1. Map the classroom</a:t>
            </a:r>
            <a:endParaRPr lang="en-US" sz="1700" dirty="0"/>
          </a:p>
        </p:txBody>
      </p:sp>
      <p:sp>
        <p:nvSpPr>
          <p:cNvPr id="7" name="Exercise text 1"/>
          <p:cNvSpPr txBox="1"/>
          <p:nvPr/>
        </p:nvSpPr>
        <p:spPr>
          <a:xfrm>
            <a:off x="749808" y="251460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Make and save a map, then save three tables in the web app.</a:t>
            </a:r>
            <a:endParaRPr lang="en-US" sz="1400" dirty="0"/>
          </a:p>
        </p:txBody>
      </p:sp>
      <p:sp>
        <p:nvSpPr>
          <p:cNvPr id="8" name="Exercise 2"/>
          <p:cNvSpPr/>
          <p:nvPr/>
        </p:nvSpPr>
        <p:spPr>
          <a:xfrm>
            <a:off x="4311396" y="1417320"/>
            <a:ext cx="3566160" cy="2240280"/>
          </a:xfrm>
          <a:prstGeom prst="roundRect">
            <a:avLst>
              <a:gd name="adj" fmla="val 4082"/>
            </a:avLst>
          </a:prstGeom>
          <a:solidFill>
            <a:schemeClr val="bg2"/>
          </a:solidFill>
          <a:ln w="6350">
            <a:solidFill>
              <a:schemeClr val="bg2"/>
            </a:solidFill>
            <a:prstDash val="solid"/>
          </a:ln>
        </p:spPr>
      </p:sp>
      <p:sp>
        <p:nvSpPr>
          <p:cNvPr id="9" name="Level 2"/>
          <p:cNvSpPr/>
          <p:nvPr/>
        </p:nvSpPr>
        <p:spPr>
          <a:xfrm>
            <a:off x="4512564" y="1618488"/>
            <a:ext cx="868680" cy="329184"/>
          </a:xfrm>
          <a:prstGeom prst="roundRect">
            <a:avLst>
              <a:gd name="adj" fmla="val 50000"/>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bg1"/>
                </a:solidFill>
              </a:rPr>
              <a:t>BASIC</a:t>
            </a:r>
            <a:endParaRPr lang="en-US" sz="1100" dirty="0"/>
          </a:p>
        </p:txBody>
      </p:sp>
      <p:sp>
        <p:nvSpPr>
          <p:cNvPr id="10" name="Exercise title 2"/>
          <p:cNvSpPr txBox="1"/>
          <p:nvPr/>
        </p:nvSpPr>
        <p:spPr>
          <a:xfrm>
            <a:off x="4512564" y="205740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2. Measure accuracy</a:t>
            </a:r>
            <a:endParaRPr lang="en-US" sz="1700" dirty="0"/>
          </a:p>
        </p:txBody>
      </p:sp>
      <p:sp>
        <p:nvSpPr>
          <p:cNvPr id="11" name="Exercise text 2"/>
          <p:cNvSpPr txBox="1"/>
          <p:nvPr/>
        </p:nvSpPr>
        <p:spPr>
          <a:xfrm>
            <a:off x="4512564" y="251460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Send the robot to table1 ten times and measure the error with a tape. Tune xy_goal_tolerance.</a:t>
            </a:r>
            <a:endParaRPr lang="en-US" sz="1400" dirty="0"/>
          </a:p>
        </p:txBody>
      </p:sp>
      <p:sp>
        <p:nvSpPr>
          <p:cNvPr id="12" name="Exercise 3"/>
          <p:cNvSpPr/>
          <p:nvPr/>
        </p:nvSpPr>
        <p:spPr>
          <a:xfrm>
            <a:off x="8074152" y="1417320"/>
            <a:ext cx="3566160" cy="2240280"/>
          </a:xfrm>
          <a:prstGeom prst="roundRect">
            <a:avLst>
              <a:gd name="adj" fmla="val 4082"/>
            </a:avLst>
          </a:prstGeom>
          <a:solidFill>
            <a:schemeClr val="bg2"/>
          </a:solidFill>
          <a:ln w="6350">
            <a:solidFill>
              <a:schemeClr val="bg2"/>
            </a:solidFill>
            <a:prstDash val="solid"/>
          </a:ln>
        </p:spPr>
      </p:sp>
      <p:sp>
        <p:nvSpPr>
          <p:cNvPr id="13" name="Level 3"/>
          <p:cNvSpPr/>
          <p:nvPr/>
        </p:nvSpPr>
        <p:spPr>
          <a:xfrm>
            <a:off x="8275320" y="1618488"/>
            <a:ext cx="1572768" cy="329184"/>
          </a:xfrm>
          <a:prstGeom prst="roundRect">
            <a:avLst>
              <a:gd name="adj" fmla="val 50000"/>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INTERMEDIATE</a:t>
            </a:r>
            <a:endParaRPr lang="en-US" sz="1100" dirty="0"/>
          </a:p>
        </p:txBody>
      </p:sp>
      <p:sp>
        <p:nvSpPr>
          <p:cNvPr id="14" name="Exercise title 3"/>
          <p:cNvSpPr txBox="1"/>
          <p:nvPr/>
        </p:nvSpPr>
        <p:spPr>
          <a:xfrm>
            <a:off x="8275320" y="205740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3. Inflation experiment</a:t>
            </a:r>
            <a:endParaRPr lang="en-US" sz="1700" dirty="0"/>
          </a:p>
        </p:txBody>
      </p:sp>
      <p:sp>
        <p:nvSpPr>
          <p:cNvPr id="15" name="Exercise text 3"/>
          <p:cNvSpPr txBox="1"/>
          <p:nvPr/>
        </p:nvSpPr>
        <p:spPr>
          <a:xfrm>
            <a:off x="8275320" y="251460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Change cost_scaling_factor from 3 to 10. Does the robot pass closer to tables? Is it still safe?</a:t>
            </a:r>
            <a:endParaRPr lang="en-US" sz="1400" dirty="0"/>
          </a:p>
        </p:txBody>
      </p:sp>
      <p:sp>
        <p:nvSpPr>
          <p:cNvPr id="16" name="Exercise 4"/>
          <p:cNvSpPr/>
          <p:nvPr/>
        </p:nvSpPr>
        <p:spPr>
          <a:xfrm>
            <a:off x="548640" y="3840480"/>
            <a:ext cx="3566160" cy="2240280"/>
          </a:xfrm>
          <a:prstGeom prst="roundRect">
            <a:avLst>
              <a:gd name="adj" fmla="val 4082"/>
            </a:avLst>
          </a:prstGeom>
          <a:solidFill>
            <a:schemeClr val="bg2"/>
          </a:solidFill>
          <a:ln w="6350">
            <a:solidFill>
              <a:schemeClr val="bg2"/>
            </a:solidFill>
            <a:prstDash val="solid"/>
          </a:ln>
        </p:spPr>
      </p:sp>
      <p:sp>
        <p:nvSpPr>
          <p:cNvPr id="17" name="Level 4"/>
          <p:cNvSpPr/>
          <p:nvPr/>
        </p:nvSpPr>
        <p:spPr>
          <a:xfrm>
            <a:off x="749808" y="4041648"/>
            <a:ext cx="1572768" cy="329184"/>
          </a:xfrm>
          <a:prstGeom prst="roundRect">
            <a:avLst>
              <a:gd name="adj" fmla="val 50000"/>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INTERMEDIATE</a:t>
            </a:r>
            <a:endParaRPr lang="en-US" sz="1100" dirty="0"/>
          </a:p>
        </p:txBody>
      </p:sp>
      <p:sp>
        <p:nvSpPr>
          <p:cNvPr id="18" name="Exercise title 4"/>
          <p:cNvSpPr txBox="1"/>
          <p:nvPr/>
        </p:nvSpPr>
        <p:spPr>
          <a:xfrm>
            <a:off x="749808" y="448056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4. Planner comparison</a:t>
            </a:r>
            <a:endParaRPr lang="en-US" sz="1700" dirty="0"/>
          </a:p>
        </p:txBody>
      </p:sp>
      <p:sp>
        <p:nvSpPr>
          <p:cNvPr id="19" name="Exercise text 4"/>
          <p:cNvSpPr txBox="1"/>
          <p:nvPr/>
        </p:nvSpPr>
        <p:spPr>
          <a:xfrm>
            <a:off x="749808" y="493776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Set use_astar: true, then try the Smac 2D planner. Compare the paths in RViz.</a:t>
            </a:r>
            <a:endParaRPr lang="en-US" sz="1400" dirty="0"/>
          </a:p>
        </p:txBody>
      </p:sp>
      <p:sp>
        <p:nvSpPr>
          <p:cNvPr id="20" name="Exercise 5"/>
          <p:cNvSpPr/>
          <p:nvPr/>
        </p:nvSpPr>
        <p:spPr>
          <a:xfrm>
            <a:off x="4311396" y="3840480"/>
            <a:ext cx="3566160" cy="2240280"/>
          </a:xfrm>
          <a:prstGeom prst="roundRect">
            <a:avLst>
              <a:gd name="adj" fmla="val 4082"/>
            </a:avLst>
          </a:prstGeom>
          <a:solidFill>
            <a:schemeClr val="bg2"/>
          </a:solidFill>
          <a:ln w="6350">
            <a:solidFill>
              <a:schemeClr val="bg2"/>
            </a:solidFill>
            <a:prstDash val="solid"/>
          </a:ln>
        </p:spPr>
      </p:sp>
      <p:sp>
        <p:nvSpPr>
          <p:cNvPr id="21" name="Level 5"/>
          <p:cNvSpPr/>
          <p:nvPr/>
        </p:nvSpPr>
        <p:spPr>
          <a:xfrm>
            <a:off x="4512564" y="4041648"/>
            <a:ext cx="1572768" cy="329184"/>
          </a:xfrm>
          <a:prstGeom prst="roundRect">
            <a:avLst>
              <a:gd name="adj" fmla="val 50000"/>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INTERMEDIATE</a:t>
            </a:r>
            <a:endParaRPr lang="en-US" sz="1100" dirty="0"/>
          </a:p>
        </p:txBody>
      </p:sp>
      <p:sp>
        <p:nvSpPr>
          <p:cNvPr id="22" name="Exercise title 5"/>
          <p:cNvSpPr txBox="1"/>
          <p:nvPr/>
        </p:nvSpPr>
        <p:spPr>
          <a:xfrm>
            <a:off x="4512564" y="448056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5. Odometry comparison</a:t>
            </a:r>
            <a:endParaRPr lang="en-US" sz="1700" dirty="0"/>
          </a:p>
        </p:txBody>
      </p:sp>
      <p:sp>
        <p:nvSpPr>
          <p:cNvPr id="23" name="Exercise text 5"/>
          <p:cNvSpPr txBox="1"/>
          <p:nvPr/>
        </p:nvSpPr>
        <p:spPr>
          <a:xfrm>
            <a:off x="4512564" y="493776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Drive the same square with odom_source:=wheel and :=laser. Which drifts less?</a:t>
            </a:r>
            <a:endParaRPr lang="en-US" sz="1400" dirty="0"/>
          </a:p>
        </p:txBody>
      </p:sp>
      <p:sp>
        <p:nvSpPr>
          <p:cNvPr id="24" name="Exercise 6"/>
          <p:cNvSpPr/>
          <p:nvPr/>
        </p:nvSpPr>
        <p:spPr>
          <a:xfrm>
            <a:off x="8074152" y="3840480"/>
            <a:ext cx="3566160" cy="2240280"/>
          </a:xfrm>
          <a:prstGeom prst="roundRect">
            <a:avLst>
              <a:gd name="adj" fmla="val 4082"/>
            </a:avLst>
          </a:prstGeom>
          <a:solidFill>
            <a:schemeClr val="bg2"/>
          </a:solidFill>
          <a:ln w="6350">
            <a:solidFill>
              <a:schemeClr val="bg2"/>
            </a:solidFill>
            <a:prstDash val="solid"/>
          </a:ln>
        </p:spPr>
      </p:sp>
      <p:sp>
        <p:nvSpPr>
          <p:cNvPr id="25" name="Level 6"/>
          <p:cNvSpPr/>
          <p:nvPr/>
        </p:nvSpPr>
        <p:spPr>
          <a:xfrm>
            <a:off x="8275320" y="4041648"/>
            <a:ext cx="1170432" cy="329184"/>
          </a:xfrm>
          <a:prstGeom prst="roundRect">
            <a:avLst>
              <a:gd name="adj" fmla="val 50000"/>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bg1"/>
                </a:solidFill>
              </a:rPr>
              <a:t>ADVANCED</a:t>
            </a:r>
            <a:endParaRPr lang="en-US" sz="1100" dirty="0"/>
          </a:p>
        </p:txBody>
      </p:sp>
      <p:sp>
        <p:nvSpPr>
          <p:cNvPr id="26" name="Exercise title 6"/>
          <p:cNvSpPr txBox="1"/>
          <p:nvPr/>
        </p:nvSpPr>
        <p:spPr>
          <a:xfrm>
            <a:off x="8275320" y="4480560"/>
            <a:ext cx="3163824" cy="411480"/>
          </a:xfrm>
          <a:prstGeom prst="rect">
            <a:avLst/>
          </a:prstGeom>
          <a:noFill/>
          <a:ln/>
        </p:spPr>
        <p:txBody>
          <a:bodyPr wrap="square" lIns="0" tIns="0" rIns="0" bIns="0" rtlCol="0" anchor="t"/>
          <a:lstStyle/>
          <a:p>
            <a:pPr algn="l" indent="0" marL="0">
              <a:buNone/>
            </a:pPr>
            <a:r>
              <a:rPr lang="en-US" sz="1700" b="1" dirty="0">
                <a:solidFill>
                  <a:schemeClr val="tx1"/>
                </a:solidFill>
              </a:rPr>
              <a:t>6. Sensor fusion</a:t>
            </a:r>
            <a:endParaRPr lang="en-US" sz="1700" dirty="0"/>
          </a:p>
        </p:txBody>
      </p:sp>
      <p:sp>
        <p:nvSpPr>
          <p:cNvPr id="27" name="Exercise text 6"/>
          <p:cNvSpPr txBox="1"/>
          <p:nvPr/>
        </p:nvSpPr>
        <p:spPr>
          <a:xfrm>
            <a:off x="8275320" y="4937760"/>
            <a:ext cx="3163824" cy="1051560"/>
          </a:xfrm>
          <a:prstGeom prst="rect">
            <a:avLst/>
          </a:prstGeom>
          <a:noFill/>
          <a:ln/>
        </p:spPr>
        <p:txBody>
          <a:bodyPr wrap="square" lIns="0" tIns="0" rIns="0" bIns="0" rtlCol="0" anchor="t"/>
          <a:lstStyle/>
          <a:p>
            <a:pPr algn="l" indent="0" marL="0">
              <a:buNone/>
            </a:pPr>
            <a:r>
              <a:rPr lang="en-US" sz="1400" dirty="0">
                <a:solidFill>
                  <a:schemeClr val="tx2"/>
                </a:solidFill>
              </a:rPr>
              <a:t>Fuse wheel odometry, rf2o and an IMU with robot_localization (EKF).</a:t>
            </a:r>
            <a:endParaRPr lang="en-US" sz="1400" dirty="0"/>
          </a:p>
        </p:txBody>
      </p:sp>
      <p:sp>
        <p:nvSpPr>
          <p:cNvPr id="25" name="Slide Number Placeholder 0"/>
          <p:cNvSpPr>
            <a:spLocks noGrp="1"/>
          </p:cNvSpPr>
          <p:nvPr>
            <p:ph type="sldNum" sz="quarter" idx="4294967295"/>
          </p:nvPr>
        </p:nvSpPr>
        <p:spPr>
          <a:xfrm>
            <a:off x="11000232" y="641908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Key takeaways and where to learn more</a:t>
            </a:r>
            <a:endParaRPr lang="en-US" sz="3400" dirty="0"/>
          </a:p>
        </p:txBody>
      </p:sp>
      <p:sp>
        <p:nvSpPr>
          <p:cNvPr id="3" name="Takeaway number 1"/>
          <p:cNvSpPr txBox="1"/>
          <p:nvPr/>
        </p:nvSpPr>
        <p:spPr>
          <a:xfrm>
            <a:off x="548640" y="1508760"/>
            <a:ext cx="822960" cy="731520"/>
          </a:xfrm>
          <a:prstGeom prst="rect">
            <a:avLst/>
          </a:prstGeom>
          <a:noFill/>
          <a:ln/>
        </p:spPr>
        <p:txBody>
          <a:bodyPr wrap="square" lIns="0" tIns="0" rIns="0" bIns="0" rtlCol="0" anchor="ctr"/>
          <a:lstStyle/>
          <a:p>
            <a:pPr algn="l" indent="0" marL="0">
              <a:buNone/>
            </a:pPr>
            <a:r>
              <a:rPr lang="en-US" sz="3200" b="1" dirty="0">
                <a:solidFill>
                  <a:schemeClr val="accent1"/>
                </a:solidFill>
              </a:rPr>
              <a:t>01</a:t>
            </a:r>
            <a:endParaRPr lang="en-US" sz="3200" dirty="0"/>
          </a:p>
        </p:txBody>
      </p:sp>
      <p:sp>
        <p:nvSpPr>
          <p:cNvPr id="4" name="Takeaway 1"/>
          <p:cNvSpPr txBox="1"/>
          <p:nvPr/>
        </p:nvSpPr>
        <p:spPr>
          <a:xfrm>
            <a:off x="1417320" y="1508760"/>
            <a:ext cx="5120640" cy="731520"/>
          </a:xfrm>
          <a:prstGeom prst="rect">
            <a:avLst/>
          </a:prstGeom>
          <a:noFill/>
          <a:ln/>
        </p:spPr>
        <p:txBody>
          <a:bodyPr wrap="square" lIns="0" tIns="0" rIns="0" bIns="0" rtlCol="0" anchor="ctr"/>
          <a:lstStyle/>
          <a:p>
            <a:pPr algn="l" indent="0" marL="0">
              <a:buNone/>
            </a:pPr>
            <a:r>
              <a:rPr lang="en-US" sz="1700" dirty="0">
                <a:solidFill>
                  <a:schemeClr val="bg1"/>
                </a:solidFill>
              </a:rPr>
              <a:t>Reuse packages: the real work is configuration, calibration and glue code.</a:t>
            </a:r>
            <a:endParaRPr lang="en-US" sz="1700" dirty="0"/>
          </a:p>
        </p:txBody>
      </p:sp>
      <p:sp>
        <p:nvSpPr>
          <p:cNvPr id="5" name="Takeaway number 2"/>
          <p:cNvSpPr txBox="1"/>
          <p:nvPr/>
        </p:nvSpPr>
        <p:spPr>
          <a:xfrm>
            <a:off x="548640" y="2606040"/>
            <a:ext cx="822960" cy="731520"/>
          </a:xfrm>
          <a:prstGeom prst="rect">
            <a:avLst/>
          </a:prstGeom>
          <a:noFill/>
          <a:ln/>
        </p:spPr>
        <p:txBody>
          <a:bodyPr wrap="square" lIns="0" tIns="0" rIns="0" bIns="0" rtlCol="0" anchor="ctr"/>
          <a:lstStyle/>
          <a:p>
            <a:pPr algn="l" indent="0" marL="0">
              <a:buNone/>
            </a:pPr>
            <a:r>
              <a:rPr lang="en-US" sz="3200" b="1" dirty="0">
                <a:solidFill>
                  <a:schemeClr val="accent1"/>
                </a:solidFill>
              </a:rPr>
              <a:t>02</a:t>
            </a:r>
            <a:endParaRPr lang="en-US" sz="3200" dirty="0"/>
          </a:p>
        </p:txBody>
      </p:sp>
      <p:sp>
        <p:nvSpPr>
          <p:cNvPr id="6" name="Takeaway 2"/>
          <p:cNvSpPr txBox="1"/>
          <p:nvPr/>
        </p:nvSpPr>
        <p:spPr>
          <a:xfrm>
            <a:off x="1417320" y="2606040"/>
            <a:ext cx="5120640" cy="731520"/>
          </a:xfrm>
          <a:prstGeom prst="rect">
            <a:avLst/>
          </a:prstGeom>
          <a:noFill/>
          <a:ln/>
        </p:spPr>
        <p:txBody>
          <a:bodyPr wrap="square" lIns="0" tIns="0" rIns="0" bIns="0" rtlCol="0" anchor="ctr"/>
          <a:lstStyle/>
          <a:p>
            <a:pPr algn="l" indent="0" marL="0">
              <a:buNone/>
            </a:pPr>
            <a:r>
              <a:rPr lang="en-US" sz="1700" dirty="0">
                <a:solidFill>
                  <a:schemeClr val="bg1"/>
                </a:solidFill>
              </a:rPr>
              <a:t>Simulation hides real problems: perfect odometry, a perfect clock, the wrong map.</a:t>
            </a:r>
            <a:endParaRPr lang="en-US" sz="1700" dirty="0"/>
          </a:p>
        </p:txBody>
      </p:sp>
      <p:sp>
        <p:nvSpPr>
          <p:cNvPr id="7" name="Takeaway number 3"/>
          <p:cNvSpPr txBox="1"/>
          <p:nvPr/>
        </p:nvSpPr>
        <p:spPr>
          <a:xfrm>
            <a:off x="548640" y="3703320"/>
            <a:ext cx="822960" cy="731520"/>
          </a:xfrm>
          <a:prstGeom prst="rect">
            <a:avLst/>
          </a:prstGeom>
          <a:noFill/>
          <a:ln/>
        </p:spPr>
        <p:txBody>
          <a:bodyPr wrap="square" lIns="0" tIns="0" rIns="0" bIns="0" rtlCol="0" anchor="ctr"/>
          <a:lstStyle/>
          <a:p>
            <a:pPr algn="l" indent="0" marL="0">
              <a:buNone/>
            </a:pPr>
            <a:r>
              <a:rPr lang="en-US" sz="3200" b="1" dirty="0">
                <a:solidFill>
                  <a:schemeClr val="accent1"/>
                </a:solidFill>
              </a:rPr>
              <a:t>03</a:t>
            </a:r>
            <a:endParaRPr lang="en-US" sz="3200" dirty="0"/>
          </a:p>
        </p:txBody>
      </p:sp>
      <p:sp>
        <p:nvSpPr>
          <p:cNvPr id="8" name="Takeaway 3"/>
          <p:cNvSpPr txBox="1"/>
          <p:nvPr/>
        </p:nvSpPr>
        <p:spPr>
          <a:xfrm>
            <a:off x="1417320" y="3703320"/>
            <a:ext cx="5120640" cy="731520"/>
          </a:xfrm>
          <a:prstGeom prst="rect">
            <a:avLst/>
          </a:prstGeom>
          <a:noFill/>
          <a:ln/>
        </p:spPr>
        <p:txBody>
          <a:bodyPr wrap="square" lIns="0" tIns="0" rIns="0" bIns="0" rtlCol="0" anchor="ctr"/>
          <a:lstStyle/>
          <a:p>
            <a:pPr algn="l" indent="0" marL="0">
              <a:buNone/>
            </a:pPr>
            <a:r>
              <a:rPr lang="en-US" sz="1700" dirty="0">
                <a:solidFill>
                  <a:schemeClr val="bg1"/>
                </a:solidFill>
              </a:rPr>
              <a:t>One publisher per transform, equal speed limits everywhere, the real robot size.</a:t>
            </a:r>
            <a:endParaRPr lang="en-US" sz="1700" dirty="0"/>
          </a:p>
        </p:txBody>
      </p:sp>
      <p:sp>
        <p:nvSpPr>
          <p:cNvPr id="9" name="Takeaway number 4"/>
          <p:cNvSpPr txBox="1"/>
          <p:nvPr/>
        </p:nvSpPr>
        <p:spPr>
          <a:xfrm>
            <a:off x="548640" y="4800600"/>
            <a:ext cx="822960" cy="731520"/>
          </a:xfrm>
          <a:prstGeom prst="rect">
            <a:avLst/>
          </a:prstGeom>
          <a:noFill/>
          <a:ln/>
        </p:spPr>
        <p:txBody>
          <a:bodyPr wrap="square" lIns="0" tIns="0" rIns="0" bIns="0" rtlCol="0" anchor="ctr"/>
          <a:lstStyle/>
          <a:p>
            <a:pPr algn="l" indent="0" marL="0">
              <a:buNone/>
            </a:pPr>
            <a:r>
              <a:rPr lang="en-US" sz="3200" b="1" dirty="0">
                <a:solidFill>
                  <a:schemeClr val="accent1"/>
                </a:solidFill>
              </a:rPr>
              <a:t>04</a:t>
            </a:r>
            <a:endParaRPr lang="en-US" sz="3200" dirty="0"/>
          </a:p>
        </p:txBody>
      </p:sp>
      <p:sp>
        <p:nvSpPr>
          <p:cNvPr id="10" name="Takeaway 4"/>
          <p:cNvSpPr txBox="1"/>
          <p:nvPr/>
        </p:nvSpPr>
        <p:spPr>
          <a:xfrm>
            <a:off x="1417320" y="4800600"/>
            <a:ext cx="5120640" cy="731520"/>
          </a:xfrm>
          <a:prstGeom prst="rect">
            <a:avLst/>
          </a:prstGeom>
          <a:noFill/>
          <a:ln/>
        </p:spPr>
        <p:txBody>
          <a:bodyPr wrap="square" lIns="0" tIns="0" rIns="0" bIns="0" rtlCol="0" anchor="ctr"/>
          <a:lstStyle/>
          <a:p>
            <a:pPr algn="l" indent="0" marL="0">
              <a:buNone/>
            </a:pPr>
            <a:r>
              <a:rPr lang="en-US" sz="1700" dirty="0">
                <a:solidFill>
                  <a:schemeClr val="bg1"/>
                </a:solidFill>
              </a:rPr>
              <a:t>Look at the data (topics, TF) before tuning parameters.</a:t>
            </a:r>
            <a:endParaRPr lang="en-US" sz="1700" dirty="0"/>
          </a:p>
        </p:txBody>
      </p:sp>
      <p:sp>
        <p:nvSpPr>
          <p:cNvPr id="11" name="Resources card"/>
          <p:cNvSpPr/>
          <p:nvPr/>
        </p:nvSpPr>
        <p:spPr>
          <a:xfrm>
            <a:off x="6949440" y="1463040"/>
            <a:ext cx="4690872" cy="4526280"/>
          </a:xfrm>
          <a:prstGeom prst="roundRect">
            <a:avLst>
              <a:gd name="adj" fmla="val 2020"/>
            </a:avLst>
          </a:prstGeom>
          <a:solidFill>
            <a:schemeClr val="tx2"/>
          </a:solidFill>
          <a:ln w="12700">
            <a:solidFill>
              <a:schemeClr val="tx2"/>
            </a:solidFill>
            <a:prstDash val="solid"/>
          </a:ln>
        </p:spPr>
      </p:sp>
      <p:sp>
        <p:nvSpPr>
          <p:cNvPr id="12" name="Resources title"/>
          <p:cNvSpPr txBox="1"/>
          <p:nvPr/>
        </p:nvSpPr>
        <p:spPr>
          <a:xfrm>
            <a:off x="7223760" y="1645920"/>
            <a:ext cx="4206240" cy="457200"/>
          </a:xfrm>
          <a:prstGeom prst="rect">
            <a:avLst/>
          </a:prstGeom>
          <a:noFill/>
          <a:ln/>
        </p:spPr>
        <p:txBody>
          <a:bodyPr wrap="square" lIns="0" tIns="0" rIns="0" bIns="0" rtlCol="0" anchor="t"/>
          <a:lstStyle/>
          <a:p>
            <a:pPr algn="l" indent="0" marL="0">
              <a:buNone/>
            </a:pPr>
            <a:r>
              <a:rPr lang="en-US" sz="2000" b="1" dirty="0">
                <a:solidFill>
                  <a:schemeClr val="bg1"/>
                </a:solidFill>
              </a:rPr>
              <a:t>Resources</a:t>
            </a:r>
            <a:endParaRPr lang="en-US" sz="2000" dirty="0"/>
          </a:p>
        </p:txBody>
      </p:sp>
      <p:sp>
        <p:nvSpPr>
          <p:cNvPr id="13" name="Resource links"/>
          <p:cNvSpPr txBox="1"/>
          <p:nvPr/>
        </p:nvSpPr>
        <p:spPr>
          <a:xfrm>
            <a:off x="7223760" y="2194560"/>
            <a:ext cx="4206240" cy="3657600"/>
          </a:xfrm>
          <a:prstGeom prst="rect">
            <a:avLst/>
          </a:prstGeom>
          <a:noFill/>
          <a:ln/>
        </p:spPr>
        <p:txBody>
          <a:bodyPr wrap="square" lIns="0" tIns="0" rIns="0" bIns="0" rtlCol="0" anchor="t"/>
          <a:lstStyle/>
          <a:p>
            <a:pPr algn="l" indent="0" marL="0">
              <a:spcAft>
                <a:spcPts val="800"/>
              </a:spcAft>
              <a:buNone/>
            </a:pPr>
            <a:r>
              <a:rPr lang="en-US" sz="1500" b="1" dirty="0">
                <a:solidFill>
                  <a:schemeClr val="bg1"/>
                </a:solidFill>
              </a:rPr>
              <a:t>Nav2 documentation</a:t>
            </a:r>
            <a:endParaRPr lang="en-US" sz="1500" dirty="0"/>
          </a:p>
          <a:p>
            <a:pPr algn="l" indent="0" marL="0">
              <a:spcAft>
                <a:spcPts val="800"/>
              </a:spcAft>
              <a:buNone/>
            </a:pPr>
            <a:r>
              <a:rPr lang="en-US" sz="13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docs.nav2.org</a:t>
            </a:r>
            <a:endParaRPr lang="en-US" sz="1500" dirty="0"/>
          </a:p>
          <a:p>
            <a:pPr algn="l" indent="0" marL="0">
              <a:spcAft>
                <a:spcPts val="800"/>
              </a:spcAft>
              <a:buNone/>
            </a:pPr>
            <a:r>
              <a:rPr lang="en-US" sz="1500" b="1" dirty="0">
                <a:solidFill>
                  <a:schemeClr val="bg1"/>
                </a:solidFill>
              </a:rPr>
              <a:t>SLAM Toolbox</a:t>
            </a:r>
            <a:endParaRPr lang="en-US" sz="1500" dirty="0"/>
          </a:p>
          <a:p>
            <a:pPr algn="l" indent="0" marL="0">
              <a:spcAft>
                <a:spcPts val="800"/>
              </a:spcAft>
              <a:buNone/>
            </a:pPr>
            <a:r>
              <a:rPr lang="en-US" sz="13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github.com/SteveMacenski/slam_toolbox</a:t>
            </a:r>
            <a:endParaRPr lang="en-US" sz="1500" dirty="0"/>
          </a:p>
          <a:p>
            <a:pPr algn="l" indent="0" marL="0">
              <a:spcAft>
                <a:spcPts val="800"/>
              </a:spcAft>
              <a:buNone/>
            </a:pPr>
            <a:r>
              <a:rPr lang="en-US" sz="1500" b="1" dirty="0">
                <a:solidFill>
                  <a:schemeClr val="bg1"/>
                </a:solidFill>
              </a:rPr>
              <a:t>bcr_bot (original)</a:t>
            </a:r>
            <a:endParaRPr lang="en-US" sz="1500" dirty="0"/>
          </a:p>
          <a:p>
            <a:pPr algn="l" indent="0" marL="0">
              <a:spcAft>
                <a:spcPts val="800"/>
              </a:spcAft>
              <a:buNone/>
            </a:pPr>
            <a:r>
              <a:rPr lang="en-US" sz="1300" u="sng" dirty="0">
                <a:solidFill>
                  <a:schemeClr val="bg2"/>
                </a:solidFill>
                <a:hlinkClick r:id="rId3" invalidUrl="" action="" tgtFrame="" tooltip="" history="1" highlightClick="0" endSnd="0">
                  <a:extLst>
                    <a:ext uri="{A12FA001-AC4F-418D-AE19-62706E023703}">
                      <ahyp:hlinkClr xmlns:ahyp="http://schemas.microsoft.com/office/drawing/2018/hyperlinkcolor" val="tx"/>
                    </a:ext>
                  </a:extLst>
                </a:hlinkClick>
              </a:rPr>
              <a:t>github.com/blackcoffeerobotics/bcr_bot</a:t>
            </a:r>
            <a:endParaRPr lang="en-US" sz="1500" dirty="0"/>
          </a:p>
          <a:p>
            <a:pPr algn="l" indent="0" marL="0">
              <a:spcAft>
                <a:spcPts val="800"/>
              </a:spcAft>
              <a:buNone/>
            </a:pPr>
            <a:r>
              <a:rPr lang="en-US" sz="1500" b="1" dirty="0">
                <a:solidFill>
                  <a:schemeClr val="bg1"/>
                </a:solidFill>
              </a:rPr>
              <a:t>ROS 2 documentation</a:t>
            </a:r>
            <a:endParaRPr lang="en-US" sz="1500" dirty="0"/>
          </a:p>
          <a:p>
            <a:pPr algn="l" indent="0" marL="0">
              <a:spcAft>
                <a:spcPts val="800"/>
              </a:spcAft>
              <a:buNone/>
            </a:pPr>
            <a:r>
              <a:rPr lang="en-US" sz="1300" u="sng" dirty="0">
                <a:solidFill>
                  <a:schemeClr val="bg2"/>
                </a:solidFill>
                <a:hlinkClick r:id="rId4" invalidUrl="" action="" tgtFrame="" tooltip="" history="1" highlightClick="0" endSnd="0">
                  <a:extLst>
                    <a:ext uri="{A12FA001-AC4F-418D-AE19-62706E023703}">
                      <ahyp:hlinkClr xmlns:ahyp="http://schemas.microsoft.com/office/drawing/2018/hyperlinkcolor" val="tx"/>
                    </a:ext>
                  </a:extLst>
                </a:hlinkClick>
              </a:rPr>
              <a:t>docs.ros.org</a:t>
            </a:r>
            <a:endParaRPr lang="en-US" sz="1500" dirty="0"/>
          </a:p>
          <a:p>
            <a:pPr algn="l" indent="0" marL="0">
              <a:spcAft>
                <a:spcPts val="800"/>
              </a:spcAft>
              <a:buNone/>
            </a:pPr>
            <a:r>
              <a:rPr lang="en-US" sz="1500" b="1" dirty="0">
                <a:solidFill>
                  <a:schemeClr val="bg1"/>
                </a:solidFill>
              </a:rPr>
              <a:t>Our code (branch real-robot-nav-web-app)</a:t>
            </a:r>
            <a:endParaRPr lang="en-US" sz="1500" dirty="0"/>
          </a:p>
          <a:p>
            <a:pPr algn="l" indent="0" marL="0">
              <a:spcAft>
                <a:spcPts val="800"/>
              </a:spcAft>
              <a:buNone/>
            </a:pPr>
            <a:r>
              <a:rPr lang="en-US" sz="1300" u="sng" dirty="0">
                <a:solidFill>
                  <a:schemeClr val="bg2"/>
                </a:solidFill>
                <a:hlinkClick r:id="rId5" invalidUrl="" action="" tgtFrame="" tooltip="" history="1" highlightClick="0" endSnd="0">
                  <a:extLst>
                    <a:ext uri="{A12FA001-AC4F-418D-AE19-62706E023703}">
                      <ahyp:hlinkClr xmlns:ahyp="http://schemas.microsoft.com/office/drawing/2018/hyperlinkcolor" val="tx"/>
                    </a:ext>
                  </a:extLst>
                </a:hlinkClick>
              </a:rPr>
              <a:t>github.com/febintjames/autonomousrobot</a:t>
            </a:r>
            <a:endParaRPr lang="en-US" sz="1500" dirty="0"/>
          </a:p>
        </p:txBody>
      </p:sp>
    </p:spTree>
  </p:cSld>
  <p:clrMapOvr>
    <a:masterClrMapping/>
  </p:clrMapOvr>
</p:sld>
</file>

<file path=ppt/theme/theme1.xml><?xml version="1.0" encoding="utf-8"?>
<a:theme xmlns:a="http://schemas.openxmlformats.org/drawingml/2006/main" name="Robot Lab">
  <a:themeElements>
    <a:clrScheme name="Robot Lab">
      <a:dk1>
        <a:srgbClr val="18202B"/>
      </a:dk1>
      <a:lt1>
        <a:srgbClr val="FFFFFF"/>
      </a:lt1>
      <a:dk2>
        <a:srgbClr val="2F3B4A"/>
      </a:dk2>
      <a:lt2>
        <a:srgbClr val="EEF2F6"/>
      </a:lt2>
      <a:accent1>
        <a:srgbClr val="D9650A"/>
      </a:accent1>
      <a:accent2>
        <a:srgbClr val="14877E"/>
      </a:accent2>
      <a:accent3>
        <a:srgbClr val="3D5BA8"/>
      </a:accent3>
      <a:accent4>
        <a:srgbClr val="8B5EC4"/>
      </a:accent4>
      <a:accent5>
        <a:srgbClr val="C93C37"/>
      </a:accent5>
      <a:accent6>
        <a:srgbClr val="5F6B7A"/>
      </a:accent6>
      <a:hlink>
        <a:srgbClr val="2BB5A6"/>
      </a:hlink>
      <a:folHlink>
        <a:srgbClr val="B48EE0"/>
      </a:folHlink>
    </a:clrScheme>
    <a:fontScheme name="Robot La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an Autonomous Robot with bcr_bot + Nav2</dc:title>
  <dc:subject>ROS 2 autonomous navigation course</dc:subject>
  <dc:creator>febintjames</dc:creator>
  <cp:lastModifiedBy>febintjames</cp:lastModifiedBy>
  <cp:revision>1</cp:revision>
  <dcterms:created xsi:type="dcterms:W3CDTF">2026-10-17T07:15:09Z</dcterms:created>
  <dcterms:modified xsi:type="dcterms:W3CDTF">2026-10-17T07:15:09Z</dcterms:modified>
</cp:coreProperties>
</file>